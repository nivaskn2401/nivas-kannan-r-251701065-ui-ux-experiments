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95afaa64384ead" /><Relationship Type="http://schemas.openxmlformats.org/officeDocument/2006/relationships/extended-properties" Target="/docProps/app.xml" Id="R0553075e363943c8" /><Relationship Type="http://schemas.openxmlformats.org/officeDocument/2006/relationships/officeDocument" Target="/ppt/presentation.xml" Id="R38edf909bfbc4c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762afce14c4098"/>
  </p:sldMasterIdLst>
  <p:notesMasterIdLst>
    <p:notesMasterId xmlns:r="http://schemas.openxmlformats.org/officeDocument/2006/relationships" r:id="R2e380b32aec948b1"/>
  </p:notesMasterIdLst>
  <p:sldIdLst>
    <p:sldId xmlns:r="http://schemas.openxmlformats.org/officeDocument/2006/relationships" id="256" r:id="R02baec66e2c3406c"/>
    <p:sldId xmlns:r="http://schemas.openxmlformats.org/officeDocument/2006/relationships" id="257" r:id="R90e298d982214432"/>
    <p:sldId xmlns:r="http://schemas.openxmlformats.org/officeDocument/2006/relationships" id="258" r:id="R35f3d37e9cad43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80378610bd4005" /><Relationship Type="http://schemas.openxmlformats.org/officeDocument/2006/relationships/slideMaster" Target="/ppt/slideMasters/slideMaster1.xml" Id="Rb1762afce14c4098" /><Relationship Type="http://schemas.openxmlformats.org/officeDocument/2006/relationships/notesMaster" Target="/ppt/notesMasters/notesMaster1.xml" Id="R2e380b32aec948b1" /><Relationship Type="http://schemas.openxmlformats.org/officeDocument/2006/relationships/presProps" Target="/ppt/presProps.xml" Id="Rb4e6d0452462447c" /><Relationship Type="http://schemas.openxmlformats.org/officeDocument/2006/relationships/tableStyles" Target="/ppt/tableStyles.xml" Id="Rf53ee79c7da24316" /><Relationship Type="http://schemas.openxmlformats.org/officeDocument/2006/relationships/slide" Target="/ppt/slides/slide1.xml" Id="R02baec66e2c3406c" /><Relationship Type="http://schemas.openxmlformats.org/officeDocument/2006/relationships/slide" Target="/ppt/slides/slide2.xml" Id="R90e298d982214432" /><Relationship Type="http://schemas.openxmlformats.org/officeDocument/2006/relationships/slide" Target="/ppt/slides/slide3.xml" Id="R35f3d37e9cad43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f24e60c55948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a18e3130d54d9b" /><Relationship Type="http://schemas.openxmlformats.org/officeDocument/2006/relationships/notesMaster" Target="/ppt/notesMasters/notesMaster1.xml" Id="R63906535b29048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589c809cf14cce" /><Relationship Type="http://schemas.openxmlformats.org/officeDocument/2006/relationships/notesMaster" Target="/ppt/notesMasters/notesMaster1.xml" Id="R140b0246ef5a46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3721fc540d4566" /><Relationship Type="http://schemas.openxmlformats.org/officeDocument/2006/relationships/notesMaster" Target="/ppt/notesMasters/notesMaster1.xml" Id="Re6510c3f85714b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20b6e3b64a47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edfc310eb9443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edebcc5778476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897b86b69742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c09a6edf5545f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16a0be9ca440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473C24-47E9-456C-996D-DCDB368FA1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F26191-D0BB-46ED-A13B-C7CE9413E7B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C96E914-58BD-4ABC-BFBE-2776E4555E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0713FD-C15E-4ACE-BA44-F4E48DD747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30428DF-0CC1-4A41-8457-3872A77B8C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68FE4CC-0F92-4961-8623-0A6440874B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599999-75E2-4791-83DF-7B455300A0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394AD73-3EEC-4239-85F1-189A608980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CC2833-3C93-4D24-9F02-79D70CEF72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ACDA87-D257-4B68-BE3D-2B69F89659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229f20df7b4160" /><Relationship Type="http://schemas.openxmlformats.org/officeDocument/2006/relationships/slideLayout" Target="/ppt/slideLayouts/slideLayout1.xml" Id="R3124117679de4bb0" /><Relationship Type="http://schemas.openxmlformats.org/officeDocument/2006/relationships/slideLayout" Target="/ppt/slideLayouts/slideLayout2.xml" Id="Rd2454f69dc514d46" /><Relationship Type="http://schemas.openxmlformats.org/officeDocument/2006/relationships/slideLayout" Target="/ppt/slideLayouts/slideLayout3.xml" Id="R137fd6ed4f944577" /><Relationship Type="http://schemas.openxmlformats.org/officeDocument/2006/relationships/slideLayout" Target="/ppt/slideLayouts/slideLayout4.xml" Id="R1db92be1a0bc4561" /><Relationship Type="http://schemas.openxmlformats.org/officeDocument/2006/relationships/slideLayout" Target="/ppt/slideLayouts/slideLayout5.xml" Id="R00e2f81cafb64f80" /><Relationship Type="http://schemas.openxmlformats.org/officeDocument/2006/relationships/slideLayout" Target="/ppt/slideLayouts/slideLayout6.xml" Id="R6a87af4455d041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24117679de4bb0"/>
    <p:sldLayoutId xmlns:r="http://schemas.openxmlformats.org/officeDocument/2006/relationships" id="2147483650" r:id="Rd2454f69dc514d46"/>
    <p:sldLayoutId xmlns:r="http://schemas.openxmlformats.org/officeDocument/2006/relationships" id="2147483651" r:id="R137fd6ed4f944577"/>
    <p:sldLayoutId xmlns:r="http://schemas.openxmlformats.org/officeDocument/2006/relationships" id="2147483652" r:id="R1db92be1a0bc4561"/>
    <p:sldLayoutId xmlns:r="http://schemas.openxmlformats.org/officeDocument/2006/relationships" id="2147483653" r:id="R00e2f81cafb64f80"/>
    <p:sldLayoutId xmlns:r="http://schemas.openxmlformats.org/officeDocument/2006/relationships" id="2147483654" r:id="R6a87af4455d041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982c62ee5549db" /><Relationship Type="http://schemas.openxmlformats.org/officeDocument/2006/relationships/notesSlide" Target="/ppt/notesSlides/notesSlide1.xml" Id="Rf9a8ee2650a442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2bf4c2938f4ed9" /><Relationship Type="http://schemas.openxmlformats.org/officeDocument/2006/relationships/notesSlide" Target="/ppt/notesSlides/notesSlide2.xml" Id="Rcc7d2fb400724d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00b1e9f7d5488c" /><Relationship Type="http://schemas.openxmlformats.org/officeDocument/2006/relationships/notesSlide" Target="/ppt/notesSlides/notesSlide3.xml" Id="Rd53e029b3bac49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Campusly mark 1">
            <a:extLst xmlns:a="http://schemas.openxmlformats.org/drawingml/2006/main">
              <a:ext uri="{FF2B5EF4-FFF2-40B4-BE49-F238E27FC236}">
                <a16:creationId xmlns:a16="http://schemas.microsoft.com/office/drawing/2014/main" id="{32F3E37F-1EE9-45B2-97DB-0C59DAC8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mpusly mark letter 1">
            <a:extLst xmlns:a="http://schemas.openxmlformats.org/drawingml/2006/main">
              <a:ext uri="{FF2B5EF4-FFF2-40B4-BE49-F238E27FC236}">
                <a16:creationId xmlns:a16="http://schemas.microsoft.com/office/drawing/2014/main" id="{49EF22DB-CE9B-46E7-BD75-3D5CB5A1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3" name="Campusly wordmark 1">
            <a:extLst xmlns:a="http://schemas.openxmlformats.org/drawingml/2006/main">
              <a:ext uri="{FF2B5EF4-FFF2-40B4-BE49-F238E27FC236}">
                <a16:creationId xmlns:a16="http://schemas.microsoft.com/office/drawing/2014/main" id="{18C0D3BC-1D22-43AF-8D79-68A79DA3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rPr>
              <a:t>campusly</a:t>
            </a:r>
          </a:p>
        </p:txBody>
      </p:sp>
      <p:sp>
        <p:nvSpPr>
          <p:cNvPr id="4" name="Review label 1">
            <a:extLst xmlns:a="http://schemas.openxmlformats.org/drawingml/2006/main">
              <a:ext uri="{FF2B5EF4-FFF2-40B4-BE49-F238E27FC236}">
                <a16:creationId xmlns:a16="http://schemas.microsoft.com/office/drawing/2014/main" id="{6CB7D932-CDCE-42B8-B320-5D091E61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57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6879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687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87975"/>
                </a:solidFill>
                <a:latin typeface="Helvetica Neue"/>
                <a:ea typeface="Helvetica Neue"/>
                <a:cs typeface="Helvetica Neue"/>
              </a:rPr>
              <a:t>UX REVIEW  /  DESKTOP PROTOTYPE</a:t>
            </a:r>
          </a:p>
        </p:txBody>
      </p:sp>
      <p:sp>
        <p:nvSpPr>
          <p:cNvPr id="5" name="Top rule 1">
            <a:extLst xmlns:a="http://schemas.openxmlformats.org/drawingml/2006/main">
              <a:ext uri="{FF2B5EF4-FFF2-40B4-BE49-F238E27FC236}">
                <a16:creationId xmlns:a16="http://schemas.microsoft.com/office/drawing/2014/main" id="{DF0602CB-9C27-40CE-AAD2-7F9C05DC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lide title 1">
            <a:extLst xmlns:a="http://schemas.openxmlformats.org/drawingml/2006/main">
              <a:ext uri="{FF2B5EF4-FFF2-40B4-BE49-F238E27FC236}">
                <a16:creationId xmlns:a16="http://schemas.microsoft.com/office/drawing/2014/main" id="{8CD07948-0873-4844-A12D-C707F298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857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0">
                <a:solidFill>
                  <a:srgbClr val="18302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18302C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18302C"/>
                </a:solidFill>
                <a:latin typeface="Georgia"/>
                <a:ea typeface="Georgia"/>
                <a:cs typeface="Georgia"/>
              </a:rPr>
              <a:t>Campusly heuristic evaluation</a:t>
            </a:r>
          </a:p>
        </p:txBody>
      </p:sp>
      <p:sp>
        <p:nvSpPr>
          <p:cNvPr id="7" name="Slide subtitle 1">
            <a:extLst xmlns:a="http://schemas.openxmlformats.org/drawingml/2006/main">
              <a:ext uri="{FF2B5EF4-FFF2-40B4-BE49-F238E27FC236}">
                <a16:creationId xmlns:a16="http://schemas.microsoft.com/office/drawing/2014/main" id="{57D28994-7C21-4872-AE88-2739E5E2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879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87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87975"/>
                </a:solidFill>
                <a:latin typeface="Helvetica Neue"/>
                <a:ea typeface="Helvetica Neue"/>
                <a:cs typeface="Helvetica Neue"/>
              </a:rPr>
              <a:t>Expert review of the current school-management prototype</a:t>
            </a:r>
          </a:p>
        </p:txBody>
      </p:sp>
      <p:sp>
        <p:nvSpPr>
          <p:cNvPr id="8" name="Page number 1">
            <a:extLst xmlns:a="http://schemas.openxmlformats.org/drawingml/2006/main">
              <a:ext uri="{FF2B5EF4-FFF2-40B4-BE49-F238E27FC236}">
                <a16:creationId xmlns:a16="http://schemas.microsoft.com/office/drawing/2014/main" id="{0158B943-6454-49EA-ABE8-81ECC90D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865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8190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8190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81908C"/>
                </a:solidFill>
                <a:latin typeface="Helvetica Neue"/>
                <a:ea typeface="Helvetica Neue"/>
                <a:cs typeface="Helvetica Neue"/>
              </a:rPr>
              <a:t>01 / 03</a:t>
            </a:r>
          </a:p>
        </p:txBody>
      </p:sp>
      <p:sp>
        <p:nvSpPr>
          <p:cNvPr id="9" name="Scope heading">
            <a:extLst xmlns:a="http://schemas.openxmlformats.org/drawingml/2006/main">
              <a:ext uri="{FF2B5EF4-FFF2-40B4-BE49-F238E27FC236}">
                <a16:creationId xmlns:a16="http://schemas.microsoft.com/office/drawing/2014/main" id="{16FBB2EB-AD98-4C0E-9840-F5341316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rPr>
              <a:t>REVIEW SCOPE</a:t>
            </a:r>
          </a:p>
        </p:txBody>
      </p:sp>
      <p:sp>
        <p:nvSpPr>
          <p:cNvPr id="10" name="Scope copy">
            <a:extLst xmlns:a="http://schemas.openxmlformats.org/drawingml/2006/main">
              <a:ext uri="{FF2B5EF4-FFF2-40B4-BE49-F238E27FC236}">
                <a16:creationId xmlns:a16="http://schemas.microsoft.com/office/drawing/2014/main" id="{CDD97F33-8CE0-4DAB-98EF-4B03C79A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0289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rPr>
              <a:t>Desktop administrator screens for overview, attendance, academics, people, fees, transport, campus and messages. This is a heuristic review of the HTML prototype, not a user study or a backend security audit.</a:t>
            </a:r>
          </a:p>
        </p:txBody>
      </p:sp>
      <p:sp>
        <p:nvSpPr>
          <p:cNvPr id="11" name="Scope separator">
            <a:extLst xmlns:a="http://schemas.openxmlformats.org/drawingml/2006/main">
              <a:ext uri="{FF2B5EF4-FFF2-40B4-BE49-F238E27FC236}">
                <a16:creationId xmlns:a16="http://schemas.microsoft.com/office/drawing/2014/main" id="{28A8B195-5325-4FD1-BA7F-2DE2C651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971675"/>
            <a:ext cx="95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rengths heading">
            <a:extLst xmlns:a="http://schemas.openxmlformats.org/drawingml/2006/main">
              <a:ext uri="{FF2B5EF4-FFF2-40B4-BE49-F238E27FC236}">
                <a16:creationId xmlns:a16="http://schemas.microsoft.com/office/drawing/2014/main" id="{6C55781E-814D-4A7C-9FBE-5342D364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716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rPr>
              <a:t>WHAT WORKS</a:t>
            </a:r>
          </a:p>
        </p:txBody>
      </p:sp>
      <p:sp>
        <p:nvSpPr>
          <p:cNvPr id="13" name="Strengths copy">
            <a:extLst xmlns:a="http://schemas.openxmlformats.org/drawingml/2006/main">
              <a:ext uri="{FF2B5EF4-FFF2-40B4-BE49-F238E27FC236}">
                <a16:creationId xmlns:a16="http://schemas.microsoft.com/office/drawing/2014/main" id="{AA441D79-8DC5-4094-BDA4-D375F1A0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09800"/>
            <a:ext cx="30289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rPr>
              <a:t>School tasks are grouped into clear modules. Status tags and update times help staff scan activity. Messages keep personal contact details out of the school directory.</a:t>
            </a:r>
          </a:p>
        </p:txBody>
      </p:sp>
      <p:sp>
        <p:nvSpPr>
          <p:cNvPr id="14" name="Strengths separator">
            <a:extLst xmlns:a="http://schemas.openxmlformats.org/drawingml/2006/main">
              <a:ext uri="{FF2B5EF4-FFF2-40B4-BE49-F238E27FC236}">
                <a16:creationId xmlns:a16="http://schemas.microsoft.com/office/drawing/2014/main" id="{DA6F25FC-23CB-4DEF-8E10-9BCDFDFE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971675"/>
            <a:ext cx="95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iority heading">
            <a:extLst xmlns:a="http://schemas.openxmlformats.org/drawingml/2006/main">
              <a:ext uri="{FF2B5EF4-FFF2-40B4-BE49-F238E27FC236}">
                <a16:creationId xmlns:a16="http://schemas.microsoft.com/office/drawing/2014/main" id="{D3B9D515-EB37-475F-BC51-9D23E581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E7836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E783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E78363"/>
                </a:solidFill>
                <a:latin typeface="Helvetica Neue"/>
                <a:ea typeface="Helvetica Neue"/>
                <a:cs typeface="Helvetica Neue"/>
              </a:rPr>
              <a:t>TOP DESIGN PRIORITIES</a:t>
            </a:r>
          </a:p>
        </p:txBody>
      </p:sp>
      <p:sp>
        <p:nvSpPr>
          <p:cNvPr id="16" name="Priority copy">
            <a:extLst xmlns:a="http://schemas.openxmlformats.org/drawingml/2006/main">
              <a:ext uri="{FF2B5EF4-FFF2-40B4-BE49-F238E27FC236}">
                <a16:creationId xmlns:a16="http://schemas.microsoft.com/office/drawing/2014/main" id="{883C1008-DB9C-4AB3-BC19-3CDF2AE6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9800"/>
            <a:ext cx="357187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rPr>
              <a:t>Make important actions safer with confirmation and undo. Add visible form errors and recovery. Let school admins inspect roles, message audiences and privacy settings.</a:t>
            </a:r>
          </a:p>
        </p:txBody>
      </p:sp>
      <p:sp>
        <p:nvSpPr>
          <p:cNvPr id="17" name="Severity divider">
            <a:extLst xmlns:a="http://schemas.openxmlformats.org/drawingml/2006/main">
              <a:ext uri="{FF2B5EF4-FFF2-40B4-BE49-F238E27FC236}">
                <a16:creationId xmlns:a16="http://schemas.microsoft.com/office/drawing/2014/main" id="{7F14F2B6-6649-4D36-B100-C640E54E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verity legend label">
            <a:extLst xmlns:a="http://schemas.openxmlformats.org/drawingml/2006/main">
              <a:ext uri="{FF2B5EF4-FFF2-40B4-BE49-F238E27FC236}">
                <a16:creationId xmlns:a16="http://schemas.microsoft.com/office/drawing/2014/main" id="{69979376-B9AC-45A1-81BD-18F99250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879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87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87975"/>
                </a:solidFill>
                <a:latin typeface="Helvetica Neue"/>
                <a:ea typeface="Helvetica Neue"/>
                <a:cs typeface="Helvetica Neue"/>
              </a:rPr>
              <a:t>SEVERITY SCALE</a:t>
            </a:r>
          </a:p>
        </p:txBody>
      </p:sp>
      <p:sp>
        <p:nvSpPr>
          <p:cNvPr id="19" name="Severity 0 background">
            <a:extLst xmlns:a="http://schemas.openxmlformats.org/drawingml/2006/main">
              <a:ext uri="{FF2B5EF4-FFF2-40B4-BE49-F238E27FC236}">
                <a16:creationId xmlns:a16="http://schemas.microsoft.com/office/drawing/2014/main" id="{B3753F7F-1930-4940-8457-313E9D3D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65735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everity 0 score">
            <a:extLst xmlns:a="http://schemas.openxmlformats.org/drawingml/2006/main">
              <a:ext uri="{FF2B5EF4-FFF2-40B4-BE49-F238E27FC236}">
                <a16:creationId xmlns:a16="http://schemas.microsoft.com/office/drawing/2014/main" id="{62DADC30-50CA-4F0B-8B69-42647F95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14825"/>
            <a:ext cx="276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21" name="Severity 0 label">
            <a:extLst xmlns:a="http://schemas.openxmlformats.org/drawingml/2006/main">
              <a:ext uri="{FF2B5EF4-FFF2-40B4-BE49-F238E27FC236}">
                <a16:creationId xmlns:a16="http://schemas.microsoft.com/office/drawing/2014/main" id="{DFE742C9-600A-4523-BC41-B621F145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1482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rPr>
              <a:t>No issue</a:t>
            </a:r>
          </a:p>
        </p:txBody>
      </p:sp>
      <p:sp>
        <p:nvSpPr>
          <p:cNvPr id="22" name="Severity 1 background">
            <a:extLst xmlns:a="http://schemas.openxmlformats.org/drawingml/2006/main">
              <a:ext uri="{FF2B5EF4-FFF2-40B4-BE49-F238E27FC236}">
                <a16:creationId xmlns:a16="http://schemas.microsoft.com/office/drawing/2014/main" id="{4D4A5CB9-1E5A-4140-94F0-4BF6C073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38625"/>
            <a:ext cx="165735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everity 1 score">
            <a:extLst xmlns:a="http://schemas.openxmlformats.org/drawingml/2006/main">
              <a:ext uri="{FF2B5EF4-FFF2-40B4-BE49-F238E27FC236}">
                <a16:creationId xmlns:a16="http://schemas.microsoft.com/office/drawing/2014/main" id="{E329920C-0723-4522-9F7E-29AA2F1A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314825"/>
            <a:ext cx="276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Severity 1 label">
            <a:extLst xmlns:a="http://schemas.openxmlformats.org/drawingml/2006/main">
              <a:ext uri="{FF2B5EF4-FFF2-40B4-BE49-F238E27FC236}">
                <a16:creationId xmlns:a16="http://schemas.microsoft.com/office/drawing/2014/main" id="{E20EC0B0-568C-45A1-9145-4B114EEB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31482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rPr>
              <a:t>Cosmetic</a:t>
            </a:r>
          </a:p>
        </p:txBody>
      </p:sp>
      <p:sp>
        <p:nvSpPr>
          <p:cNvPr id="25" name="Severity 2 background">
            <a:extLst xmlns:a="http://schemas.openxmlformats.org/drawingml/2006/main">
              <a:ext uri="{FF2B5EF4-FFF2-40B4-BE49-F238E27FC236}">
                <a16:creationId xmlns:a16="http://schemas.microsoft.com/office/drawing/2014/main" id="{244AFC75-BC44-49F8-95BE-62868328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38625"/>
            <a:ext cx="165735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BF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everity 2 score">
            <a:extLst xmlns:a="http://schemas.openxmlformats.org/drawingml/2006/main">
              <a:ext uri="{FF2B5EF4-FFF2-40B4-BE49-F238E27FC236}">
                <a16:creationId xmlns:a16="http://schemas.microsoft.com/office/drawing/2014/main" id="{68555D0F-6738-4B18-B784-0F7D5F1A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14825"/>
            <a:ext cx="276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9A722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9A7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A722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Severity 2 label">
            <a:extLst xmlns:a="http://schemas.openxmlformats.org/drawingml/2006/main">
              <a:ext uri="{FF2B5EF4-FFF2-40B4-BE49-F238E27FC236}">
                <a16:creationId xmlns:a16="http://schemas.microsoft.com/office/drawing/2014/main" id="{38912F2F-D8A4-4C43-88F9-CC2EFAF1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1482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9A722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A7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9A7222"/>
                </a:solidFill>
                <a:latin typeface="Helvetica Neue"/>
                <a:ea typeface="Helvetica Neue"/>
                <a:cs typeface="Helvetica Neue"/>
              </a:rPr>
              <a:t>Minor</a:t>
            </a:r>
          </a:p>
        </p:txBody>
      </p:sp>
      <p:sp>
        <p:nvSpPr>
          <p:cNvPr id="28" name="Severity 3 background">
            <a:extLst xmlns:a="http://schemas.openxmlformats.org/drawingml/2006/main">
              <a:ext uri="{FF2B5EF4-FFF2-40B4-BE49-F238E27FC236}">
                <a16:creationId xmlns:a16="http://schemas.microsoft.com/office/drawing/2014/main" id="{8D05B45E-9329-40BE-BA07-11E2052B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38625"/>
            <a:ext cx="165735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8E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everity 3 score">
            <a:extLst xmlns:a="http://schemas.openxmlformats.org/drawingml/2006/main">
              <a:ext uri="{FF2B5EF4-FFF2-40B4-BE49-F238E27FC236}">
                <a16:creationId xmlns:a16="http://schemas.microsoft.com/office/drawing/2014/main" id="{E85A9064-B0B5-46C4-8950-BC3E5F74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14825"/>
            <a:ext cx="276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B460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B460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B4604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Severity 3 label">
            <a:extLst xmlns:a="http://schemas.openxmlformats.org/drawingml/2006/main">
              <a:ext uri="{FF2B5EF4-FFF2-40B4-BE49-F238E27FC236}">
                <a16:creationId xmlns:a16="http://schemas.microsoft.com/office/drawing/2014/main" id="{B099E66E-189A-456D-BC94-246691C4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1482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460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B460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4604B"/>
                </a:solidFill>
                <a:latin typeface="Helvetica Neue"/>
                <a:ea typeface="Helvetica Neue"/>
                <a:cs typeface="Helvetica Neue"/>
              </a:rPr>
              <a:t>Major</a:t>
            </a:r>
          </a:p>
        </p:txBody>
      </p:sp>
      <p:sp>
        <p:nvSpPr>
          <p:cNvPr id="31" name="Severity 4 background">
            <a:extLst xmlns:a="http://schemas.openxmlformats.org/drawingml/2006/main">
              <a:ext uri="{FF2B5EF4-FFF2-40B4-BE49-F238E27FC236}">
                <a16:creationId xmlns:a16="http://schemas.microsoft.com/office/drawing/2014/main" id="{0813F443-57C3-409C-B631-B2395494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38625"/>
            <a:ext cx="165735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3D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verity 4 score">
            <a:extLst xmlns:a="http://schemas.openxmlformats.org/drawingml/2006/main">
              <a:ext uri="{FF2B5EF4-FFF2-40B4-BE49-F238E27FC236}">
                <a16:creationId xmlns:a16="http://schemas.microsoft.com/office/drawing/2014/main" id="{E318C5EC-7EF6-44A6-AC83-58CB69E4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14825"/>
            <a:ext cx="276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9F3C2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9F3C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F3C2B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Severity 4 label">
            <a:extLst xmlns:a="http://schemas.openxmlformats.org/drawingml/2006/main">
              <a:ext uri="{FF2B5EF4-FFF2-40B4-BE49-F238E27FC236}">
                <a16:creationId xmlns:a16="http://schemas.microsoft.com/office/drawing/2014/main" id="{B239A74D-934B-4166-9BA9-2849A98E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1482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9F3C2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9F3C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9F3C2B"/>
                </a:solidFill>
                <a:latin typeface="Helvetica Neue"/>
                <a:ea typeface="Helvetica Neue"/>
                <a:cs typeface="Helvetica Neue"/>
              </a:rPr>
              <a:t>Critical</a:t>
            </a:r>
          </a:p>
        </p:txBody>
      </p:sp>
      <p:sp>
        <p:nvSpPr>
          <p:cNvPr id="34" name="Review note heading">
            <a:extLst xmlns:a="http://schemas.openxmlformats.org/drawingml/2006/main">
              <a:ext uri="{FF2B5EF4-FFF2-40B4-BE49-F238E27FC236}">
                <a16:creationId xmlns:a16="http://schemas.microsoft.com/office/drawing/2014/main" id="{2C33E977-1D20-493A-8883-9939BA2B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879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87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87975"/>
                </a:solidFill>
                <a:latin typeface="Helvetica Neue"/>
                <a:ea typeface="Helvetica Neue"/>
                <a:cs typeface="Helvetica Neue"/>
              </a:rPr>
              <a:t>IMPORTANT LIMIT</a:t>
            </a:r>
          </a:p>
        </p:txBody>
      </p:sp>
      <p:sp>
        <p:nvSpPr>
          <p:cNvPr id="35" name="Review note">
            <a:extLst xmlns:a="http://schemas.openxmlformats.org/drawingml/2006/main">
              <a:ext uri="{FF2B5EF4-FFF2-40B4-BE49-F238E27FC236}">
                <a16:creationId xmlns:a16="http://schemas.microsoft.com/office/drawing/2014/main" id="{B219701C-D9C6-4FC4-B74F-BCDD52FF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rPr>
              <a:t>The prototype states that personal details stay private, but visual screens cannot confirm how permissions, storage or message delivery work in a deployed system.</a:t>
            </a:r>
          </a:p>
        </p:txBody>
      </p:sp>
      <p:sp>
        <p:nvSpPr>
          <p:cNvPr id="36" name="Scope footer">
            <a:extLst xmlns:a="http://schemas.openxmlformats.org/drawingml/2006/main">
              <a:ext uri="{FF2B5EF4-FFF2-40B4-BE49-F238E27FC236}">
                <a16:creationId xmlns:a16="http://schemas.microsoft.com/office/drawing/2014/main" id="{359A0798-BC2C-46EB-A3E7-62979FDE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8190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8190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81908C"/>
                </a:solidFill>
                <a:latin typeface="Helvetica Neue"/>
                <a:ea typeface="Helvetica Neue"/>
                <a:cs typeface="Helvetica Neue"/>
              </a:rPr>
              <a:t>Review based on visible screens and the included prototype interactions</a:t>
            </a:r>
          </a:p>
        </p:txBody>
      </p:sp>
    </p:spTree>
    <p:extLst>
      <p:ext uri="{BB962C8B-B14F-4D97-AF65-F5344CB8AC3E}">
        <p14:creationId xmlns:p14="http://schemas.microsoft.com/office/powerpoint/2010/main" val="7527730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Campusly mark 2">
            <a:extLst xmlns:a="http://schemas.openxmlformats.org/drawingml/2006/main">
              <a:ext uri="{FF2B5EF4-FFF2-40B4-BE49-F238E27FC236}">
                <a16:creationId xmlns:a16="http://schemas.microsoft.com/office/drawing/2014/main" id="{4134F37F-9C2A-4016-B3C1-CE8FA5F1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mpusly mark letter 2">
            <a:extLst xmlns:a="http://schemas.openxmlformats.org/drawingml/2006/main">
              <a:ext uri="{FF2B5EF4-FFF2-40B4-BE49-F238E27FC236}">
                <a16:creationId xmlns:a16="http://schemas.microsoft.com/office/drawing/2014/main" id="{BEA2873D-C018-4F0D-8E15-72AAB456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3" name="Campusly wordmark 2">
            <a:extLst xmlns:a="http://schemas.openxmlformats.org/drawingml/2006/main">
              <a:ext uri="{FF2B5EF4-FFF2-40B4-BE49-F238E27FC236}">
                <a16:creationId xmlns:a16="http://schemas.microsoft.com/office/drawing/2014/main" id="{94EF048A-7EDD-42E8-8C4E-76F2A66F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rPr>
              <a:t>campusly</a:t>
            </a:r>
          </a:p>
        </p:txBody>
      </p:sp>
      <p:sp>
        <p:nvSpPr>
          <p:cNvPr id="4" name="Review label 2">
            <a:extLst xmlns:a="http://schemas.openxmlformats.org/drawingml/2006/main">
              <a:ext uri="{FF2B5EF4-FFF2-40B4-BE49-F238E27FC236}">
                <a16:creationId xmlns:a16="http://schemas.microsoft.com/office/drawing/2014/main" id="{1EC7B243-2BC6-4658-BBBC-E69B5ED8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57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6879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687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87975"/>
                </a:solidFill>
                <a:latin typeface="Helvetica Neue"/>
                <a:ea typeface="Helvetica Neue"/>
                <a:cs typeface="Helvetica Neue"/>
              </a:rPr>
              <a:t>UX REVIEW  /  DESKTOP PROTOTYPE</a:t>
            </a:r>
          </a:p>
        </p:txBody>
      </p:sp>
      <p:sp>
        <p:nvSpPr>
          <p:cNvPr id="5" name="Top rule 2">
            <a:extLst xmlns:a="http://schemas.openxmlformats.org/drawingml/2006/main">
              <a:ext uri="{FF2B5EF4-FFF2-40B4-BE49-F238E27FC236}">
                <a16:creationId xmlns:a16="http://schemas.microsoft.com/office/drawing/2014/main" id="{101AC7D1-9369-473B-A878-8E5E8902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lide title 2">
            <a:extLst xmlns:a="http://schemas.openxmlformats.org/drawingml/2006/main">
              <a:ext uri="{FF2B5EF4-FFF2-40B4-BE49-F238E27FC236}">
                <a16:creationId xmlns:a16="http://schemas.microsoft.com/office/drawing/2014/main" id="{0D75633A-D24C-4C90-BA39-9700BF80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857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0">
                <a:solidFill>
                  <a:srgbClr val="18302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18302C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18302C"/>
                </a:solidFill>
                <a:latin typeface="Georgia"/>
                <a:ea typeface="Georgia"/>
                <a:cs typeface="Georgia"/>
              </a:rPr>
              <a:t>Status, language and control</a:t>
            </a:r>
          </a:p>
        </p:txBody>
      </p:sp>
      <p:sp>
        <p:nvSpPr>
          <p:cNvPr id="7" name="Slide subtitle 2">
            <a:extLst xmlns:a="http://schemas.openxmlformats.org/drawingml/2006/main">
              <a:ext uri="{FF2B5EF4-FFF2-40B4-BE49-F238E27FC236}">
                <a16:creationId xmlns:a16="http://schemas.microsoft.com/office/drawing/2014/main" id="{5DE31C16-69F4-4FC2-AF13-892664FE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879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87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87975"/>
                </a:solidFill>
                <a:latin typeface="Helvetica Neue"/>
                <a:ea typeface="Helvetica Neue"/>
                <a:cs typeface="Helvetica Neue"/>
              </a:rPr>
              <a:t>Heuristics 1–5 of 10</a:t>
            </a:r>
          </a:p>
        </p:txBody>
      </p:sp>
      <p:sp>
        <p:nvSpPr>
          <p:cNvPr id="8" name="Page number 2">
            <a:extLst xmlns:a="http://schemas.openxmlformats.org/drawingml/2006/main">
              <a:ext uri="{FF2B5EF4-FFF2-40B4-BE49-F238E27FC236}">
                <a16:creationId xmlns:a16="http://schemas.microsoft.com/office/drawing/2014/main" id="{2B007305-BA53-478A-B435-A4FC7A28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865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8190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8190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81908C"/>
                </a:solidFill>
                <a:latin typeface="Helvetica Neue"/>
                <a:ea typeface="Helvetica Neue"/>
                <a:cs typeface="Helvetica Neue"/>
              </a:rPr>
              <a:t>02 / 03</a:t>
            </a:r>
          </a:p>
        </p:txBody>
      </p:sp>
      <p:sp>
        <p:nvSpPr>
          <p:cNvPr id="9" name="Table heading heuristic 2">
            <a:extLst xmlns:a="http://schemas.openxmlformats.org/drawingml/2006/main">
              <a:ext uri="{FF2B5EF4-FFF2-40B4-BE49-F238E27FC236}">
                <a16:creationId xmlns:a16="http://schemas.microsoft.com/office/drawing/2014/main" id="{0D95DB73-F0BE-4299-9B7B-01BE241B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8190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675" b="1">
                <a:solidFill>
                  <a:srgbClr val="8190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81908C"/>
                </a:solidFill>
                <a:latin typeface="Helvetica Neue"/>
                <a:ea typeface="Helvetica Neue"/>
                <a:cs typeface="Helvetica Neue"/>
              </a:rPr>
              <a:t>HEURISTIC</a:t>
            </a:r>
          </a:p>
        </p:txBody>
      </p:sp>
      <p:sp>
        <p:nvSpPr>
          <p:cNvPr id="10" name="Table heading observed 2">
            <a:extLst xmlns:a="http://schemas.openxmlformats.org/drawingml/2006/main">
              <a:ext uri="{FF2B5EF4-FFF2-40B4-BE49-F238E27FC236}">
                <a16:creationId xmlns:a16="http://schemas.microsoft.com/office/drawing/2014/main" id="{2C1783D3-35DD-4E50-BDEF-32721FE5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859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8190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675" b="1">
                <a:solidFill>
                  <a:srgbClr val="8190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81908C"/>
                </a:solidFill>
                <a:latin typeface="Helvetica Neue"/>
                <a:ea typeface="Helvetica Neue"/>
                <a:cs typeface="Helvetica Neue"/>
              </a:rPr>
              <a:t>OBSERVED IN PROTOTYPE</a:t>
            </a:r>
          </a:p>
        </p:txBody>
      </p:sp>
      <p:sp>
        <p:nvSpPr>
          <p:cNvPr id="11" name="Table heading improve 2">
            <a:extLst xmlns:a="http://schemas.openxmlformats.org/drawingml/2006/main">
              <a:ext uri="{FF2B5EF4-FFF2-40B4-BE49-F238E27FC236}">
                <a16:creationId xmlns:a16="http://schemas.microsoft.com/office/drawing/2014/main" id="{818F2EF6-B4B6-4AFB-AF57-3D41CA2C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85925"/>
            <a:ext cx="440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8190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675" b="1">
                <a:solidFill>
                  <a:srgbClr val="8190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81908C"/>
                </a:solidFill>
                <a:latin typeface="Helvetica Neue"/>
                <a:ea typeface="Helvetica Neue"/>
                <a:cs typeface="Helvetica Neue"/>
              </a:rPr>
              <a:t>RECOMMENDED IMPROVEMENT</a:t>
            </a:r>
          </a:p>
        </p:txBody>
      </p:sp>
      <p:sp>
        <p:nvSpPr>
          <p:cNvPr id="12" name="Table top rule 2">
            <a:extLst xmlns:a="http://schemas.openxmlformats.org/drawingml/2006/main">
              <a:ext uri="{FF2B5EF4-FFF2-40B4-BE49-F238E27FC236}">
                <a16:creationId xmlns:a16="http://schemas.microsoft.com/office/drawing/2014/main" id="{EB77B6FE-D791-4769-80FB-47E248DF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inding 01 index">
            <a:extLst xmlns:a="http://schemas.openxmlformats.org/drawingml/2006/main">
              <a:ext uri="{FF2B5EF4-FFF2-40B4-BE49-F238E27FC236}">
                <a16:creationId xmlns:a16="http://schemas.microsoft.com/office/drawing/2014/main" id="{5356693E-2BC3-4D19-9CB9-5453585C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4" name="Finding 01 name">
            <a:extLst xmlns:a="http://schemas.openxmlformats.org/drawingml/2006/main">
              <a:ext uri="{FF2B5EF4-FFF2-40B4-BE49-F238E27FC236}">
                <a16:creationId xmlns:a16="http://schemas.microsoft.com/office/drawing/2014/main" id="{99373F01-24FA-4B5F-B836-0ECCE749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057400"/>
            <a:ext cx="1609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rPr>
              <a:t>Visibility of system status</a:t>
            </a:r>
          </a:p>
        </p:txBody>
      </p:sp>
      <p:sp>
        <p:nvSpPr>
          <p:cNvPr id="15" name="Finding 01 severity background">
            <a:extLst xmlns:a="http://schemas.openxmlformats.org/drawingml/2006/main">
              <a:ext uri="{FF2B5EF4-FFF2-40B4-BE49-F238E27FC236}">
                <a16:creationId xmlns:a16="http://schemas.microsoft.com/office/drawing/2014/main" id="{61A3A7E1-BF41-4CC2-890D-5D47492E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05025"/>
            <a:ext cx="52387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BF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inding 01 severity score">
            <a:extLst xmlns:a="http://schemas.openxmlformats.org/drawingml/2006/main">
              <a:ext uri="{FF2B5EF4-FFF2-40B4-BE49-F238E27FC236}">
                <a16:creationId xmlns:a16="http://schemas.microsoft.com/office/drawing/2014/main" id="{1EBCEB59-1483-400B-9091-03D17981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050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9A722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9A7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9A7222"/>
                </a:solidFill>
                <a:latin typeface="Helvetica Neue"/>
                <a:ea typeface="Helvetica Neue"/>
                <a:cs typeface="Helvetica Neue"/>
              </a:rPr>
              <a:t>S2</a:t>
            </a:r>
          </a:p>
        </p:txBody>
      </p:sp>
      <p:sp>
        <p:nvSpPr>
          <p:cNvPr id="17" name="Finding 01 observation">
            <a:extLst xmlns:a="http://schemas.openxmlformats.org/drawingml/2006/main">
              <a:ext uri="{FF2B5EF4-FFF2-40B4-BE49-F238E27FC236}">
                <a16:creationId xmlns:a16="http://schemas.microsoft.com/office/drawing/2014/main" id="{B0A163E3-EAF5-4503-ACC3-96330B39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57400"/>
            <a:ext cx="347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rPr>
              <a:t>Status tags, unread counts and update times help. Key confirmations appear only as short-lived toasts.</a:t>
            </a:r>
          </a:p>
        </p:txBody>
      </p:sp>
      <p:sp>
        <p:nvSpPr>
          <p:cNvPr id="18" name="Finding 01 recommendation">
            <a:extLst xmlns:a="http://schemas.openxmlformats.org/drawingml/2006/main">
              <a:ext uri="{FF2B5EF4-FFF2-40B4-BE49-F238E27FC236}">
                <a16:creationId xmlns:a16="http://schemas.microsoft.com/office/drawing/2014/main" id="{B08D936E-1AF3-4C6A-B87A-14879A33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57400"/>
            <a:ext cx="43243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6F62"/>
                </a:solidFill>
                <a:latin typeface="Helvetica Neue"/>
                <a:ea typeface="Helvetica Neue"/>
                <a:cs typeface="Helvetica Neue"/>
              </a:rPr>
              <a:t>Keep confirmation beside the changed record and add an activity history for important actions.</a:t>
            </a:r>
          </a:p>
        </p:txBody>
      </p:sp>
      <p:sp>
        <p:nvSpPr>
          <p:cNvPr id="19" name="Finding 01 row divider">
            <a:extLst xmlns:a="http://schemas.openxmlformats.org/drawingml/2006/main">
              <a:ext uri="{FF2B5EF4-FFF2-40B4-BE49-F238E27FC236}">
                <a16:creationId xmlns:a16="http://schemas.microsoft.com/office/drawing/2014/main" id="{5BBC762E-A058-4B0C-8841-E74E24BD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inding 02 index">
            <a:extLst xmlns:a="http://schemas.openxmlformats.org/drawingml/2006/main">
              <a:ext uri="{FF2B5EF4-FFF2-40B4-BE49-F238E27FC236}">
                <a16:creationId xmlns:a16="http://schemas.microsoft.com/office/drawing/2014/main" id="{BE30A9C7-1F53-49B2-8E6D-728E858E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1" name="Finding 02 name">
            <a:extLst xmlns:a="http://schemas.openxmlformats.org/drawingml/2006/main">
              <a:ext uri="{FF2B5EF4-FFF2-40B4-BE49-F238E27FC236}">
                <a16:creationId xmlns:a16="http://schemas.microsoft.com/office/drawing/2014/main" id="{5EA475F6-E35E-40B7-A99F-E5A94313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924175"/>
            <a:ext cx="1609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rPr>
              <a:t>Match with the real world</a:t>
            </a:r>
          </a:p>
        </p:txBody>
      </p:sp>
      <p:sp>
        <p:nvSpPr>
          <p:cNvPr id="22" name="Finding 02 severity background">
            <a:extLst xmlns:a="http://schemas.openxmlformats.org/drawingml/2006/main">
              <a:ext uri="{FF2B5EF4-FFF2-40B4-BE49-F238E27FC236}">
                <a16:creationId xmlns:a16="http://schemas.microsoft.com/office/drawing/2014/main" id="{90D37FA2-89BD-4FE4-BE48-50EF3D05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71800"/>
            <a:ext cx="52387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inding 02 severity score">
            <a:extLst xmlns:a="http://schemas.openxmlformats.org/drawingml/2006/main">
              <a:ext uri="{FF2B5EF4-FFF2-40B4-BE49-F238E27FC236}">
                <a16:creationId xmlns:a16="http://schemas.microsoft.com/office/drawing/2014/main" id="{6AF7DCAD-49E9-4B81-8F91-99BCCA86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718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rPr>
              <a:t>S0</a:t>
            </a:r>
          </a:p>
        </p:txBody>
      </p:sp>
      <p:sp>
        <p:nvSpPr>
          <p:cNvPr id="24" name="Finding 02 observation">
            <a:extLst xmlns:a="http://schemas.openxmlformats.org/drawingml/2006/main">
              <a:ext uri="{FF2B5EF4-FFF2-40B4-BE49-F238E27FC236}">
                <a16:creationId xmlns:a16="http://schemas.microsoft.com/office/drawing/2014/main" id="{663F1AED-023C-486C-85B1-B178AD73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24175"/>
            <a:ext cx="347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rPr>
              <a:t>Grade, class, library, bus and rupee labels fit familiar school workflows.</a:t>
            </a:r>
          </a:p>
        </p:txBody>
      </p:sp>
      <p:sp>
        <p:nvSpPr>
          <p:cNvPr id="25" name="Finding 02 recommendation">
            <a:extLst xmlns:a="http://schemas.openxmlformats.org/drawingml/2006/main">
              <a:ext uri="{FF2B5EF4-FFF2-40B4-BE49-F238E27FC236}">
                <a16:creationId xmlns:a16="http://schemas.microsoft.com/office/drawing/2014/main" id="{1FE58D59-6352-414D-97AE-59384EDB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24175"/>
            <a:ext cx="43243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6F62"/>
                </a:solidFill>
                <a:latin typeface="Helvetica Neue"/>
                <a:ea typeface="Helvetica Neue"/>
                <a:cs typeface="Helvetica Neue"/>
              </a:rPr>
              <a:t>Keep the same plain language across administrator, teacher and family views.</a:t>
            </a:r>
          </a:p>
        </p:txBody>
      </p:sp>
      <p:sp>
        <p:nvSpPr>
          <p:cNvPr id="26" name="Finding 02 row divider">
            <a:extLst xmlns:a="http://schemas.openxmlformats.org/drawingml/2006/main">
              <a:ext uri="{FF2B5EF4-FFF2-40B4-BE49-F238E27FC236}">
                <a16:creationId xmlns:a16="http://schemas.microsoft.com/office/drawing/2014/main" id="{0622897D-F936-40F8-BAFA-D34CE6F4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inding 03 index">
            <a:extLst xmlns:a="http://schemas.openxmlformats.org/drawingml/2006/main">
              <a:ext uri="{FF2B5EF4-FFF2-40B4-BE49-F238E27FC236}">
                <a16:creationId xmlns:a16="http://schemas.microsoft.com/office/drawing/2014/main" id="{B4147926-986D-4ECB-BDDF-6291DE32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8" name="Finding 03 name">
            <a:extLst xmlns:a="http://schemas.openxmlformats.org/drawingml/2006/main">
              <a:ext uri="{FF2B5EF4-FFF2-40B4-BE49-F238E27FC236}">
                <a16:creationId xmlns:a16="http://schemas.microsoft.com/office/drawing/2014/main" id="{CFA79656-07EB-4B1B-9574-A51839AF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790950"/>
            <a:ext cx="1609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rPr>
              <a:t>User control and freedom</a:t>
            </a:r>
          </a:p>
        </p:txBody>
      </p:sp>
      <p:sp>
        <p:nvSpPr>
          <p:cNvPr id="29" name="Finding 03 severity background">
            <a:extLst xmlns:a="http://schemas.openxmlformats.org/drawingml/2006/main">
              <a:ext uri="{FF2B5EF4-FFF2-40B4-BE49-F238E27FC236}">
                <a16:creationId xmlns:a16="http://schemas.microsoft.com/office/drawing/2014/main" id="{BDC2FB0C-FE55-4DFE-929A-BB9BC7BD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838575"/>
            <a:ext cx="52387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8E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Finding 03 severity score">
            <a:extLst xmlns:a="http://schemas.openxmlformats.org/drawingml/2006/main">
              <a:ext uri="{FF2B5EF4-FFF2-40B4-BE49-F238E27FC236}">
                <a16:creationId xmlns:a16="http://schemas.microsoft.com/office/drawing/2014/main" id="{4D644600-2F12-44D9-955E-4A58FAA3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8385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B460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B460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B4604B"/>
                </a:solidFill>
                <a:latin typeface="Helvetica Neue"/>
                <a:ea typeface="Helvetica Neue"/>
                <a:cs typeface="Helvetica Neue"/>
              </a:rPr>
              <a:t>S3</a:t>
            </a:r>
          </a:p>
        </p:txBody>
      </p:sp>
      <p:sp>
        <p:nvSpPr>
          <p:cNvPr id="31" name="Finding 03 observation">
            <a:extLst xmlns:a="http://schemas.openxmlformats.org/drawingml/2006/main">
              <a:ext uri="{FF2B5EF4-FFF2-40B4-BE49-F238E27FC236}">
                <a16:creationId xmlns:a16="http://schemas.microsoft.com/office/drawing/2014/main" id="{4F788AB4-9572-4FC8-8B1B-FEC2A5E5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90950"/>
            <a:ext cx="347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rPr>
              <a:t>Leave approvals and message sends show no visible undo. Role permissions are not inspectable.</a:t>
            </a:r>
          </a:p>
        </p:txBody>
      </p:sp>
      <p:sp>
        <p:nvSpPr>
          <p:cNvPr id="32" name="Finding 03 recommendation">
            <a:extLst xmlns:a="http://schemas.openxmlformats.org/drawingml/2006/main">
              <a:ext uri="{FF2B5EF4-FFF2-40B4-BE49-F238E27FC236}">
                <a16:creationId xmlns:a16="http://schemas.microsoft.com/office/drawing/2014/main" id="{44E39AF8-BCBF-4FB1-93C1-25ABA564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90950"/>
            <a:ext cx="43243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6F62"/>
                </a:solidFill>
                <a:latin typeface="Helvetica Neue"/>
                <a:ea typeface="Helvetica Neue"/>
                <a:cs typeface="Helvetica Neue"/>
              </a:rPr>
              <a:t>Add undo for approvals, role access controls and a recipient preview before sending.</a:t>
            </a:r>
          </a:p>
        </p:txBody>
      </p:sp>
      <p:sp>
        <p:nvSpPr>
          <p:cNvPr id="33" name="Finding 03 row divider">
            <a:extLst xmlns:a="http://schemas.openxmlformats.org/drawingml/2006/main">
              <a:ext uri="{FF2B5EF4-FFF2-40B4-BE49-F238E27FC236}">
                <a16:creationId xmlns:a16="http://schemas.microsoft.com/office/drawing/2014/main" id="{2D7A380E-0CAF-4C98-9D35-58C2A9D0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inding 04 index">
            <a:extLst xmlns:a="http://schemas.openxmlformats.org/drawingml/2006/main">
              <a:ext uri="{FF2B5EF4-FFF2-40B4-BE49-F238E27FC236}">
                <a16:creationId xmlns:a16="http://schemas.microsoft.com/office/drawing/2014/main" id="{83AC25CC-6335-456F-93D8-AD423855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5" name="Finding 04 name">
            <a:extLst xmlns:a="http://schemas.openxmlformats.org/drawingml/2006/main">
              <a:ext uri="{FF2B5EF4-FFF2-40B4-BE49-F238E27FC236}">
                <a16:creationId xmlns:a16="http://schemas.microsoft.com/office/drawing/2014/main" id="{4BBD8F9D-4887-4A44-8191-1002E9F0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57725"/>
            <a:ext cx="1609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rPr>
              <a:t>Consistency and standards</a:t>
            </a:r>
          </a:p>
        </p:txBody>
      </p:sp>
      <p:sp>
        <p:nvSpPr>
          <p:cNvPr id="36" name="Finding 04 severity background">
            <a:extLst xmlns:a="http://schemas.openxmlformats.org/drawingml/2006/main">
              <a:ext uri="{FF2B5EF4-FFF2-40B4-BE49-F238E27FC236}">
                <a16:creationId xmlns:a16="http://schemas.microsoft.com/office/drawing/2014/main" id="{B5AA85C0-58AD-47A3-A451-DD0C99D3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05350"/>
            <a:ext cx="52387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inding 04 severity score">
            <a:extLst xmlns:a="http://schemas.openxmlformats.org/drawingml/2006/main">
              <a:ext uri="{FF2B5EF4-FFF2-40B4-BE49-F238E27FC236}">
                <a16:creationId xmlns:a16="http://schemas.microsoft.com/office/drawing/2014/main" id="{2826AF3D-78EC-48AA-827F-D179DB9D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053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rPr>
              <a:t>S1</a:t>
            </a:r>
          </a:p>
        </p:txBody>
      </p:sp>
      <p:sp>
        <p:nvSpPr>
          <p:cNvPr id="38" name="Finding 04 observation">
            <a:extLst xmlns:a="http://schemas.openxmlformats.org/drawingml/2006/main">
              <a:ext uri="{FF2B5EF4-FFF2-40B4-BE49-F238E27FC236}">
                <a16:creationId xmlns:a16="http://schemas.microsoft.com/office/drawing/2014/main" id="{78D554EA-73C9-496A-83F9-578312FD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57725"/>
            <a:ext cx="347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rPr>
              <a:t>Navigation groups and page patterns stay consistent. Some icon actions rely on symbols alone.</a:t>
            </a:r>
          </a:p>
        </p:txBody>
      </p:sp>
      <p:sp>
        <p:nvSpPr>
          <p:cNvPr id="39" name="Finding 04 recommendation">
            <a:extLst xmlns:a="http://schemas.openxmlformats.org/drawingml/2006/main">
              <a:ext uri="{FF2B5EF4-FFF2-40B4-BE49-F238E27FC236}">
                <a16:creationId xmlns:a16="http://schemas.microsoft.com/office/drawing/2014/main" id="{29ACF138-5AC6-472A-B965-EA020202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57725"/>
            <a:ext cx="43243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6F62"/>
                </a:solidFill>
                <a:latin typeface="Helvetica Neue"/>
                <a:ea typeface="Helvetica Neue"/>
                <a:cs typeface="Helvetica Neue"/>
              </a:rPr>
              <a:t>Label icon-only actions and use the same active state and control patterns in every module.</a:t>
            </a:r>
          </a:p>
        </p:txBody>
      </p:sp>
      <p:sp>
        <p:nvSpPr>
          <p:cNvPr id="40" name="Finding 04 row divider">
            <a:extLst xmlns:a="http://schemas.openxmlformats.org/drawingml/2006/main">
              <a:ext uri="{FF2B5EF4-FFF2-40B4-BE49-F238E27FC236}">
                <a16:creationId xmlns:a16="http://schemas.microsoft.com/office/drawing/2014/main" id="{E12E744D-9461-470A-A92A-88E99181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Finding 05 index">
            <a:extLst xmlns:a="http://schemas.openxmlformats.org/drawingml/2006/main">
              <a:ext uri="{FF2B5EF4-FFF2-40B4-BE49-F238E27FC236}">
                <a16:creationId xmlns:a16="http://schemas.microsoft.com/office/drawing/2014/main" id="{E29E0A09-742C-414A-B61B-8D8960B3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2" name="Finding 05 name">
            <a:extLst xmlns:a="http://schemas.openxmlformats.org/drawingml/2006/main">
              <a:ext uri="{FF2B5EF4-FFF2-40B4-BE49-F238E27FC236}">
                <a16:creationId xmlns:a16="http://schemas.microsoft.com/office/drawing/2014/main" id="{BE285EAA-23F0-47A8-AE30-49B76345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524500"/>
            <a:ext cx="1609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rPr>
              <a:t>Error prevention</a:t>
            </a:r>
          </a:p>
        </p:txBody>
      </p:sp>
      <p:sp>
        <p:nvSpPr>
          <p:cNvPr id="43" name="Finding 05 severity background">
            <a:extLst xmlns:a="http://schemas.openxmlformats.org/drawingml/2006/main">
              <a:ext uri="{FF2B5EF4-FFF2-40B4-BE49-F238E27FC236}">
                <a16:creationId xmlns:a16="http://schemas.microsoft.com/office/drawing/2014/main" id="{7EFF62D3-E1F1-428D-983C-168C96E7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72125"/>
            <a:ext cx="52387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8E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Finding 05 severity score">
            <a:extLst xmlns:a="http://schemas.openxmlformats.org/drawingml/2006/main">
              <a:ext uri="{FF2B5EF4-FFF2-40B4-BE49-F238E27FC236}">
                <a16:creationId xmlns:a16="http://schemas.microsoft.com/office/drawing/2014/main" id="{D54F1D35-6598-4DB7-B569-33F830DB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721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B460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B460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B4604B"/>
                </a:solidFill>
                <a:latin typeface="Helvetica Neue"/>
                <a:ea typeface="Helvetica Neue"/>
                <a:cs typeface="Helvetica Neue"/>
              </a:rPr>
              <a:t>S3</a:t>
            </a:r>
          </a:p>
        </p:txBody>
      </p:sp>
      <p:sp>
        <p:nvSpPr>
          <p:cNvPr id="45" name="Finding 05 observation">
            <a:extLst xmlns:a="http://schemas.openxmlformats.org/drawingml/2006/main">
              <a:ext uri="{FF2B5EF4-FFF2-40B4-BE49-F238E27FC236}">
                <a16:creationId xmlns:a16="http://schemas.microsoft.com/office/drawing/2014/main" id="{DD90C893-0B6C-47EF-916D-32766F89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524500"/>
            <a:ext cx="347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rPr>
              <a:t>The prototype does not show required-field validation or a review step before payments and announcements.</a:t>
            </a:r>
          </a:p>
        </p:txBody>
      </p:sp>
      <p:sp>
        <p:nvSpPr>
          <p:cNvPr id="46" name="Finding 05 recommendation">
            <a:extLst xmlns:a="http://schemas.openxmlformats.org/drawingml/2006/main">
              <a:ext uri="{FF2B5EF4-FFF2-40B4-BE49-F238E27FC236}">
                <a16:creationId xmlns:a16="http://schemas.microsoft.com/office/drawing/2014/main" id="{1E2E6EFA-C1DD-490A-ACE3-DB3ED576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43243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6F62"/>
                </a:solidFill>
                <a:latin typeface="Helvetica Neue"/>
                <a:ea typeface="Helvetica Neue"/>
                <a:cs typeface="Helvetica Neue"/>
              </a:rPr>
              <a:t>Mark required fields and confirm amount, recipient and audience before submission.</a:t>
            </a:r>
          </a:p>
        </p:txBody>
      </p:sp>
      <p:sp>
        <p:nvSpPr>
          <p:cNvPr id="47" name="Finding 05 row divider">
            <a:extLst xmlns:a="http://schemas.openxmlformats.org/drawingml/2006/main">
              <a:ext uri="{FF2B5EF4-FFF2-40B4-BE49-F238E27FC236}">
                <a16:creationId xmlns:a16="http://schemas.microsoft.com/office/drawing/2014/main" id="{7A3EB3D8-8F18-42D7-8CB1-845F5D3C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rototype caveat 2">
            <a:extLst xmlns:a="http://schemas.openxmlformats.org/drawingml/2006/main">
              <a:ext uri="{FF2B5EF4-FFF2-40B4-BE49-F238E27FC236}">
                <a16:creationId xmlns:a16="http://schemas.microsoft.com/office/drawing/2014/main" id="{1A9899B1-8E8B-488E-826F-FD28DA72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8190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8190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81908C"/>
                </a:solidFill>
                <a:latin typeface="Helvetica Neue"/>
                <a:ea typeface="Helvetica Neue"/>
                <a:cs typeface="Helvetica Neue"/>
              </a:rPr>
              <a:t>Prototype review only. Privacy claims and technical security were not independently tested.</a:t>
            </a:r>
          </a:p>
        </p:txBody>
      </p:sp>
    </p:spTree>
    <p:extLst>
      <p:ext uri="{BB962C8B-B14F-4D97-AF65-F5344CB8AC3E}">
        <p14:creationId xmlns:p14="http://schemas.microsoft.com/office/powerpoint/2010/main" val="17427681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Campusly mark 3">
            <a:extLst xmlns:a="http://schemas.openxmlformats.org/drawingml/2006/main">
              <a:ext uri="{FF2B5EF4-FFF2-40B4-BE49-F238E27FC236}">
                <a16:creationId xmlns:a16="http://schemas.microsoft.com/office/drawing/2014/main" id="{D7832AB4-DD33-45EA-B5B8-E1A36E95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mpusly mark letter 3">
            <a:extLst xmlns:a="http://schemas.openxmlformats.org/drawingml/2006/main">
              <a:ext uri="{FF2B5EF4-FFF2-40B4-BE49-F238E27FC236}">
                <a16:creationId xmlns:a16="http://schemas.microsoft.com/office/drawing/2014/main" id="{4BC3573C-E521-4449-856D-21035F2F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3" name="Campusly wordmark 3">
            <a:extLst xmlns:a="http://schemas.openxmlformats.org/drawingml/2006/main">
              <a:ext uri="{FF2B5EF4-FFF2-40B4-BE49-F238E27FC236}">
                <a16:creationId xmlns:a16="http://schemas.microsoft.com/office/drawing/2014/main" id="{66B7C155-5EF2-4A0A-8D9E-3E03BF1F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rPr>
              <a:t>campusly</a:t>
            </a:r>
          </a:p>
        </p:txBody>
      </p:sp>
      <p:sp>
        <p:nvSpPr>
          <p:cNvPr id="4" name="Review label 3">
            <a:extLst xmlns:a="http://schemas.openxmlformats.org/drawingml/2006/main">
              <a:ext uri="{FF2B5EF4-FFF2-40B4-BE49-F238E27FC236}">
                <a16:creationId xmlns:a16="http://schemas.microsoft.com/office/drawing/2014/main" id="{5441707B-91A9-4EF1-B9EF-4C177FBB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57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6879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687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87975"/>
                </a:solidFill>
                <a:latin typeface="Helvetica Neue"/>
                <a:ea typeface="Helvetica Neue"/>
                <a:cs typeface="Helvetica Neue"/>
              </a:rPr>
              <a:t>UX REVIEW  /  DESKTOP PROTOTYPE</a:t>
            </a:r>
          </a:p>
        </p:txBody>
      </p:sp>
      <p:sp>
        <p:nvSpPr>
          <p:cNvPr id="5" name="Top rule 3">
            <a:extLst xmlns:a="http://schemas.openxmlformats.org/drawingml/2006/main">
              <a:ext uri="{FF2B5EF4-FFF2-40B4-BE49-F238E27FC236}">
                <a16:creationId xmlns:a16="http://schemas.microsoft.com/office/drawing/2014/main" id="{2CF6FB8C-E312-4CC0-85F8-A10E5797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lide title 3">
            <a:extLst xmlns:a="http://schemas.openxmlformats.org/drawingml/2006/main">
              <a:ext uri="{FF2B5EF4-FFF2-40B4-BE49-F238E27FC236}">
                <a16:creationId xmlns:a16="http://schemas.microsoft.com/office/drawing/2014/main" id="{37CA49FB-C197-43D7-ACEC-D4C21CC7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857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0">
                <a:solidFill>
                  <a:srgbClr val="18302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18302C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18302C"/>
                </a:solidFill>
                <a:latin typeface="Georgia"/>
                <a:ea typeface="Georgia"/>
                <a:cs typeface="Georgia"/>
              </a:rPr>
              <a:t>Finding, efficiency and support</a:t>
            </a:r>
          </a:p>
        </p:txBody>
      </p:sp>
      <p:sp>
        <p:nvSpPr>
          <p:cNvPr id="7" name="Slide subtitle 3">
            <a:extLst xmlns:a="http://schemas.openxmlformats.org/drawingml/2006/main">
              <a:ext uri="{FF2B5EF4-FFF2-40B4-BE49-F238E27FC236}">
                <a16:creationId xmlns:a16="http://schemas.microsoft.com/office/drawing/2014/main" id="{D6FF4978-D637-465B-BEEA-C2494163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879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879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87975"/>
                </a:solidFill>
                <a:latin typeface="Helvetica Neue"/>
                <a:ea typeface="Helvetica Neue"/>
                <a:cs typeface="Helvetica Neue"/>
              </a:rPr>
              <a:t>Heuristics 6–10 of 10</a:t>
            </a:r>
          </a:p>
        </p:txBody>
      </p:sp>
      <p:sp>
        <p:nvSpPr>
          <p:cNvPr id="8" name="Page number 3">
            <a:extLst xmlns:a="http://schemas.openxmlformats.org/drawingml/2006/main">
              <a:ext uri="{FF2B5EF4-FFF2-40B4-BE49-F238E27FC236}">
                <a16:creationId xmlns:a16="http://schemas.microsoft.com/office/drawing/2014/main" id="{754B5E8E-775F-4325-9730-FBF3E3F7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865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8190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8190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81908C"/>
                </a:solidFill>
                <a:latin typeface="Helvetica Neue"/>
                <a:ea typeface="Helvetica Neue"/>
                <a:cs typeface="Helvetica Neue"/>
              </a:rPr>
              <a:t>03 / 03</a:t>
            </a:r>
          </a:p>
        </p:txBody>
      </p:sp>
      <p:sp>
        <p:nvSpPr>
          <p:cNvPr id="9" name="Table heading heuristic 3">
            <a:extLst xmlns:a="http://schemas.openxmlformats.org/drawingml/2006/main">
              <a:ext uri="{FF2B5EF4-FFF2-40B4-BE49-F238E27FC236}">
                <a16:creationId xmlns:a16="http://schemas.microsoft.com/office/drawing/2014/main" id="{CF53613E-C593-4EA1-836A-82F1E8A3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8190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675" b="1">
                <a:solidFill>
                  <a:srgbClr val="8190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81908C"/>
                </a:solidFill>
                <a:latin typeface="Helvetica Neue"/>
                <a:ea typeface="Helvetica Neue"/>
                <a:cs typeface="Helvetica Neue"/>
              </a:rPr>
              <a:t>HEURISTIC</a:t>
            </a:r>
          </a:p>
        </p:txBody>
      </p:sp>
      <p:sp>
        <p:nvSpPr>
          <p:cNvPr id="10" name="Table heading observed 3">
            <a:extLst xmlns:a="http://schemas.openxmlformats.org/drawingml/2006/main">
              <a:ext uri="{FF2B5EF4-FFF2-40B4-BE49-F238E27FC236}">
                <a16:creationId xmlns:a16="http://schemas.microsoft.com/office/drawing/2014/main" id="{FFAFA0EC-6CA6-4DCE-A074-9C2F72C6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859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8190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675" b="1">
                <a:solidFill>
                  <a:srgbClr val="8190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81908C"/>
                </a:solidFill>
                <a:latin typeface="Helvetica Neue"/>
                <a:ea typeface="Helvetica Neue"/>
                <a:cs typeface="Helvetica Neue"/>
              </a:rPr>
              <a:t>OBSERVED IN PROTOTYPE</a:t>
            </a:r>
          </a:p>
        </p:txBody>
      </p:sp>
      <p:sp>
        <p:nvSpPr>
          <p:cNvPr id="11" name="Table heading improve 3">
            <a:extLst xmlns:a="http://schemas.openxmlformats.org/drawingml/2006/main">
              <a:ext uri="{FF2B5EF4-FFF2-40B4-BE49-F238E27FC236}">
                <a16:creationId xmlns:a16="http://schemas.microsoft.com/office/drawing/2014/main" id="{12D6F7B2-EC41-4245-A571-BF04FD49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85925"/>
            <a:ext cx="440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8190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675" b="1">
                <a:solidFill>
                  <a:srgbClr val="8190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81908C"/>
                </a:solidFill>
                <a:latin typeface="Helvetica Neue"/>
                <a:ea typeface="Helvetica Neue"/>
                <a:cs typeface="Helvetica Neue"/>
              </a:rPr>
              <a:t>RECOMMENDED IMPROVEMENT</a:t>
            </a:r>
          </a:p>
        </p:txBody>
      </p:sp>
      <p:sp>
        <p:nvSpPr>
          <p:cNvPr id="12" name="Table top rule 3">
            <a:extLst xmlns:a="http://schemas.openxmlformats.org/drawingml/2006/main">
              <a:ext uri="{FF2B5EF4-FFF2-40B4-BE49-F238E27FC236}">
                <a16:creationId xmlns:a16="http://schemas.microsoft.com/office/drawing/2014/main" id="{4BC7C85F-70F0-4E85-8DF5-0215E77F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inding 06 index">
            <a:extLst xmlns:a="http://schemas.openxmlformats.org/drawingml/2006/main">
              <a:ext uri="{FF2B5EF4-FFF2-40B4-BE49-F238E27FC236}">
                <a16:creationId xmlns:a16="http://schemas.microsoft.com/office/drawing/2014/main" id="{F432889E-26AD-48B1-A531-22868858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14" name="Finding 06 name">
            <a:extLst xmlns:a="http://schemas.openxmlformats.org/drawingml/2006/main">
              <a:ext uri="{FF2B5EF4-FFF2-40B4-BE49-F238E27FC236}">
                <a16:creationId xmlns:a16="http://schemas.microsoft.com/office/drawing/2014/main" id="{53068477-6911-410F-9D6B-44122B31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057400"/>
            <a:ext cx="1609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rPr>
              <a:t>Recognition rather than recall</a:t>
            </a:r>
          </a:p>
        </p:txBody>
      </p:sp>
      <p:sp>
        <p:nvSpPr>
          <p:cNvPr id="15" name="Finding 06 severity background">
            <a:extLst xmlns:a="http://schemas.openxmlformats.org/drawingml/2006/main">
              <a:ext uri="{FF2B5EF4-FFF2-40B4-BE49-F238E27FC236}">
                <a16:creationId xmlns:a16="http://schemas.microsoft.com/office/drawing/2014/main" id="{87F03CA3-ED33-4ACB-AE91-E8F433AB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05025"/>
            <a:ext cx="52387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BF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inding 06 severity score">
            <a:extLst xmlns:a="http://schemas.openxmlformats.org/drawingml/2006/main">
              <a:ext uri="{FF2B5EF4-FFF2-40B4-BE49-F238E27FC236}">
                <a16:creationId xmlns:a16="http://schemas.microsoft.com/office/drawing/2014/main" id="{662CE1BF-DBA8-4563-A0AA-382ABCDD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050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9A722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9A7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9A7222"/>
                </a:solidFill>
                <a:latin typeface="Helvetica Neue"/>
                <a:ea typeface="Helvetica Neue"/>
                <a:cs typeface="Helvetica Neue"/>
              </a:rPr>
              <a:t>S2</a:t>
            </a:r>
          </a:p>
        </p:txBody>
      </p:sp>
      <p:sp>
        <p:nvSpPr>
          <p:cNvPr id="17" name="Finding 06 observation">
            <a:extLst xmlns:a="http://schemas.openxmlformats.org/drawingml/2006/main">
              <a:ext uri="{FF2B5EF4-FFF2-40B4-BE49-F238E27FC236}">
                <a16:creationId xmlns:a16="http://schemas.microsoft.com/office/drawing/2014/main" id="{51C5D241-5BF5-451D-B028-E946BF6E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57400"/>
            <a:ext cx="347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rPr>
              <a:t>Global search names students and classes. Search and filters differ by module.</a:t>
            </a:r>
          </a:p>
        </p:txBody>
      </p:sp>
      <p:sp>
        <p:nvSpPr>
          <p:cNvPr id="18" name="Finding 06 recommendation">
            <a:extLst xmlns:a="http://schemas.openxmlformats.org/drawingml/2006/main">
              <a:ext uri="{FF2B5EF4-FFF2-40B4-BE49-F238E27FC236}">
                <a16:creationId xmlns:a16="http://schemas.microsoft.com/office/drawing/2014/main" id="{AAC9840A-ECF5-45C4-9639-C9E845B9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57400"/>
            <a:ext cx="43243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6F62"/>
                </a:solidFill>
                <a:latin typeface="Helvetica Neue"/>
                <a:ea typeface="Helvetica Neue"/>
                <a:cs typeface="Helvetica Neue"/>
              </a:rPr>
              <a:t>Show search scope and provide relevant cross-module results with clear filters.</a:t>
            </a:r>
          </a:p>
        </p:txBody>
      </p:sp>
      <p:sp>
        <p:nvSpPr>
          <p:cNvPr id="19" name="Finding 06 row divider">
            <a:extLst xmlns:a="http://schemas.openxmlformats.org/drawingml/2006/main">
              <a:ext uri="{FF2B5EF4-FFF2-40B4-BE49-F238E27FC236}">
                <a16:creationId xmlns:a16="http://schemas.microsoft.com/office/drawing/2014/main" id="{44A24AAE-E2B8-4CDE-A295-0EE206FA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inding 07 index">
            <a:extLst xmlns:a="http://schemas.openxmlformats.org/drawingml/2006/main">
              <a:ext uri="{FF2B5EF4-FFF2-40B4-BE49-F238E27FC236}">
                <a16:creationId xmlns:a16="http://schemas.microsoft.com/office/drawing/2014/main" id="{CE0FBFD5-D055-4DF2-9224-3CF541AF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1" name="Finding 07 name">
            <a:extLst xmlns:a="http://schemas.openxmlformats.org/drawingml/2006/main">
              <a:ext uri="{FF2B5EF4-FFF2-40B4-BE49-F238E27FC236}">
                <a16:creationId xmlns:a16="http://schemas.microsoft.com/office/drawing/2014/main" id="{01E8432D-5868-407E-BD62-C0D921A5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924175"/>
            <a:ext cx="1609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rPr>
              <a:t>Flexibility and efficiency</a:t>
            </a:r>
          </a:p>
        </p:txBody>
      </p:sp>
      <p:sp>
        <p:nvSpPr>
          <p:cNvPr id="22" name="Finding 07 severity background">
            <a:extLst xmlns:a="http://schemas.openxmlformats.org/drawingml/2006/main">
              <a:ext uri="{FF2B5EF4-FFF2-40B4-BE49-F238E27FC236}">
                <a16:creationId xmlns:a16="http://schemas.microsoft.com/office/drawing/2014/main" id="{524C6EB5-E0D8-445D-829B-7A2F3076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71800"/>
            <a:ext cx="52387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BF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inding 07 severity score">
            <a:extLst xmlns:a="http://schemas.openxmlformats.org/drawingml/2006/main">
              <a:ext uri="{FF2B5EF4-FFF2-40B4-BE49-F238E27FC236}">
                <a16:creationId xmlns:a16="http://schemas.microsoft.com/office/drawing/2014/main" id="{3F35997C-9478-4394-8A8D-351CB8E4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718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9A722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9A7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9A7222"/>
                </a:solidFill>
                <a:latin typeface="Helvetica Neue"/>
                <a:ea typeface="Helvetica Neue"/>
                <a:cs typeface="Helvetica Neue"/>
              </a:rPr>
              <a:t>S2</a:t>
            </a:r>
          </a:p>
        </p:txBody>
      </p:sp>
      <p:sp>
        <p:nvSpPr>
          <p:cNvPr id="24" name="Finding 07 observation">
            <a:extLst xmlns:a="http://schemas.openxmlformats.org/drawingml/2006/main">
              <a:ext uri="{FF2B5EF4-FFF2-40B4-BE49-F238E27FC236}">
                <a16:creationId xmlns:a16="http://schemas.microsoft.com/office/drawing/2014/main" id="{49E4633B-1109-4435-8C52-4104D628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24175"/>
            <a:ext cx="347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rPr>
              <a:t>Quick actions and exports help admins. Saved filters and role-specific shortcuts are not shown.</a:t>
            </a:r>
          </a:p>
        </p:txBody>
      </p:sp>
      <p:sp>
        <p:nvSpPr>
          <p:cNvPr id="25" name="Finding 07 recommendation">
            <a:extLst xmlns:a="http://schemas.openxmlformats.org/drawingml/2006/main">
              <a:ext uri="{FF2B5EF4-FFF2-40B4-BE49-F238E27FC236}">
                <a16:creationId xmlns:a16="http://schemas.microsoft.com/office/drawing/2014/main" id="{076CB9F8-5025-4A6D-B7FC-2902CB56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24175"/>
            <a:ext cx="43243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6F62"/>
                </a:solidFill>
                <a:latin typeface="Helvetica Neue"/>
                <a:ea typeface="Helvetica Neue"/>
                <a:cs typeface="Helvetica Neue"/>
              </a:rPr>
              <a:t>Add reusable filters and shortcuts for frequent attendance, fee and messaging tasks.</a:t>
            </a:r>
          </a:p>
        </p:txBody>
      </p:sp>
      <p:sp>
        <p:nvSpPr>
          <p:cNvPr id="26" name="Finding 07 row divider">
            <a:extLst xmlns:a="http://schemas.openxmlformats.org/drawingml/2006/main">
              <a:ext uri="{FF2B5EF4-FFF2-40B4-BE49-F238E27FC236}">
                <a16:creationId xmlns:a16="http://schemas.microsoft.com/office/drawing/2014/main" id="{3996AAFD-E32B-4890-B019-BFB6DE1F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inding 08 index">
            <a:extLst xmlns:a="http://schemas.openxmlformats.org/drawingml/2006/main">
              <a:ext uri="{FF2B5EF4-FFF2-40B4-BE49-F238E27FC236}">
                <a16:creationId xmlns:a16="http://schemas.microsoft.com/office/drawing/2014/main" id="{CD2CA326-C56E-427C-8FB1-AC267ACF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28" name="Finding 08 name">
            <a:extLst xmlns:a="http://schemas.openxmlformats.org/drawingml/2006/main">
              <a:ext uri="{FF2B5EF4-FFF2-40B4-BE49-F238E27FC236}">
                <a16:creationId xmlns:a16="http://schemas.microsoft.com/office/drawing/2014/main" id="{D3485453-CA4D-4090-82FC-65FBF1D8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790950"/>
            <a:ext cx="1609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rPr>
              <a:t>Aesthetic and minimalist design</a:t>
            </a:r>
          </a:p>
        </p:txBody>
      </p:sp>
      <p:sp>
        <p:nvSpPr>
          <p:cNvPr id="29" name="Finding 08 severity background">
            <a:extLst xmlns:a="http://schemas.openxmlformats.org/drawingml/2006/main">
              <a:ext uri="{FF2B5EF4-FFF2-40B4-BE49-F238E27FC236}">
                <a16:creationId xmlns:a16="http://schemas.microsoft.com/office/drawing/2014/main" id="{958C2299-EB22-482F-A9D0-819AFDC6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838575"/>
            <a:ext cx="52387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BF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Finding 08 severity score">
            <a:extLst xmlns:a="http://schemas.openxmlformats.org/drawingml/2006/main">
              <a:ext uri="{FF2B5EF4-FFF2-40B4-BE49-F238E27FC236}">
                <a16:creationId xmlns:a16="http://schemas.microsoft.com/office/drawing/2014/main" id="{0A0E6908-70F7-4F24-BD75-9ACD25FB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8385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9A722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9A7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9A7222"/>
                </a:solidFill>
                <a:latin typeface="Helvetica Neue"/>
                <a:ea typeface="Helvetica Neue"/>
                <a:cs typeface="Helvetica Neue"/>
              </a:rPr>
              <a:t>S2</a:t>
            </a:r>
          </a:p>
        </p:txBody>
      </p:sp>
      <p:sp>
        <p:nvSpPr>
          <p:cNvPr id="31" name="Finding 08 observation">
            <a:extLst xmlns:a="http://schemas.openxmlformats.org/drawingml/2006/main">
              <a:ext uri="{FF2B5EF4-FFF2-40B4-BE49-F238E27FC236}">
                <a16:creationId xmlns:a16="http://schemas.microsoft.com/office/drawing/2014/main" id="{9947B734-F4CE-4536-9578-B1F56007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90950"/>
            <a:ext cx="347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rPr>
              <a:t>The overview puts many metrics and modules on screen, which may bury urgent exceptions.</a:t>
            </a:r>
          </a:p>
        </p:txBody>
      </p:sp>
      <p:sp>
        <p:nvSpPr>
          <p:cNvPr id="32" name="Finding 08 recommendation">
            <a:extLst xmlns:a="http://schemas.openxmlformats.org/drawingml/2006/main">
              <a:ext uri="{FF2B5EF4-FFF2-40B4-BE49-F238E27FC236}">
                <a16:creationId xmlns:a16="http://schemas.microsoft.com/office/drawing/2014/main" id="{941FAFD0-856E-46E3-9A8D-4DCC4516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90950"/>
            <a:ext cx="43243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6F62"/>
                </a:solidFill>
                <a:latin typeface="Helvetica Neue"/>
                <a:ea typeface="Helvetica Neue"/>
                <a:cs typeface="Helvetica Neue"/>
              </a:rPr>
              <a:t>Prioritize alerts and required work. Let each role hide lower-priority dashboard sections.</a:t>
            </a:r>
          </a:p>
        </p:txBody>
      </p:sp>
      <p:sp>
        <p:nvSpPr>
          <p:cNvPr id="33" name="Finding 08 row divider">
            <a:extLst xmlns:a="http://schemas.openxmlformats.org/drawingml/2006/main">
              <a:ext uri="{FF2B5EF4-FFF2-40B4-BE49-F238E27FC236}">
                <a16:creationId xmlns:a16="http://schemas.microsoft.com/office/drawing/2014/main" id="{555693C5-372A-4E9B-8D44-2A2097C3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inding 09 index">
            <a:extLst xmlns:a="http://schemas.openxmlformats.org/drawingml/2006/main">
              <a:ext uri="{FF2B5EF4-FFF2-40B4-BE49-F238E27FC236}">
                <a16:creationId xmlns:a16="http://schemas.microsoft.com/office/drawing/2014/main" id="{8C16741E-2863-45B7-8A89-11CFF8BC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5" name="Finding 09 name">
            <a:extLst xmlns:a="http://schemas.openxmlformats.org/drawingml/2006/main">
              <a:ext uri="{FF2B5EF4-FFF2-40B4-BE49-F238E27FC236}">
                <a16:creationId xmlns:a16="http://schemas.microsoft.com/office/drawing/2014/main" id="{708B252E-55C8-47AE-ADA4-093758AB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57725"/>
            <a:ext cx="1609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rPr>
              <a:t>Help users recover from errors</a:t>
            </a:r>
          </a:p>
        </p:txBody>
      </p:sp>
      <p:sp>
        <p:nvSpPr>
          <p:cNvPr id="36" name="Finding 09 severity background">
            <a:extLst xmlns:a="http://schemas.openxmlformats.org/drawingml/2006/main">
              <a:ext uri="{FF2B5EF4-FFF2-40B4-BE49-F238E27FC236}">
                <a16:creationId xmlns:a16="http://schemas.microsoft.com/office/drawing/2014/main" id="{78ECFCAF-722E-46DA-B085-1C1FE1FB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05350"/>
            <a:ext cx="52387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8E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inding 09 severity score">
            <a:extLst xmlns:a="http://schemas.openxmlformats.org/drawingml/2006/main">
              <a:ext uri="{FF2B5EF4-FFF2-40B4-BE49-F238E27FC236}">
                <a16:creationId xmlns:a16="http://schemas.microsoft.com/office/drawing/2014/main" id="{F1D2222E-6A45-49F5-B728-556877C8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053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B460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B460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B4604B"/>
                </a:solidFill>
                <a:latin typeface="Helvetica Neue"/>
                <a:ea typeface="Helvetica Neue"/>
                <a:cs typeface="Helvetica Neue"/>
              </a:rPr>
              <a:t>S3</a:t>
            </a:r>
          </a:p>
        </p:txBody>
      </p:sp>
      <p:sp>
        <p:nvSpPr>
          <p:cNvPr id="38" name="Finding 09 observation">
            <a:extLst xmlns:a="http://schemas.openxmlformats.org/drawingml/2006/main">
              <a:ext uri="{FF2B5EF4-FFF2-40B4-BE49-F238E27FC236}">
                <a16:creationId xmlns:a16="http://schemas.microsoft.com/office/drawing/2014/main" id="{D49CBEBB-F057-43E7-BF73-24E2559C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57725"/>
            <a:ext cx="347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rPr>
              <a:t>Success toasts are represented, but form errors, failed sends, retry and undo states are absent.</a:t>
            </a:r>
          </a:p>
        </p:txBody>
      </p:sp>
      <p:sp>
        <p:nvSpPr>
          <p:cNvPr id="39" name="Finding 09 recommendation">
            <a:extLst xmlns:a="http://schemas.openxmlformats.org/drawingml/2006/main">
              <a:ext uri="{FF2B5EF4-FFF2-40B4-BE49-F238E27FC236}">
                <a16:creationId xmlns:a16="http://schemas.microsoft.com/office/drawing/2014/main" id="{F1925E69-0749-4BB7-9015-F77E486E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57725"/>
            <a:ext cx="43243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6F62"/>
                </a:solidFill>
                <a:latin typeface="Helvetica Neue"/>
                <a:ea typeface="Helvetica Neue"/>
                <a:cs typeface="Helvetica Neue"/>
              </a:rPr>
              <a:t>Add inline errors, preserve drafts after failure and offer clear retry or undo actions.</a:t>
            </a:r>
          </a:p>
        </p:txBody>
      </p:sp>
      <p:sp>
        <p:nvSpPr>
          <p:cNvPr id="40" name="Finding 09 row divider">
            <a:extLst xmlns:a="http://schemas.openxmlformats.org/drawingml/2006/main">
              <a:ext uri="{FF2B5EF4-FFF2-40B4-BE49-F238E27FC236}">
                <a16:creationId xmlns:a16="http://schemas.microsoft.com/office/drawing/2014/main" id="{53E881B3-F3B4-4A20-A900-F55E618F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Finding 10 index">
            <a:extLst xmlns:a="http://schemas.openxmlformats.org/drawingml/2006/main">
              <a:ext uri="{FF2B5EF4-FFF2-40B4-BE49-F238E27FC236}">
                <a16:creationId xmlns:a16="http://schemas.microsoft.com/office/drawing/2014/main" id="{01051D3D-F5AE-41AD-BC74-B213A9FF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28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76F6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2" name="Finding 10 name">
            <a:extLst xmlns:a="http://schemas.openxmlformats.org/drawingml/2006/main">
              <a:ext uri="{FF2B5EF4-FFF2-40B4-BE49-F238E27FC236}">
                <a16:creationId xmlns:a16="http://schemas.microsoft.com/office/drawing/2014/main" id="{FD388591-93DF-4480-9DED-A877F4CF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524500"/>
            <a:ext cx="1609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302C"/>
                </a:solidFill>
                <a:latin typeface="Helvetica Neue"/>
                <a:ea typeface="Helvetica Neue"/>
                <a:cs typeface="Helvetica Neue"/>
              </a:rPr>
              <a:t>Help and documentation</a:t>
            </a:r>
          </a:p>
        </p:txBody>
      </p:sp>
      <p:sp>
        <p:nvSpPr>
          <p:cNvPr id="43" name="Finding 10 severity background">
            <a:extLst xmlns:a="http://schemas.openxmlformats.org/drawingml/2006/main">
              <a:ext uri="{FF2B5EF4-FFF2-40B4-BE49-F238E27FC236}">
                <a16:creationId xmlns:a16="http://schemas.microsoft.com/office/drawing/2014/main" id="{7DB2AC88-FD57-423F-9423-D38A0E21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72125"/>
            <a:ext cx="52387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BF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Finding 10 severity score">
            <a:extLst xmlns:a="http://schemas.openxmlformats.org/drawingml/2006/main">
              <a:ext uri="{FF2B5EF4-FFF2-40B4-BE49-F238E27FC236}">
                <a16:creationId xmlns:a16="http://schemas.microsoft.com/office/drawing/2014/main" id="{65D23759-4F90-4A41-BEFE-3B8EB33A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721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9A722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9A7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9A7222"/>
                </a:solidFill>
                <a:latin typeface="Helvetica Neue"/>
                <a:ea typeface="Helvetica Neue"/>
                <a:cs typeface="Helvetica Neue"/>
              </a:rPr>
              <a:t>S2</a:t>
            </a:r>
          </a:p>
        </p:txBody>
      </p:sp>
      <p:sp>
        <p:nvSpPr>
          <p:cNvPr id="45" name="Finding 10 observation">
            <a:extLst xmlns:a="http://schemas.openxmlformats.org/drawingml/2006/main">
              <a:ext uri="{FF2B5EF4-FFF2-40B4-BE49-F238E27FC236}">
                <a16:creationId xmlns:a16="http://schemas.microsoft.com/office/drawing/2014/main" id="{875D3BBC-F2D2-4280-85E3-C74BCAA3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524500"/>
            <a:ext cx="347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8302C"/>
                </a:solidFill>
                <a:latin typeface="Helvetica Neue"/>
                <a:ea typeface="Helvetica Neue"/>
                <a:cs typeface="Helvetica Neue"/>
              </a:rPr>
              <a:t>A help entry is visible, but the current prototype only shows placeholder feedback.</a:t>
            </a:r>
          </a:p>
        </p:txBody>
      </p:sp>
      <p:sp>
        <p:nvSpPr>
          <p:cNvPr id="46" name="Finding 10 recommendation">
            <a:extLst xmlns:a="http://schemas.openxmlformats.org/drawingml/2006/main">
              <a:ext uri="{FF2B5EF4-FFF2-40B4-BE49-F238E27FC236}">
                <a16:creationId xmlns:a16="http://schemas.microsoft.com/office/drawing/2014/main" id="{AD4A3C2E-C9FE-4449-BEFD-D362D377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43243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176F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76F62"/>
                </a:solidFill>
                <a:latin typeface="Helvetica Neue"/>
                <a:ea typeface="Helvetica Neue"/>
                <a:cs typeface="Helvetica Neue"/>
              </a:rPr>
              <a:t>Provide contextual help for fees, transport setup and message privacy, plus a support route.</a:t>
            </a:r>
          </a:p>
        </p:txBody>
      </p:sp>
      <p:sp>
        <p:nvSpPr>
          <p:cNvPr id="47" name="Finding 10 row divider">
            <a:extLst xmlns:a="http://schemas.openxmlformats.org/drawingml/2006/main">
              <a:ext uri="{FF2B5EF4-FFF2-40B4-BE49-F238E27FC236}">
                <a16:creationId xmlns:a16="http://schemas.microsoft.com/office/drawing/2014/main" id="{95D90928-D0DD-4005-84CA-7A1AB02A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rototype caveat 3">
            <a:extLst xmlns:a="http://schemas.openxmlformats.org/drawingml/2006/main">
              <a:ext uri="{FF2B5EF4-FFF2-40B4-BE49-F238E27FC236}">
                <a16:creationId xmlns:a16="http://schemas.microsoft.com/office/drawing/2014/main" id="{FB36A1AB-0C42-4DE3-BCAC-48AF3126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81908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8190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81908C"/>
                </a:solidFill>
                <a:latin typeface="Helvetica Neue"/>
                <a:ea typeface="Helvetica Neue"/>
                <a:cs typeface="Helvetica Neue"/>
              </a:rPr>
              <a:t>Prototype review only. Privacy claims and technical security were not independently tested.</a:t>
            </a:r>
          </a:p>
        </p:txBody>
      </p:sp>
    </p:spTree>
    <p:extLst>
      <p:ext uri="{BB962C8B-B14F-4D97-AF65-F5344CB8AC3E}">
        <p14:creationId xmlns:p14="http://schemas.microsoft.com/office/powerpoint/2010/main" val="4158893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2026-10-11T12:18:39.8500000Z</dcterms:created>
  <dcterms:modified xsi:type="dcterms:W3CDTF">2026-10-11T12:18:39.8500000Z</dcterms:modified>
</coreProperties>
</file>