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557ca73ca04a1a" /><Relationship Type="http://schemas.openxmlformats.org/officeDocument/2006/relationships/extended-properties" Target="/docProps/app.xml" Id="Re1b799d17e304bfd" /><Relationship Type="http://schemas.openxmlformats.org/officeDocument/2006/relationships/officeDocument" Target="/ppt/presentation.xml" Id="Rd759bc11848444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52becab7d14368"/>
  </p:sldMasterIdLst>
  <p:notesMasterIdLst>
    <p:notesMasterId xmlns:r="http://schemas.openxmlformats.org/officeDocument/2006/relationships" r:id="R9f64444f88ca4785"/>
  </p:notesMasterIdLst>
  <p:sldIdLst>
    <p:sldId xmlns:r="http://schemas.openxmlformats.org/officeDocument/2006/relationships" id="256" r:id="R4218e107257e4776"/>
    <p:sldId xmlns:r="http://schemas.openxmlformats.org/officeDocument/2006/relationships" id="257" r:id="R3eba20a8e6ec45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cefd5171094d80" /><Relationship Type="http://schemas.openxmlformats.org/officeDocument/2006/relationships/slideMaster" Target="/ppt/slideMasters/slideMaster1.xml" Id="R7e52becab7d14368" /><Relationship Type="http://schemas.openxmlformats.org/officeDocument/2006/relationships/notesMaster" Target="/ppt/notesMasters/notesMaster1.xml" Id="R9f64444f88ca4785" /><Relationship Type="http://schemas.openxmlformats.org/officeDocument/2006/relationships/presProps" Target="/ppt/presProps.xml" Id="R22cc38cffabd42eb" /><Relationship Type="http://schemas.openxmlformats.org/officeDocument/2006/relationships/tableStyles" Target="/ppt/tableStyles.xml" Id="R2a27f2c72c6f4071" /><Relationship Type="http://schemas.openxmlformats.org/officeDocument/2006/relationships/slide" Target="/ppt/slides/slide1.xml" Id="R4218e107257e4776" /><Relationship Type="http://schemas.openxmlformats.org/officeDocument/2006/relationships/slide" Target="/ppt/slides/slide2.xml" Id="R3eba20a8e6ec45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aeca74e782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99c7daddf94bdb" /><Relationship Type="http://schemas.openxmlformats.org/officeDocument/2006/relationships/notesMaster" Target="/ppt/notesMasters/notesMaster1.xml" Id="R387f9a6a34224c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d569fb56ca48fb" /><Relationship Type="http://schemas.openxmlformats.org/officeDocument/2006/relationships/notesMaster" Target="/ppt/notesMasters/notesMaster1.xml" Id="R64e9eb5662f9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78499d84240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6a4e43b1a41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3bdfb65434c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2629f7bad46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62efaa14e4b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516a6b1064a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D52978-CCD6-438C-8EFD-8D9495464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84630E-CF89-4EB8-864C-125294AA09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5D35FE-0BE9-4C5F-9BF1-D705FB277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F1075F-1526-40C7-BA9C-7349A9685F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A77B9F-2788-4D0E-A731-102C9C365C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C5B3AE-A5B6-4F72-ABBE-3CEA7DDB79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F1CAFE-56DC-447D-BB10-054F72E422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76634B-912C-47BA-839D-E5F8D52A39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562245-D471-4176-A952-7B99D3E19B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8D0C0C-3150-4E99-8C9E-5F1B8A3703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19e90c26a74ce1" /><Relationship Type="http://schemas.openxmlformats.org/officeDocument/2006/relationships/slideLayout" Target="/ppt/slideLayouts/slideLayout1.xml" Id="R1d13055af36a4979" /><Relationship Type="http://schemas.openxmlformats.org/officeDocument/2006/relationships/slideLayout" Target="/ppt/slideLayouts/slideLayout2.xml" Id="Rac7c2555e88d4d7d" /><Relationship Type="http://schemas.openxmlformats.org/officeDocument/2006/relationships/slideLayout" Target="/ppt/slideLayouts/slideLayout3.xml" Id="Rb98ccd7e765a47c5" /><Relationship Type="http://schemas.openxmlformats.org/officeDocument/2006/relationships/slideLayout" Target="/ppt/slideLayouts/slideLayout4.xml" Id="R7f8cdbf2f2634388" /><Relationship Type="http://schemas.openxmlformats.org/officeDocument/2006/relationships/slideLayout" Target="/ppt/slideLayouts/slideLayout5.xml" Id="R8accb2fa6c364050" /><Relationship Type="http://schemas.openxmlformats.org/officeDocument/2006/relationships/slideLayout" Target="/ppt/slideLayouts/slideLayout6.xml" Id="Re42b85be7d744f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13055af36a4979"/>
    <p:sldLayoutId xmlns:r="http://schemas.openxmlformats.org/officeDocument/2006/relationships" id="2147483650" r:id="Rac7c2555e88d4d7d"/>
    <p:sldLayoutId xmlns:r="http://schemas.openxmlformats.org/officeDocument/2006/relationships" id="2147483651" r:id="Rb98ccd7e765a47c5"/>
    <p:sldLayoutId xmlns:r="http://schemas.openxmlformats.org/officeDocument/2006/relationships" id="2147483652" r:id="R7f8cdbf2f2634388"/>
    <p:sldLayoutId xmlns:r="http://schemas.openxmlformats.org/officeDocument/2006/relationships" id="2147483653" r:id="R8accb2fa6c364050"/>
    <p:sldLayoutId xmlns:r="http://schemas.openxmlformats.org/officeDocument/2006/relationships" id="2147483654" r:id="Re42b85be7d744f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cb416f1504321" /><Relationship Type="http://schemas.openxmlformats.org/officeDocument/2006/relationships/notesSlide" Target="/ppt/notesSlides/notesSlide1.xml" Id="Rc4c22f6112e840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d8438ce8440d4" /><Relationship Type="http://schemas.openxmlformats.org/officeDocument/2006/relationships/notesSlide" Target="/ppt/notesSlides/notesSlide2.xml" Id="R0ba3f367c0ec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064238-62CE-4474-9E49-F3E508F5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>
                <a:solidFill>
                  <a:srgbClr val="111111"/>
                </a:solidFill>
                <a:latin typeface="Calibri Light"/>
                <a:ea typeface="Calibri Light"/>
                <a:cs typeface="Calibri Light"/>
              </a:rPr>
              <a:t>CAMPUSLY TASK FLOW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A4D6AE-C880-491A-9E6C-2F50D049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42950"/>
            <a:ext cx="1143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Common path from school sign-in to a completed task</a:t>
            </a:r>
          </a:p>
        </p:txBody>
      </p:sp>
      <p:sp>
        <p:nvSpPr>
          <p:cNvPr id="3" name="stage-1">
            <a:extLst xmlns:a="http://schemas.openxmlformats.org/drawingml/2006/main">
              <a:ext uri="{FF2B5EF4-FFF2-40B4-BE49-F238E27FC236}">
                <a16:creationId xmlns:a16="http://schemas.microsoft.com/office/drawing/2014/main" id="{E734F3A3-6094-4B94-BC51-29F7261C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81125"/>
            <a:ext cx="1752600" cy="180975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9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AE28C-3D78-4940-9F85-A69E2365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81125"/>
            <a:ext cx="17526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30F93-F404-4817-9FFF-FA883207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1  Sign 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6F119-F27C-4E6A-BF94-E8E78DD6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F254F-9DB9-4CD4-8DEC-3CB633A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14859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Enter school email</a:t>
            </a:r>
          </a:p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and password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D0478EBC-E701-4A69-A904-CAC84C04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81125"/>
            <a:ext cx="1752600" cy="180975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C4685-546E-43EA-A2A0-8DE9ECE9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81125"/>
            <a:ext cx="17526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95A44-78A2-4486-A338-F1F771BD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438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2  Check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0C080-3757-4E3B-98B1-E64B79ED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1927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9F1E5-1D3C-4A02-A122-10B064CF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05000"/>
            <a:ext cx="14859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Validate account</a:t>
            </a:r>
          </a:p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and assigned role</a:t>
            </a:r>
          </a:p>
        </p:txBody>
      </p:sp>
      <p:sp>
        <p:nvSpPr>
          <p:cNvPr id="13" name="stage-3">
            <a:extLst xmlns:a="http://schemas.openxmlformats.org/drawingml/2006/main">
              <a:ext uri="{FF2B5EF4-FFF2-40B4-BE49-F238E27FC236}">
                <a16:creationId xmlns:a16="http://schemas.microsoft.com/office/drawing/2014/main" id="{1B8A97BC-F164-47F7-A81E-822EF0F4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1752600" cy="180975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9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F611B-1466-47BC-975C-321B889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81125"/>
            <a:ext cx="17526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2A52A-840E-4AD7-8787-6570D073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38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3  Open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95F6B-93BA-4107-B1EA-292E8824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1927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D0702-FB7D-4D6B-9244-FE1DB23B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14859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Load the user’s</a:t>
            </a:r>
          </a:p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role-based home</a:t>
            </a:r>
          </a:p>
        </p:txBody>
      </p:sp>
      <p:sp>
        <p:nvSpPr>
          <p:cNvPr id="18" name="stage-4">
            <a:extLst xmlns:a="http://schemas.openxmlformats.org/drawingml/2006/main">
              <a:ext uri="{FF2B5EF4-FFF2-40B4-BE49-F238E27FC236}">
                <a16:creationId xmlns:a16="http://schemas.microsoft.com/office/drawing/2014/main" id="{8789AE71-692B-4A6A-B889-F89E8514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381125"/>
            <a:ext cx="1752600" cy="180975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9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20CFA-4C89-4405-91DD-F0A8D849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381125"/>
            <a:ext cx="17526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D13CB-0D72-47E7-BE44-CE7D754E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38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4  Choose a module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645A6-695E-4E79-B58B-436A2CBE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1927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E1303-9250-4BEC-A578-D22F58C1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14859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Academics</a:t>
            </a:r>
          </a:p>
          <a:p xmlns:a="http://schemas.openxmlformats.org/drawingml/2006/main">
            <a: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Attendance</a:t>
            </a:r>
          </a:p>
          <a:p xmlns:a="http://schemas.openxmlformats.org/drawingml/2006/main">
            <a: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People</a:t>
            </a:r>
          </a:p>
          <a:p xmlns:a="http://schemas.openxmlformats.org/drawingml/2006/main">
            <a: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Fees</a:t>
            </a:r>
          </a:p>
          <a:p xmlns:a="http://schemas.openxmlformats.org/drawingml/2006/main">
            <a: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Transport</a:t>
            </a:r>
          </a:p>
          <a:p xmlns:a="http://schemas.openxmlformats.org/drawingml/2006/main">
            <a: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Library &amp; campus</a:t>
            </a:r>
          </a:p>
          <a:p xmlns:a="http://schemas.openxmlformats.org/drawingml/2006/main">
            <a:pPr algn="l">
              <a:def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School messages</a:t>
            </a:r>
          </a:p>
        </p:txBody>
      </p:sp>
      <p:sp>
        <p:nvSpPr>
          <p:cNvPr id="23" name="stage-5">
            <a:extLst xmlns:a="http://schemas.openxmlformats.org/drawingml/2006/main">
              <a:ext uri="{FF2B5EF4-FFF2-40B4-BE49-F238E27FC236}">
                <a16:creationId xmlns:a16="http://schemas.microsoft.com/office/drawing/2014/main" id="{44688060-1E95-4A7C-8923-1B17A268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81125"/>
            <a:ext cx="1752600" cy="180975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9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A3FA8-1561-4D25-B668-C37528C7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81125"/>
            <a:ext cx="17526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A63D9C-6476-4CC1-8945-ABC38224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5  Complete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1A732-31AE-4E3A-A340-D1D0EC2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1927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1D853B-6D2B-4DE5-BAC4-14A45875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14859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View, record or</a:t>
            </a:r>
          </a:p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update information</a:t>
            </a:r>
          </a:p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in the selected area</a:t>
            </a:r>
          </a:p>
        </p:txBody>
      </p:sp>
      <p:sp>
        <p:nvSpPr>
          <p:cNvPr id="28" name="stage-6">
            <a:extLst xmlns:a="http://schemas.openxmlformats.org/drawingml/2006/main">
              <a:ext uri="{FF2B5EF4-FFF2-40B4-BE49-F238E27FC236}">
                <a16:creationId xmlns:a16="http://schemas.microsoft.com/office/drawing/2014/main" id="{996F265A-6CB5-42AF-B18D-B2B04492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81125"/>
            <a:ext cx="1752600" cy="180975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9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6614EA-FEEE-4741-9236-C153B621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381125"/>
            <a:ext cx="17526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AC18C1-B95D-4818-8188-0C607DE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4382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6  Confirm result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B154AE-BFD1-4499-BCB5-A426CF7E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19275"/>
            <a:ext cx="152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D8F9-6195-4AEE-BCA9-DF1DBE58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1905000"/>
            <a:ext cx="14859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See the saved record,</a:t>
            </a:r>
          </a:p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status, receipt or</a:t>
            </a:r>
          </a:p>
          <a:p xmlns:a="http://schemas.openxmlformats.org/drawingml/2006/main">
            <a:pPr algn="l">
              <a:def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inbox response</a:t>
            </a:r>
          </a:p>
        </p:txBody>
      </p:sp>
      <p:sp>
        <p:nvSpPr>
          <p:cNvPr id="33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52EE6A3F-F0F0-4A5E-A0E7-15233C09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812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34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A82E833F-6EDE-4ADD-8CF7-D0A028B1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812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35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9C4EBBE2-B039-4306-ABA2-6D78E29C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812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36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317D1C4C-845D-4E4F-9018-3DAD6DE2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812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37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D028FF5F-2BF7-4A5B-8C4B-3F27EBB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81225"/>
            <a:ext cx="1333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97307E-BE59-4E6E-BF6C-6D582C2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SCHOOL AREAS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47E21-124E-46E2-A295-9966A63E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D2E053-F8C1-4D66-8492-C270769A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3562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Teaching and learning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14D9B6-29E1-440C-BBA6-A4D8A9AC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57675"/>
            <a:ext cx="35623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Academics</a:t>
            </a:r>
          </a:p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Attendance</a:t>
            </a:r>
          </a:p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People and student records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63034B-6A36-4FE8-9A57-A31EADF0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90975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A0D896-546C-4CAD-8B22-B0CF55E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43350"/>
            <a:ext cx="3562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School services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6E2AE0-933A-4C2B-A621-B6E36D9E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57675"/>
            <a:ext cx="35623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Fees and payments</a:t>
            </a:r>
          </a:p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Transport</a:t>
            </a:r>
          </a:p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Library and campus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845ACB-4C22-4A97-B11E-76A12F6F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90975"/>
            <a:ext cx="95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4"/>
          </a:solidFill>
          <a:ln xmlns:a="http://schemas.openxmlformats.org/drawingml/2006/main" w="0">
            <a:solidFill>
              <a:srgbClr val="DDE7E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5DEC0B-7BB6-422D-AEDF-2E0F554E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562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275" b="1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Communication and privacy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AABBEB-879C-4529-A19B-92EF6F74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35623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School inbox and notices</a:t>
            </a:r>
          </a:p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Phone and email hidden in school chats</a:t>
            </a:r>
          </a:p>
          <a:p xmlns:a="http://schemas.openxmlformats.org/drawingml/2006/main">
            <a:pPr algn="l">
              <a:def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125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Role-based access to personal records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FFA50A-FDF5-4924-950E-B9475CAA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391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54B3CE-8B7A-4A4E-AC64-FA6CD976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02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97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PRIVACY RULE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CE2BF2-9163-47B1-A2F7-A20DCC41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62600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School conversations stay inside Campusly. Personal phone numbers and email addresses remain hidden.</a:t>
            </a:r>
          </a:p>
        </p:txBody>
      </p:sp>
    </p:spTree>
    <p:extLst>
      <p:ext uri="{BB962C8B-B14F-4D97-AF65-F5344CB8AC3E}">
        <p14:creationId xmlns:p14="http://schemas.microsoft.com/office/powerpoint/2010/main" val="1103588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37937-E2E3-46C4-B3ED-EB811B1D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0">
                <a:solidFill>
                  <a:srgbClr val="111111"/>
                </a:solidFill>
                <a:latin typeface="Calibri Light"/>
                <a:ea typeface="Calibri Light"/>
                <a:cs typeface="Calibri Light"/>
              </a:rPr>
              <a:t>DETAILED TASK FLOWS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21864A-C116-4117-8269-33872BDF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42950"/>
            <a:ext cx="1143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Typical journeys for common Campusly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CF2DF-32F1-462C-AB5D-3A3340C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334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825" b="1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USER /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820E9-B5E7-48FC-9CCE-EAE5A433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133475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825" b="1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TASK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F132B-3C62-4A68-B6AC-EEFBCB12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38275"/>
            <a:ext cx="16002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507B0-CD87-4084-AA17-52FADA5B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335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Attendance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4AE3B-817E-4641-873A-64794B23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Teacher</a:t>
            </a:r>
          </a:p>
        </p:txBody>
      </p:sp>
      <p:sp>
        <p:nvSpPr>
          <p:cNvPr id="8" name="Attendance-step-1">
            <a:extLst xmlns:a="http://schemas.openxmlformats.org/drawingml/2006/main">
              <a:ext uri="{FF2B5EF4-FFF2-40B4-BE49-F238E27FC236}">
                <a16:creationId xmlns:a16="http://schemas.microsoft.com/office/drawing/2014/main" id="{F19FFF7E-FD45-4DD8-9087-571A0752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4382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01D1B-FBFF-49C8-AE4C-ABEEA3BE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Open Attendance</a:t>
            </a:r>
          </a:p>
        </p:txBody>
      </p:sp>
      <p:sp>
        <p:nvSpPr>
          <p:cNvPr id="10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7912182A-C5DD-4BDF-A336-326791A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621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11" name="Attendance-step-2">
            <a:extLst xmlns:a="http://schemas.openxmlformats.org/drawingml/2006/main">
              <a:ext uri="{FF2B5EF4-FFF2-40B4-BE49-F238E27FC236}">
                <a16:creationId xmlns:a16="http://schemas.microsoft.com/office/drawing/2014/main" id="{67CD794B-24EB-4CA6-948D-ABF3448C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382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8DACB-493E-4A28-95CF-F09A7B0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24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Select class and date</a:t>
            </a:r>
          </a:p>
        </p:txBody>
      </p:sp>
      <p:sp>
        <p:nvSpPr>
          <p:cNvPr id="13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817A5FD9-ED2C-4FAF-A921-172F5F11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7621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14" name="Attendance-step-3">
            <a:extLst xmlns:a="http://schemas.openxmlformats.org/drawingml/2006/main">
              <a:ext uri="{FF2B5EF4-FFF2-40B4-BE49-F238E27FC236}">
                <a16:creationId xmlns:a16="http://schemas.microsoft.com/office/drawing/2014/main" id="{30A1CE17-5E0A-46AE-B21F-B711001C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4382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20473-2902-4E55-ACFB-E02E34B3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24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Mark the roster, then review</a:t>
            </a:r>
          </a:p>
        </p:txBody>
      </p:sp>
      <p:sp>
        <p:nvSpPr>
          <p:cNvPr id="16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6D8D600B-0AF4-4961-8D6F-FC4ABF10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17" name="Attendance-step-4">
            <a:extLst xmlns:a="http://schemas.openxmlformats.org/drawingml/2006/main">
              <a:ext uri="{FF2B5EF4-FFF2-40B4-BE49-F238E27FC236}">
                <a16:creationId xmlns:a16="http://schemas.microsoft.com/office/drawing/2014/main" id="{F6EFF2BF-990A-4722-80FA-5880149D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382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8262C-1082-48AA-BE6E-FB7A02E1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240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Submit and see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B93E7-A247-45BF-832B-7E763D7F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43175"/>
            <a:ext cx="16002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7D5E3-52E0-46A3-BB98-3ACF39EE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384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72"/>
          </a:bodyPr>
          <a:lstStyle xmlns:a="http://schemas.openxmlformats.org/drawingml/2006/main">
            <a:def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Fees and 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85769-3EC7-4AC4-A295-59A372E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Parent or guardian</a:t>
            </a:r>
          </a:p>
        </p:txBody>
      </p:sp>
      <p:sp>
        <p:nvSpPr>
          <p:cNvPr id="22" name="Fees and payments-step-1">
            <a:extLst xmlns:a="http://schemas.openxmlformats.org/drawingml/2006/main">
              <a:ext uri="{FF2B5EF4-FFF2-40B4-BE49-F238E27FC236}">
                <a16:creationId xmlns:a16="http://schemas.microsoft.com/office/drawing/2014/main" id="{61AEDEFF-C094-42AE-9838-33EA8E8F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5431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04F7F-7BB7-4B4F-8414-225F545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Open Fees and payments</a:t>
            </a:r>
          </a:p>
        </p:txBody>
      </p:sp>
      <p:sp>
        <p:nvSpPr>
          <p:cNvPr id="24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7EDF17B4-C62F-4AFE-8C0C-1E56D625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670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25" name="Fees and payments-step-2">
            <a:extLst xmlns:a="http://schemas.openxmlformats.org/drawingml/2006/main">
              <a:ext uri="{FF2B5EF4-FFF2-40B4-BE49-F238E27FC236}">
                <a16:creationId xmlns:a16="http://schemas.microsoft.com/office/drawing/2014/main" id="{63E0E5E4-4AD4-4363-A1EE-9DE61F33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431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D7676-0DEB-41DC-8C7C-C7C74AD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289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Select learner and term</a:t>
            </a:r>
          </a:p>
        </p:txBody>
      </p:sp>
      <p:sp>
        <p:nvSpPr>
          <p:cNvPr id="27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281942FE-EAA8-4FEC-ABD7-CC89F8BB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670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28" name="Fees and payments-step-3">
            <a:extLst xmlns:a="http://schemas.openxmlformats.org/drawingml/2006/main">
              <a:ext uri="{FF2B5EF4-FFF2-40B4-BE49-F238E27FC236}">
                <a16:creationId xmlns:a16="http://schemas.microsoft.com/office/drawing/2014/main" id="{90470033-494F-4B91-972B-4B2D46B0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431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82FEC-5DBE-40DC-82F1-37EC4176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Review balance and payment details</a:t>
            </a:r>
          </a:p>
        </p:txBody>
      </p:sp>
      <p:sp>
        <p:nvSpPr>
          <p:cNvPr id="30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7675F9EF-A4FE-4619-8BAC-70A3E9FE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670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31" name="Fees and payments-step-4">
            <a:extLst xmlns:a="http://schemas.openxmlformats.org/drawingml/2006/main">
              <a:ext uri="{FF2B5EF4-FFF2-40B4-BE49-F238E27FC236}">
                <a16:creationId xmlns:a16="http://schemas.microsoft.com/office/drawing/2014/main" id="{4469EC66-E149-4352-ADE2-1D51C551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431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6338D3-B4B9-472C-BEBF-F44F7C7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289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View receipt or payment 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EA8BB-8E67-42D1-881E-E17E53AA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48075"/>
            <a:ext cx="16002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94F798-598B-46A3-9B4B-2B3B8A0D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School messages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541E66-7343-4051-B002-1770E49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Staff or family</a:t>
            </a:r>
          </a:p>
        </p:txBody>
      </p:sp>
      <p:sp>
        <p:nvSpPr>
          <p:cNvPr id="36" name="School messages-step-1">
            <a:extLst xmlns:a="http://schemas.openxmlformats.org/drawingml/2006/main">
              <a:ext uri="{FF2B5EF4-FFF2-40B4-BE49-F238E27FC236}">
                <a16:creationId xmlns:a16="http://schemas.microsoft.com/office/drawing/2014/main" id="{3D38A2AD-5DAD-4907-B0E3-24AF4E5F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6480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68862F-5AB9-48BA-9BC1-69642CC6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338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Open the school inbox</a:t>
            </a:r>
          </a:p>
        </p:txBody>
      </p:sp>
      <p:sp>
        <p:nvSpPr>
          <p:cNvPr id="38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ADA42DC8-7522-4CC8-839E-81D4ABED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719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39" name="School messages-step-2">
            <a:extLst xmlns:a="http://schemas.openxmlformats.org/drawingml/2006/main">
              <a:ext uri="{FF2B5EF4-FFF2-40B4-BE49-F238E27FC236}">
                <a16:creationId xmlns:a16="http://schemas.microsoft.com/office/drawing/2014/main" id="{2BACCCD2-59E4-494C-B045-05DDCCFB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480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34E118-86E0-40B1-8E3F-851E1931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Choose a class or recipient</a:t>
            </a:r>
          </a:p>
        </p:txBody>
      </p:sp>
      <p:sp>
        <p:nvSpPr>
          <p:cNvPr id="41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C1E560E3-6537-4CD4-AC34-A8D64658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42" name="School messages-step-3">
            <a:extLst xmlns:a="http://schemas.openxmlformats.org/drawingml/2006/main">
              <a:ext uri="{FF2B5EF4-FFF2-40B4-BE49-F238E27FC236}">
                <a16:creationId xmlns:a16="http://schemas.microsoft.com/office/drawing/2014/main" id="{3BE79235-D577-40E9-A447-7D007DBE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7856F6-A8F2-4274-807C-CD62B0F1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Compose and check recipients</a:t>
            </a:r>
          </a:p>
        </p:txBody>
      </p:sp>
      <p:sp>
        <p:nvSpPr>
          <p:cNvPr id="44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2B21957B-A510-4A7C-ADAB-21BA0E7C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719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45" name="School messages-step-4">
            <a:extLst xmlns:a="http://schemas.openxmlformats.org/drawingml/2006/main">
              <a:ext uri="{FF2B5EF4-FFF2-40B4-BE49-F238E27FC236}">
                <a16:creationId xmlns:a16="http://schemas.microsoft.com/office/drawing/2014/main" id="{77DFF1D5-819B-48F1-AEBC-A08DA076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480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AC9273-89E2-4B4B-8162-75336CDE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7338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Send in app; recipient sees it in inbox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4F17F4-6FDB-40E5-B365-87460CB2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52975"/>
            <a:ext cx="16002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C1EECB-121A-4FC2-A2D5-2BD09083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482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School records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4EE6E3-029A-4BA2-8791-A518E952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625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defRPr>
            </a:pPr>
            <a:r>
              <a:rPr sz="900" b="0">
                <a:solidFill>
                  <a:srgbClr val="647875"/>
                </a:solidFill>
                <a:latin typeface="Calibri Light"/>
                <a:ea typeface="Calibri Light"/>
                <a:cs typeface="Calibri Light"/>
              </a:rPr>
              <a:t>Administrator</a:t>
            </a:r>
          </a:p>
        </p:txBody>
      </p:sp>
      <p:sp>
        <p:nvSpPr>
          <p:cNvPr id="50" name="School records-step-1">
            <a:extLst xmlns:a="http://schemas.openxmlformats.org/drawingml/2006/main">
              <a:ext uri="{FF2B5EF4-FFF2-40B4-BE49-F238E27FC236}">
                <a16:creationId xmlns:a16="http://schemas.microsoft.com/office/drawing/2014/main" id="{F1FA152B-1DA1-49FA-A8CA-BC7737F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7529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3571E2-09D2-4BB8-AC3D-A1C7A534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387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Open People, Transport or Library</a:t>
            </a:r>
          </a:p>
        </p:txBody>
      </p:sp>
      <p:sp>
        <p:nvSpPr>
          <p:cNvPr id="52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7972AFC8-BB93-4E96-8A4E-D435DD19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768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53" name="School records-step-2">
            <a:extLst xmlns:a="http://schemas.openxmlformats.org/drawingml/2006/main">
              <a:ext uri="{FF2B5EF4-FFF2-40B4-BE49-F238E27FC236}">
                <a16:creationId xmlns:a16="http://schemas.microsoft.com/office/drawing/2014/main" id="{A9A2CCDA-7EE4-4A97-8192-3233A3F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529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781125-BFFA-48EB-A01E-F4844A0E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387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Find a person, route or resource</a:t>
            </a:r>
          </a:p>
        </p:txBody>
      </p:sp>
      <p:sp>
        <p:nvSpPr>
          <p:cNvPr id="55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254E8511-879A-4C51-816C-B5984CB9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768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56" name="School records-step-3">
            <a:extLst xmlns:a="http://schemas.openxmlformats.org/drawingml/2006/main">
              <a:ext uri="{FF2B5EF4-FFF2-40B4-BE49-F238E27FC236}">
                <a16:creationId xmlns:a16="http://schemas.microsoft.com/office/drawing/2014/main" id="{A7FE6BE7-91DB-4A19-B05E-1EAA5B1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529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29B0CC-AB88-4C25-93BF-CA95B5C4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387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Update permitted information</a:t>
            </a:r>
          </a:p>
        </p:txBody>
      </p:sp>
      <p:sp>
        <p:nvSpPr>
          <p:cNvPr id="58" name="task-flow-arrow">
            <a:extLst xmlns:a="http://schemas.openxmlformats.org/drawingml/2006/main">
              <a:ext uri="{FF2B5EF4-FFF2-40B4-BE49-F238E27FC236}">
                <a16:creationId xmlns:a16="http://schemas.microsoft.com/office/drawing/2014/main" id="{1F605563-15C3-46CE-8F2F-B20E3D48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76825"/>
            <a:ext cx="200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96C"/>
          </a:solidFill>
          <a:ln xmlns:a="http://schemas.openxmlformats.org/drawingml/2006/main" w="4763">
            <a:solidFill>
              <a:srgbClr val="15796C"/>
            </a:solidFill>
            <a:prstDash val="solid"/>
          </a:ln>
        </p:spPr>
      </p:sp>
      <p:sp>
        <p:nvSpPr>
          <p:cNvPr id="59" name="School records-step-4">
            <a:extLst xmlns:a="http://schemas.openxmlformats.org/drawingml/2006/main">
              <a:ext uri="{FF2B5EF4-FFF2-40B4-BE49-F238E27FC236}">
                <a16:creationId xmlns:a16="http://schemas.microsoft.com/office/drawing/2014/main" id="{0663F86C-A635-4393-AC84-D899C08A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52975"/>
            <a:ext cx="2000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C9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323777-0092-400B-8B58-CC959AE5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838700"/>
            <a:ext cx="1752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Save; access follows the user’s role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42F505-6F07-4848-888E-D03DF19C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29300"/>
            <a:ext cx="114109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solidFill>
              <a:srgbClr val="EAF4F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70D9C9-576A-4F74-AF6C-27514ABE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24550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defRPr>
            </a:pPr>
            <a:r>
              <a:rPr sz="975" b="1">
                <a:solidFill>
                  <a:srgbClr val="15796C"/>
                </a:solidFill>
                <a:latin typeface="Calibri Light"/>
                <a:ea typeface="Calibri Light"/>
                <a:cs typeface="Calibri Light"/>
              </a:rPr>
              <a:t>PRIVACY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AD640F-19F0-43C9-8BD6-E52C9FAA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886450"/>
            <a:ext cx="1030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defRPr>
            </a:pPr>
            <a:r>
              <a:rPr sz="1050" b="0">
                <a:solidFill>
                  <a:srgbClr val="173C39"/>
                </a:solidFill>
                <a:latin typeface="Calibri Light"/>
                <a:ea typeface="Calibri Light"/>
                <a:cs typeface="Calibri Light"/>
              </a:rPr>
              <a:t>Campusly messages keep personal phone and email details hidden. Sensitive records appear according to account permissions.</a:t>
            </a:r>
          </a:p>
        </p:txBody>
      </p:sp>
    </p:spTree>
    <p:extLst>
      <p:ext uri="{BB962C8B-B14F-4D97-AF65-F5344CB8AC3E}">
        <p14:creationId xmlns:p14="http://schemas.microsoft.com/office/powerpoint/2010/main" val="2067222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2026-10-11T06:47:26.7920000Z</dcterms:created>
  <dcterms:modified xsi:type="dcterms:W3CDTF">2026-10-11T06:47:26.7920000Z</dcterms:modified>
</coreProperties>
</file>