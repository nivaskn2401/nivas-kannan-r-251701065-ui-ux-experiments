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1a14f429ba47cd" /><Relationship Type="http://schemas.openxmlformats.org/officeDocument/2006/relationships/extended-properties" Target="/docProps/app.xml" Id="R49900a688f7e4393" /><Relationship Type="http://schemas.openxmlformats.org/officeDocument/2006/relationships/officeDocument" Target="/ppt/presentation.xml" Id="Rb9c0aeba8ca14c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86209509d4348e2"/>
  </p:sldMasterIdLst>
  <p:notesMasterIdLst>
    <p:notesMasterId xmlns:r="http://schemas.openxmlformats.org/officeDocument/2006/relationships" r:id="R776357ceffaf47d2"/>
  </p:notesMasterIdLst>
  <p:sldIdLst>
    <p:sldId xmlns:r="http://schemas.openxmlformats.org/officeDocument/2006/relationships" id="256" r:id="R86f937b684074191"/>
    <p:sldId xmlns:r="http://schemas.openxmlformats.org/officeDocument/2006/relationships" id="257" r:id="R090cd24a1f7c422d"/>
    <p:sldId xmlns:r="http://schemas.openxmlformats.org/officeDocument/2006/relationships" id="258" r:id="Re63eb103440f40a8"/>
    <p:sldId xmlns:r="http://schemas.openxmlformats.org/officeDocument/2006/relationships" id="259" r:id="R8fece441aefc4a9e"/>
    <p:sldId xmlns:r="http://schemas.openxmlformats.org/officeDocument/2006/relationships" id="260" r:id="Re7127bedcd194743"/>
    <p:sldId xmlns:r="http://schemas.openxmlformats.org/officeDocument/2006/relationships" id="261" r:id="R508c7785386e467d"/>
    <p:sldId xmlns:r="http://schemas.openxmlformats.org/officeDocument/2006/relationships" id="262" r:id="R3a040d4478dc455a"/>
    <p:sldId xmlns:r="http://schemas.openxmlformats.org/officeDocument/2006/relationships" id="263" r:id="R96419b8bdf554940"/>
    <p:sldId xmlns:r="http://schemas.openxmlformats.org/officeDocument/2006/relationships" id="264" r:id="R22fbaf24efba412d"/>
    <p:sldId xmlns:r="http://schemas.openxmlformats.org/officeDocument/2006/relationships" id="265" r:id="Rd9ff0d274aaa4da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2fe43fb06c4aad" /><Relationship Type="http://schemas.openxmlformats.org/officeDocument/2006/relationships/slideMaster" Target="/ppt/slideMasters/slideMaster1.xml" Id="Rf86209509d4348e2" /><Relationship Type="http://schemas.openxmlformats.org/officeDocument/2006/relationships/notesMaster" Target="/ppt/notesMasters/notesMaster1.xml" Id="R776357ceffaf47d2" /><Relationship Type="http://schemas.openxmlformats.org/officeDocument/2006/relationships/presProps" Target="/ppt/presProps.xml" Id="Rcee2d7a75c1a4c7a" /><Relationship Type="http://schemas.openxmlformats.org/officeDocument/2006/relationships/tableStyles" Target="/ppt/tableStyles.xml" Id="R712d30893d254f9c" /><Relationship Type="http://schemas.openxmlformats.org/officeDocument/2006/relationships/slide" Target="/ppt/slides/slide1.xml" Id="R86f937b684074191" /><Relationship Type="http://schemas.openxmlformats.org/officeDocument/2006/relationships/slide" Target="/ppt/slides/slide2.xml" Id="R090cd24a1f7c422d" /><Relationship Type="http://schemas.openxmlformats.org/officeDocument/2006/relationships/slide" Target="/ppt/slides/slide3.xml" Id="Re63eb103440f40a8" /><Relationship Type="http://schemas.openxmlformats.org/officeDocument/2006/relationships/slide" Target="/ppt/slides/slide4.xml" Id="R8fece441aefc4a9e" /><Relationship Type="http://schemas.openxmlformats.org/officeDocument/2006/relationships/slide" Target="/ppt/slides/slide5.xml" Id="Re7127bedcd194743" /><Relationship Type="http://schemas.openxmlformats.org/officeDocument/2006/relationships/slide" Target="/ppt/slides/slide6.xml" Id="R508c7785386e467d" /><Relationship Type="http://schemas.openxmlformats.org/officeDocument/2006/relationships/slide" Target="/ppt/slides/slide7.xml" Id="R3a040d4478dc455a" /><Relationship Type="http://schemas.openxmlformats.org/officeDocument/2006/relationships/slide" Target="/ppt/slides/slide8.xml" Id="R96419b8bdf554940" /><Relationship Type="http://schemas.openxmlformats.org/officeDocument/2006/relationships/slide" Target="/ppt/slides/slide9.xml" Id="R22fbaf24efba412d" /><Relationship Type="http://schemas.openxmlformats.org/officeDocument/2006/relationships/slide" Target="/ppt/slides/slide10.xml" Id="Rd9ff0d274aaa4d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41cbf4bef43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5a0d6756df54bb3" /><Relationship Type="http://schemas.openxmlformats.org/officeDocument/2006/relationships/notesMaster" Target="/ppt/notesMasters/notesMaster1.xml" Id="R27fc7a23a833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8c5b8586d54cc1" /><Relationship Type="http://schemas.openxmlformats.org/officeDocument/2006/relationships/notesMaster" Target="/ppt/notesMasters/notesMaster1.xml" Id="Rb49ff25242ee46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1c80d5668a4ee7" /><Relationship Type="http://schemas.openxmlformats.org/officeDocument/2006/relationships/notesMaster" Target="/ppt/notesMasters/notesMaster1.xml" Id="R2232039f999f43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f4c1af47e14e4d" /><Relationship Type="http://schemas.openxmlformats.org/officeDocument/2006/relationships/notesMaster" Target="/ppt/notesMasters/notesMaster1.xml" Id="R868d833ffac745d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a403eb1d8483a" /><Relationship Type="http://schemas.openxmlformats.org/officeDocument/2006/relationships/notesMaster" Target="/ppt/notesMasters/notesMaster1.xml" Id="R75ebc43e97cd4b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dd723eff69a44f5" /><Relationship Type="http://schemas.openxmlformats.org/officeDocument/2006/relationships/notesMaster" Target="/ppt/notesMasters/notesMaster1.xml" Id="Rd4f429bf6dc44d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e62f4abfce4702" /><Relationship Type="http://schemas.openxmlformats.org/officeDocument/2006/relationships/notesMaster" Target="/ppt/notesMasters/notesMaster1.xml" Id="R8c9f4a92769048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b6bd69c7d4a1a" /><Relationship Type="http://schemas.openxmlformats.org/officeDocument/2006/relationships/notesMaster" Target="/ppt/notesMasters/notesMaster1.xml" Id="Rccd2d5a4ca9149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0556aee74c4e6e" /><Relationship Type="http://schemas.openxmlformats.org/officeDocument/2006/relationships/notesMaster" Target="/ppt/notesMasters/notesMaster1.xml" Id="R0be182a1f79545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c22b1e585646be" /><Relationship Type="http://schemas.openxmlformats.org/officeDocument/2006/relationships/notesMaster" Target="/ppt/notesMasters/notesMaster1.xml" Id="Ra7da7ce5029846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Entry screen for school staff and authorized community members.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6c54d7e16940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d4fe973cbc4892" /><Relationship Type="http://schemas.openxmlformats.org/officeDocument/2006/relationships/slideLayout" Target="/ppt/slideLayouts/slideLayout1.xml" Id="R5e0dca787c2a4f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0dca787c2a4f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93b54838849ff" /><Relationship Type="http://schemas.openxmlformats.org/officeDocument/2006/relationships/notesSlide" Target="/ppt/notesSlides/notesSlide1.xml" Id="Ra7b6cebd29a642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e788e526f4c4a" /><Relationship Type="http://schemas.openxmlformats.org/officeDocument/2006/relationships/notesSlide" Target="/ppt/notesSlides/notesSlide2.xml" Id="Rb7c79b0be52145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7f937cbe2947ae" /><Relationship Type="http://schemas.openxmlformats.org/officeDocument/2006/relationships/notesSlide" Target="/ppt/notesSlides/notesSlide3.xml" Id="Rbaa139afae4845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c8a399f2d84383" /><Relationship Type="http://schemas.openxmlformats.org/officeDocument/2006/relationships/notesSlide" Target="/ppt/notesSlides/notesSlide4.xml" Id="R792e02404e9b44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5ff12a75c457a" /><Relationship Type="http://schemas.openxmlformats.org/officeDocument/2006/relationships/notesSlide" Target="/ppt/notesSlides/notesSlide5.xml" Id="Rde9907807b2847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8618088cc4e81" /><Relationship Type="http://schemas.openxmlformats.org/officeDocument/2006/relationships/notesSlide" Target="/ppt/notesSlides/notesSlide6.xml" Id="R4c545410a9ff47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5d188a25a4e61" /><Relationship Type="http://schemas.openxmlformats.org/officeDocument/2006/relationships/notesSlide" Target="/ppt/notesSlides/notesSlide7.xml" Id="Rb3580388e49d4d1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e02db51964e51" /><Relationship Type="http://schemas.openxmlformats.org/officeDocument/2006/relationships/notesSlide" Target="/ppt/notesSlides/notesSlide8.xml" Id="R39b15e47669843c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e76862e574935" /><Relationship Type="http://schemas.openxmlformats.org/officeDocument/2006/relationships/notesSlide" Target="/ppt/notesSlides/notesSlide9.xml" Id="Rafd0b87dbca54f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5f8eca9d04a37" /><Relationship Type="http://schemas.openxmlformats.org/officeDocument/2006/relationships/notesSlide" Target="/ppt/notesSlides/notesSlide10.xml" Id="Rd4d3c917704242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1A157B67-8A65-4C82-BFA1-1D8AA6E1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A253D18-380D-4C42-AFD9-628E7C4BF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01  Login &amp; school access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D76F50E-241B-4E4D-ABAC-3A16ABA1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 private sign-in for school staff, with a clear route into the right school workspace.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B8BF1AE0-348D-4A7C-B6B0-FFBA8A920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01 / 10</a:t>
            </a:r>
          </a:p>
        </p:txBody>
      </p:sp>
      <p:sp>
        <p:nvSpPr>
          <p:cNvPr id="5" name="login-window">
            <a:extLst xmlns:a="http://schemas.openxmlformats.org/drawingml/2006/main">
              <a:ext uri="{FF2B5EF4-FFF2-40B4-BE49-F238E27FC236}">
                <a16:creationId xmlns:a16="http://schemas.microsoft.com/office/drawing/2014/main" id="{5A94DB18-3895-4828-B1B2-97CAF852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11239500" cy="5238750"/>
          </a:xfrm>
          <a:prstGeom xmlns:a="http://schemas.openxmlformats.org/drawingml/2006/main" prst="roundRect">
            <a:avLst>
              <a:gd name="adj" fmla="val 3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login-brand-panel">
            <a:extLst xmlns:a="http://schemas.openxmlformats.org/drawingml/2006/main">
              <a:ext uri="{FF2B5EF4-FFF2-40B4-BE49-F238E27FC236}">
                <a16:creationId xmlns:a16="http://schemas.microsoft.com/office/drawing/2014/main" id="{18BAE590-359C-488F-8762-6326639D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04900"/>
            <a:ext cx="4572000" cy="523875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nel-square-edge">
            <a:extLst xmlns:a="http://schemas.openxmlformats.org/drawingml/2006/main">
              <a:ext uri="{FF2B5EF4-FFF2-40B4-BE49-F238E27FC236}">
                <a16:creationId xmlns:a16="http://schemas.microsoft.com/office/drawing/2014/main" id="{15E6A2DF-8875-477D-B1DC-1CD41744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04900"/>
            <a:ext cx="495300" cy="523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A8A1CEE8-E460-4DC2-891E-12A8EFF0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28750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FFFFF">
              <a:alpha val="1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766CEF5B-7CE6-4C58-B98A-66988D37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14475"/>
            <a:ext cx="361950" cy="293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303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44A0D67C-15F2-42E7-BD13-B8A1CCA1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1495425"/>
            <a:ext cx="200025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BDE617A-B48F-49A6-9DC0-4A3B5B8C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7172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476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One school. Every detail.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8EE790F-4D19-40C8-9D5A-A8E90553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67025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EE7"/>
                </a:solidFill>
                <a:latin typeface="Arial"/>
                <a:ea typeface="Arial"/>
                <a:cs typeface="Arial"/>
              </a:rPr>
              <a:t>A calmer way to keep learning,</a:t>
            </a:r>
          </a:p>
          <a:p xmlns:a="http://schemas.openxmlformats.org/drawingml/2006/main">
            <a:pPr algn="l">
              <a:defRPr sz="1125" b="0">
                <a:solidFill>
                  <a:srgbClr val="D9EEE7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EEE7"/>
                </a:solidFill>
                <a:latin typeface="Arial"/>
                <a:ea typeface="Arial"/>
                <a:cs typeface="Arial"/>
              </a:rPr>
              <a:t>people and school life connected.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624B4DB2-AEC2-47CB-8493-955CC38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81425"/>
            <a:ext cx="3476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3333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3378ACBC-B6D0-4095-8B00-546518F8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29075"/>
            <a:ext cx="1333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C7E6DB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C7E6DB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1A33042-7380-42BC-8F51-970787AA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029075"/>
            <a:ext cx="1333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C7E6DB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C7E6DB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536988F-104D-4F74-A879-161121DB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333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C7E6DB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C7E6DB"/>
                </a:solidFill>
                <a:latin typeface="Arial"/>
                <a:ea typeface="Arial"/>
                <a:cs typeface="Arial"/>
              </a:rPr>
              <a:t>SCHOOL LIFE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B48EA0B8-141D-49F9-9DF8-BB7163E1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286250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C7E6DB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C7E6DB"/>
                </a:solidFill>
                <a:latin typeface="Arial"/>
                <a:ea typeface="Arial"/>
                <a:cs typeface="Arial"/>
              </a:rPr>
              <a:t>PRIVATE MESSAGING</a:t>
            </a:r>
          </a:p>
        </p:txBody>
      </p:sp>
      <p:sp>
        <p:nvSpPr>
          <p:cNvPr id="18" name="avatar">
            <a:extLst xmlns:a="http://schemas.openxmlformats.org/drawingml/2006/main">
              <a:ext uri="{FF2B5EF4-FFF2-40B4-BE49-F238E27FC236}">
                <a16:creationId xmlns:a16="http://schemas.microsoft.com/office/drawing/2014/main" id="{5F909B79-684A-4798-985A-21FFA02B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219700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D2CB006F-4833-46BD-A98A-63E8D9CB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286375"/>
            <a:ext cx="266700" cy="179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ctr">
              <a:defRPr sz="1008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008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558B64D9-FCD4-483F-B601-B8AF99A8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229225"/>
            <a:ext cx="2857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 access for your school community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7EE982BB-E3A8-4B3D-BEB2-93882ED1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5410200"/>
            <a:ext cx="2667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C7E6DB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C7E6DB"/>
                </a:solidFill>
                <a:latin typeface="Arial"/>
                <a:ea typeface="Arial"/>
                <a:cs typeface="Arial"/>
              </a:rPr>
              <a:t>Use your school account to continue.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D1254468-DD71-4839-9856-A452E863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57350"/>
            <a:ext cx="42862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WELCOME BACK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B8CDDAA-79BB-446B-89F1-C0A175D11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95475"/>
            <a:ext cx="47625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7037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Sign in to Campusly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511FA5C-ED01-4867-BEA0-6E8D80BF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860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6818"/>
          </a:bodyPr>
          <a:lstStyle xmlns:a="http://schemas.openxmlformats.org/drawingml/2006/main"/>
          <a:p xmlns:a="http://schemas.openxmlformats.org/drawingml/2006/main">
            <a:pPr algn="l">
              <a:defRPr sz="92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Enter your school email and password to continue.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2D6E92C-2637-4BEF-BCE4-AEABE990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81300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9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993"/>
                </a:solidFill>
                <a:latin typeface="Arial"/>
                <a:ea typeface="Arial"/>
                <a:cs typeface="Arial"/>
              </a:rPr>
              <a:t>SCHOOL EMAIL</a:t>
            </a:r>
          </a:p>
        </p:txBody>
      </p:sp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24181E76-C8B2-49D8-8ABF-CC1EB10F8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52750"/>
            <a:ext cx="49053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F088610-C716-4C75-8FBC-FFD09123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086100"/>
            <a:ext cx="4572000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1731"/>
          </a:bodyPr>
          <a:lstStyle xmlns:a="http://schemas.openxmlformats.org/drawingml/2006/main"/>
          <a:p xmlns:a="http://schemas.openxmlformats.org/drawingml/2006/main">
            <a:pPr algn="l">
              <a:defRPr sz="924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924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ananya@northfield.edu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F3707A6-A9BB-4AFD-BF2B-9BE882F9A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552825"/>
            <a:ext cx="3810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8A999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A9993"/>
                </a:solidFill>
                <a:latin typeface="Arial"/>
                <a:ea typeface="Arial"/>
                <a:cs typeface="Arial"/>
              </a:rPr>
              <a:t>PASSWORD</a:t>
            </a:r>
          </a:p>
        </p:txBody>
      </p:sp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8D1D3B21-7BE6-4BBD-B8E2-38C24ABE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24275"/>
            <a:ext cx="4905375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C6F46D7-FE83-4FAA-8D32-8374C4571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57625"/>
            <a:ext cx="4000500" cy="179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••••••••••••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517ACD11-008D-45A0-8165-0A30D3D7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857625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Show</a:t>
            </a:r>
          </a:p>
        </p:txBody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138154F4-2806-40F2-B8A1-E8F7434F1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43400"/>
            <a:ext cx="4905375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5B50754D-221A-47A7-98F6-7594BC1F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457700"/>
            <a:ext cx="4905375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in securely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FB0333F7-B9D2-4BCE-B1D1-5FC8FA74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838700"/>
            <a:ext cx="152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Forgot password?</a:t>
            </a:r>
          </a:p>
        </p:txBody>
      </p:sp>
      <p:sp>
        <p:nvSpPr>
          <p:cNvPr id="35" name="divider">
            <a:extLst xmlns:a="http://schemas.openxmlformats.org/drawingml/2006/main">
              <a:ext uri="{FF2B5EF4-FFF2-40B4-BE49-F238E27FC236}">
                <a16:creationId xmlns:a16="http://schemas.microsoft.com/office/drawing/2014/main" id="{C6C418A7-D486-415F-BB34-2F9402E0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53025"/>
            <a:ext cx="49053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6FCA4543-7A4E-45B5-8AC3-FEDF90C6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314950"/>
            <a:ext cx="12858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New to Campusly?</a:t>
            </a:r>
          </a:p>
        </p:txBody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3AA6857-6B33-4B1D-A906-0A40A17E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14950"/>
            <a:ext cx="3333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Ask your school administrator for access</a:t>
            </a:r>
          </a:p>
        </p:txBody>
      </p:sp>
    </p:spTree>
    <p:extLst>
      <p:ext uri="{BB962C8B-B14F-4D97-AF65-F5344CB8AC3E}">
        <p14:creationId xmlns:p14="http://schemas.microsoft.com/office/powerpoint/2010/main" val="338001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text">
            <a:extLst xmlns:a="http://schemas.openxmlformats.org/drawingml/2006/main">
              <a:ext uri="{FF2B5EF4-FFF2-40B4-BE49-F238E27FC236}">
                <a16:creationId xmlns:a16="http://schemas.microsoft.com/office/drawing/2014/main" id="{798DAFD7-9186-4705-8E99-F4D0FADE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25F2C77C-A996-4AC2-93F6-6650AB4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02  School overview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76C5AED8-EBFF-463D-BC7A-393A5C8F5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 daily snapshot of learning, attendance, operations and communication.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7F97B8-1C03-4175-A97E-F8B1EE7F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02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0BCFBB4A-5178-41B3-BE05-B13B3AE3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DA6BE6B3-1DA2-4785-87EE-C89C487E9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D7213E4B-C2B6-4382-9C50-C6D05BE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1DE62D4D-0E20-417E-BF42-EC3AD43F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3CECA650-FBAE-4110-8BF1-7A619227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EB4B2A12-C63A-4F46-85F7-2687F058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007AD90-9CF9-44DB-AEC4-6BFA87445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DC0B1870-4A66-4DAD-AA79-870F4061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1B44DF1F-B299-48EB-B4E3-033FA668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4A0174EC-22DA-498C-A6D5-B575EBE8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16019E85-1D77-4192-898B-EB72A6F7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1C30D1B-C276-4685-9A28-63BA1C03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BBC8B86-B127-444F-93F8-89DCF51E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2EDC176-4B27-4283-9937-48BF7F53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active-nav">
            <a:extLst xmlns:a="http://schemas.openxmlformats.org/drawingml/2006/main">
              <a:ext uri="{FF2B5EF4-FFF2-40B4-BE49-F238E27FC236}">
                <a16:creationId xmlns:a16="http://schemas.microsoft.com/office/drawing/2014/main" id="{DE4DF7D1-43CC-4686-88F7-D7B42D3C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050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2B5A095-0B71-4C1A-B8D2-A17CECD7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1DBC206-5BB6-4508-80E4-E409F8A4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C5CC3290-43A3-474A-93CC-C19C8EFD4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5DB958F-724B-4236-98CB-8D0974E6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C5C8D584-7611-4999-825A-EDF9CAFC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498C061-5C44-4A51-9E17-ED928E55A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95E58730-E545-4F78-89BB-4D996C816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B037B10-90F5-4F09-9F04-F1A9EA95C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CA10F03-C51F-41CA-8B8A-8BC4084C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5D5BED6-B9B4-49DA-AB72-15899F87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C621180F-30B2-48B8-A256-5D4E9F8E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2EB9747D-8077-4782-A076-BE003E8C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7D08101-54D7-4F7C-A330-7FC2B03A2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252E398A-EE14-496D-98F8-4688FA83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B89D394F-317A-46CD-849A-A9B5DC62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00127C16-3D31-4CB0-AFE0-EFAA1119E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1D7EE66E-FF18-483D-AB07-7F6618F5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DDD3F1FA-F70A-4233-B7DB-8199ED380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CFF319D3-2736-44FE-9E65-3D1B0093C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476E0BA5-8CDE-44FE-A57A-4BC70717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C9CF5E6-6033-4838-A03C-1284F983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B19B9EEC-C435-4FBD-A12E-97708678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34A2F5E3-FC6C-424F-895D-D295F452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832F5C2E-83E5-479E-8794-936F0AD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52FCC5CF-F84D-4DDA-9358-481E3115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786559C-76CB-4E02-B8A3-F6D4F92E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EF7396AC-AE1A-4763-BEAC-D34803C8C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B132FC4C-C081-4494-AB4D-AE6FE4D1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1E715D0E-DA4B-4D6A-BFA6-39CA8EDD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38C88E6-3DF7-4AE5-9CCF-00FAA58B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A317D7A1-683C-4830-A989-73F21E8F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943823A0-B407-4D02-B831-249B1F0F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2405F8D5-C9B8-4125-B692-AF14A3CB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9F87D6EF-4966-4986-85E7-49E43959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F079A3EC-08BB-4462-9C85-9ECFC3BB4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MONDAY · 5 OCTOBER 2026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9165E8D8-F9DE-4215-B96D-1972EE89A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Good morning, Ananya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D04AF8D7-0E84-4B05-B6B8-DC46828A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Here’s what’s happening across Northfield Academy today.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9F038AC2-9FA7-4A3F-9F93-75DA14CE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0A4A6C30-AAD5-4F4A-B258-7B3EC2C93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Create notice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43CBDAF-19AF-4D1A-8EBD-D63DD3F93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9EAD0C16-7158-43E8-9C29-53647530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8CFFD13F-37EC-4D7D-8844-591FAA3F9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312A8CF0-A67E-475C-903D-65E10540F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Total students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3BFA897D-57DF-4B92-A41A-F2DA59689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1,284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3633302E-048F-4962-ACD2-54284900F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↑ 4.8% vs. last term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4D065CC1-2F67-42A5-BDF6-0FA1A1A6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5D506794-3887-433A-BA15-FFFC4D5B1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47AD627A-E4B9-46A0-9F15-30C695B9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1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4EB6EF9E-C884-495B-9834-E6747995F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Attendance today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D58A9B91-4C96-4744-AAD7-A941EF94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94.8%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D0B54517-12AD-4AE8-9EE8-6BB01567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↑ 1.2% vs. target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206ED96-27BB-476D-8C3A-30850637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61318B52-C33D-42BA-B8DB-1CC1FCEE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A64E2373-EC31-4E0E-8666-FD25F1A93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317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DD96F8AC-67AE-460C-8B56-76DF0A39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Fees collected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6D059D56-DCB9-4CC0-BEA3-8B996FEFF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82.5%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8FBC2788-DED2-4335-A8A0-9D3CA012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This term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9FAD356-D997-4D67-ADF7-1C8FB61B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D12AF385-5EE2-4512-BF77-2BB3917B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9AFC7B29-5D9C-4151-AF14-2E7F6931D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62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2512E025-24EA-4420-8AFB-4CFE2211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Open requests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CB75D78B-F684-498F-93D0-EBBFD253A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8A93287D-C358-480F-BD04-D1B8C943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6 new this week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802FD07-966E-4385-A4B6-B2174A77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5410200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8C3755E5-8835-4F1E-851D-56753CA7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Attendance overview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3482B14C-E55C-4D0B-8686-E1C431FF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514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Daily attendance across all grades · this month</a:t>
            </a:r>
          </a:p>
        </p:txBody>
      </p:sp>
      <p:sp>
        <p:nvSpPr>
          <p:cNvPr id="86" name="chart-bar">
            <a:extLst xmlns:a="http://schemas.openxmlformats.org/drawingml/2006/main">
              <a:ext uri="{FF2B5EF4-FFF2-40B4-BE49-F238E27FC236}">
                <a16:creationId xmlns:a16="http://schemas.microsoft.com/office/drawing/2014/main" id="{AC9C32E5-C7E3-43D0-B061-8251BB7B1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48125"/>
            <a:ext cx="285750" cy="609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8FC8A110-0A3E-47BD-9F24-6888CD11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88" name="chart-bar">
            <a:extLst xmlns:a="http://schemas.openxmlformats.org/drawingml/2006/main">
              <a:ext uri="{FF2B5EF4-FFF2-40B4-BE49-F238E27FC236}">
                <a16:creationId xmlns:a16="http://schemas.microsoft.com/office/drawing/2014/main" id="{9C73EC7C-21B5-4B50-956A-4402F3CD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048125"/>
            <a:ext cx="285750" cy="7239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A21ED58B-5C75-4649-B0FD-63DF5A13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90" name="chart-bar">
            <a:extLst xmlns:a="http://schemas.openxmlformats.org/drawingml/2006/main">
              <a:ext uri="{FF2B5EF4-FFF2-40B4-BE49-F238E27FC236}">
                <a16:creationId xmlns:a16="http://schemas.microsoft.com/office/drawing/2014/main" id="{1E02188C-D398-45A3-8A62-C1F4AD71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048125"/>
            <a:ext cx="285750" cy="666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0691CC90-5139-424B-A57D-10FF3E20D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92" name="chart-bar">
            <a:extLst xmlns:a="http://schemas.openxmlformats.org/drawingml/2006/main">
              <a:ext uri="{FF2B5EF4-FFF2-40B4-BE49-F238E27FC236}">
                <a16:creationId xmlns:a16="http://schemas.microsoft.com/office/drawing/2014/main" id="{1D1226BC-C10A-464F-AD22-AE986D84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48125"/>
            <a:ext cx="285750" cy="7810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237F3D8F-E28D-4453-B978-C5CE96BA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94" name="chart-bar">
            <a:extLst xmlns:a="http://schemas.openxmlformats.org/drawingml/2006/main">
              <a:ext uri="{FF2B5EF4-FFF2-40B4-BE49-F238E27FC236}">
                <a16:creationId xmlns:a16="http://schemas.microsoft.com/office/drawing/2014/main" id="{5904C0B0-3241-47DC-89FB-39F13284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048125"/>
            <a:ext cx="28575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9DBB36DD-6AB6-4C90-A4CB-517BA444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96" name="chart-bar">
            <a:extLst xmlns:a="http://schemas.openxmlformats.org/drawingml/2006/main">
              <a:ext uri="{FF2B5EF4-FFF2-40B4-BE49-F238E27FC236}">
                <a16:creationId xmlns:a16="http://schemas.microsoft.com/office/drawing/2014/main" id="{96E054AF-2695-4032-832A-6E8430C3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48125"/>
            <a:ext cx="285750" cy="8572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16F9E418-84C0-48FC-BC8E-65C78E65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98" name="chart-bar">
            <a:extLst xmlns:a="http://schemas.openxmlformats.org/drawingml/2006/main">
              <a:ext uri="{FF2B5EF4-FFF2-40B4-BE49-F238E27FC236}">
                <a16:creationId xmlns:a16="http://schemas.microsoft.com/office/drawing/2014/main" id="{39554360-E95B-4225-8F0D-F4109D85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48125"/>
            <a:ext cx="285750" cy="809625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8E2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BF84671F-42D2-4745-A238-6EC26DAF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00525"/>
            <a:ext cx="285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00" name="divider">
            <a:extLst xmlns:a="http://schemas.openxmlformats.org/drawingml/2006/main">
              <a:ext uri="{FF2B5EF4-FFF2-40B4-BE49-F238E27FC236}">
                <a16:creationId xmlns:a16="http://schemas.microsoft.com/office/drawing/2014/main" id="{AD9653D7-92F0-4C8A-B2C5-3CB8E4C2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010025"/>
            <a:ext cx="4933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B5564701-780A-4201-A332-507992EF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400550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102" name="avatar">
            <a:extLst xmlns:a="http://schemas.openxmlformats.org/drawingml/2006/main">
              <a:ext uri="{FF2B5EF4-FFF2-40B4-BE49-F238E27FC236}">
                <a16:creationId xmlns:a16="http://schemas.microsoft.com/office/drawing/2014/main" id="{B042ACC9-0770-40C5-AE69-3398C7BD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19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22B8252C-B7C0-4F8D-8C0A-5B40FAD3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00550"/>
            <a:ext cx="647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104" name="avatar">
            <a:extLst xmlns:a="http://schemas.openxmlformats.org/drawingml/2006/main">
              <a:ext uri="{FF2B5EF4-FFF2-40B4-BE49-F238E27FC236}">
                <a16:creationId xmlns:a16="http://schemas.microsoft.com/office/drawing/2014/main" id="{66393D99-E7CC-4F15-9D46-2FDEBFCE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419600"/>
            <a:ext cx="6667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5A0BA2E-942A-4CED-B3B4-046B92FA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38475"/>
            <a:ext cx="3514725" cy="1695450"/>
          </a:xfrm>
          <a:prstGeom xmlns:a="http://schemas.openxmlformats.org/drawingml/2006/main" prst="roundRect">
            <a:avLst>
              <a:gd name="adj" fmla="val 56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C517E8EE-41D8-4261-B0D9-0A70500AE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Today’s schedule</a:t>
            </a:r>
          </a:p>
        </p:txBody>
      </p:sp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FA257029-4B28-4879-B1BC-39A15D32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248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4 upcoming</a:t>
            </a:r>
          </a:p>
        </p:txBody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278C73F5-53BE-4826-B814-EFB4E519F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48050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08:30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8B283310-65DE-4A81-8055-4C4B08CD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448050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Mathematics · Grade 8A</a:t>
            </a:r>
          </a:p>
        </p:txBody>
      </p:sp>
      <p:sp>
        <p:nvSpPr>
          <p:cNvPr id="110" name="text">
            <a:extLst xmlns:a="http://schemas.openxmlformats.org/drawingml/2006/main">
              <a:ext uri="{FF2B5EF4-FFF2-40B4-BE49-F238E27FC236}">
                <a16:creationId xmlns:a16="http://schemas.microsoft.com/office/drawing/2014/main" id="{ADDCBCA7-5DAD-46B2-8916-A03CC375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4805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921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176F62"/>
                </a:solidFill>
                <a:latin typeface="Arial"/>
                <a:ea typeface="Arial"/>
                <a:cs typeface="Arial"/>
              </a:rPr>
              <a:t>In progress</a:t>
            </a:r>
          </a:p>
        </p:txBody>
      </p:sp>
      <p:sp>
        <p:nvSpPr>
          <p:cNvPr id="111" name="divider">
            <a:extLst xmlns:a="http://schemas.openxmlformats.org/drawingml/2006/main">
              <a:ext uri="{FF2B5EF4-FFF2-40B4-BE49-F238E27FC236}">
                <a16:creationId xmlns:a16="http://schemas.microsoft.com/office/drawing/2014/main" id="{B00D3066-7B48-4D0C-82BB-AD995F92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67125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ext">
            <a:extLst xmlns:a="http://schemas.openxmlformats.org/drawingml/2006/main">
              <a:ext uri="{FF2B5EF4-FFF2-40B4-BE49-F238E27FC236}">
                <a16:creationId xmlns:a16="http://schemas.microsoft.com/office/drawing/2014/main" id="{A2B89F4D-6DB6-43CE-BDEA-A1C54A174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19525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09:30</a:t>
            </a:r>
          </a:p>
        </p:txBody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2C58AE2F-4055-4451-8E8A-6B4535351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1952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Science · Grade 7B</a:t>
            </a:r>
          </a:p>
        </p:txBody>
      </p:sp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02529552-DEDF-4D44-B38F-707CEAE8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9525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921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Upcoming</a:t>
            </a:r>
          </a:p>
        </p:txBody>
      </p:sp>
      <p:sp>
        <p:nvSpPr>
          <p:cNvPr id="115" name="divider">
            <a:extLst xmlns:a="http://schemas.openxmlformats.org/drawingml/2006/main">
              <a:ext uri="{FF2B5EF4-FFF2-40B4-BE49-F238E27FC236}">
                <a16:creationId xmlns:a16="http://schemas.microsoft.com/office/drawing/2014/main" id="{F0E19682-69CF-4827-84F5-1A6727FD4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386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ext">
            <a:extLst xmlns:a="http://schemas.openxmlformats.org/drawingml/2006/main">
              <a:ext uri="{FF2B5EF4-FFF2-40B4-BE49-F238E27FC236}">
                <a16:creationId xmlns:a16="http://schemas.microsoft.com/office/drawing/2014/main" id="{D930526B-0B60-47D7-B9A1-4876E4E2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1000"/>
            <a:ext cx="428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10:45</a:t>
            </a:r>
          </a:p>
        </p:txBody>
      </p:sp>
      <p:sp>
        <p:nvSpPr>
          <p:cNvPr id="117" name="text">
            <a:extLst xmlns:a="http://schemas.openxmlformats.org/drawingml/2006/main">
              <a:ext uri="{FF2B5EF4-FFF2-40B4-BE49-F238E27FC236}">
                <a16:creationId xmlns:a16="http://schemas.microsoft.com/office/drawing/2014/main" id="{990965F9-9041-426D-8B7E-57BB9CBC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1000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English · Grade 6C</a:t>
            </a:r>
          </a:p>
        </p:txBody>
      </p:sp>
      <p:sp>
        <p:nvSpPr>
          <p:cNvPr id="118" name="text">
            <a:extLst xmlns:a="http://schemas.openxmlformats.org/drawingml/2006/main">
              <a:ext uri="{FF2B5EF4-FFF2-40B4-BE49-F238E27FC236}">
                <a16:creationId xmlns:a16="http://schemas.microsoft.com/office/drawing/2014/main" id="{7FEB3A74-7DE1-4A78-8EE8-DDFD8555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91000"/>
            <a:ext cx="838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1921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Upcoming</a:t>
            </a:r>
          </a:p>
        </p:txBody>
      </p:sp>
      <p:sp>
        <p:nvSpPr>
          <p:cNvPr id="119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F00E76B-A8C6-46EF-AFCF-A97C51CAB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67275"/>
            <a:ext cx="5410200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20" name="text">
            <a:extLst xmlns:a="http://schemas.openxmlformats.org/drawingml/2006/main">
              <a:ext uri="{FF2B5EF4-FFF2-40B4-BE49-F238E27FC236}">
                <a16:creationId xmlns:a16="http://schemas.microsoft.com/office/drawing/2014/main" id="{1DF8FEF5-AE23-4327-B8BB-F842AE37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981575"/>
            <a:ext cx="514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Needs attention</a:t>
            </a:r>
          </a:p>
        </p:txBody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68832FC9-059F-49D3-BD91-8B67541D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143500"/>
            <a:ext cx="5143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Small follow-ups for today</a:t>
            </a:r>
          </a:p>
        </p:txBody>
      </p:sp>
      <p:sp>
        <p:nvSpPr>
          <p:cNvPr id="122" name="text">
            <a:extLst xmlns:a="http://schemas.openxmlformats.org/drawingml/2006/main">
              <a:ext uri="{FF2B5EF4-FFF2-40B4-BE49-F238E27FC236}">
                <a16:creationId xmlns:a16="http://schemas.microsoft.com/office/drawing/2014/main" id="{E19CE88D-B9C1-4029-A06E-4B9929FFC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Leave requests</a:t>
            </a:r>
          </a:p>
        </p:txBody>
      </p:sp>
      <p:sp>
        <p:nvSpPr>
          <p:cNvPr id="123" name="text">
            <a:extLst xmlns:a="http://schemas.openxmlformats.org/drawingml/2006/main">
              <a:ext uri="{FF2B5EF4-FFF2-40B4-BE49-F238E27FC236}">
                <a16:creationId xmlns:a16="http://schemas.microsoft.com/office/drawing/2014/main" id="{69B305B2-D6E9-4F0D-9552-143BCDBE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21970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4 to review</a:t>
            </a:r>
          </a:p>
        </p:txBody>
      </p:sp>
      <p:sp>
        <p:nvSpPr>
          <p:cNvPr id="124" name="text">
            <a:extLst xmlns:a="http://schemas.openxmlformats.org/drawingml/2006/main">
              <a:ext uri="{FF2B5EF4-FFF2-40B4-BE49-F238E27FC236}">
                <a16:creationId xmlns:a16="http://schemas.microsoft.com/office/drawing/2014/main" id="{2A3CDCC6-6746-4C37-8E84-F524AABB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76875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Transport · Route 04</a:t>
            </a:r>
          </a:p>
        </p:txBody>
      </p:sp>
      <p:sp>
        <p:nvSpPr>
          <p:cNvPr id="125" name="text">
            <a:extLst xmlns:a="http://schemas.openxmlformats.org/drawingml/2006/main">
              <a:ext uri="{FF2B5EF4-FFF2-40B4-BE49-F238E27FC236}">
                <a16:creationId xmlns:a16="http://schemas.microsoft.com/office/drawing/2014/main" id="{917102F1-EE0B-4880-A962-831D0EA0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47687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Route change</a:t>
            </a:r>
          </a:p>
        </p:txBody>
      </p:sp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6DF6E409-EF78-4B65-BB0A-5500796AC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34050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Fee reminders</a:t>
            </a:r>
          </a:p>
        </p:txBody>
      </p:sp>
      <p:sp>
        <p:nvSpPr>
          <p:cNvPr id="127" name="text">
            <a:extLst xmlns:a="http://schemas.openxmlformats.org/drawingml/2006/main">
              <a:ext uri="{FF2B5EF4-FFF2-40B4-BE49-F238E27FC236}">
                <a16:creationId xmlns:a16="http://schemas.microsoft.com/office/drawing/2014/main" id="{4A1E0684-D6D1-4133-877A-F3BA7698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5734050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6 families</a:t>
            </a:r>
          </a:p>
        </p:txBody>
      </p:sp>
      <p:sp>
        <p:nvSpPr>
          <p:cNvPr id="12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7A7F328-B4E4-44AC-B72C-75FE357A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67275"/>
            <a:ext cx="3514725" cy="1257300"/>
          </a:xfrm>
          <a:prstGeom xmlns:a="http://schemas.openxmlformats.org/drawingml/2006/main" prst="roundRect">
            <a:avLst>
              <a:gd name="adj" fmla="val 757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29" name="text">
            <a:extLst xmlns:a="http://schemas.openxmlformats.org/drawingml/2006/main">
              <a:ext uri="{FF2B5EF4-FFF2-40B4-BE49-F238E27FC236}">
                <a16:creationId xmlns:a16="http://schemas.microsoft.com/office/drawing/2014/main" id="{D8675474-4891-4B3C-A9B1-4961A47E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815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School messages</a:t>
            </a:r>
          </a:p>
        </p:txBody>
      </p:sp>
      <p:sp>
        <p:nvSpPr>
          <p:cNvPr id="130" name="text">
            <a:extLst xmlns:a="http://schemas.openxmlformats.org/drawingml/2006/main">
              <a:ext uri="{FF2B5EF4-FFF2-40B4-BE49-F238E27FC236}">
                <a16:creationId xmlns:a16="http://schemas.microsoft.com/office/drawing/2014/main" id="{5A71EFAC-A3FF-43F3-808C-095DAC27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143500"/>
            <a:ext cx="3248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Your private school inbox</a:t>
            </a:r>
          </a:p>
        </p:txBody>
      </p:sp>
      <p:sp>
        <p:nvSpPr>
          <p:cNvPr id="131" name="text">
            <a:extLst xmlns:a="http://schemas.openxmlformats.org/drawingml/2006/main">
              <a:ext uri="{FF2B5EF4-FFF2-40B4-BE49-F238E27FC236}">
                <a16:creationId xmlns:a16="http://schemas.microsoft.com/office/drawing/2014/main" id="{BB057A41-9E4D-4E0C-A93F-FF3495C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29225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8 families</a:t>
            </a:r>
          </a:p>
        </p:txBody>
      </p:sp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EC194112-8961-4EB0-9D50-B516EB3D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81625"/>
            <a:ext cx="2095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Field trip forms are ready…</a:t>
            </a:r>
          </a:p>
        </p:txBody>
      </p:sp>
      <p:sp>
        <p:nvSpPr>
          <p:cNvPr id="133" name="status">
            <a:extLst xmlns:a="http://schemas.openxmlformats.org/drawingml/2006/main">
              <a:ext uri="{FF2B5EF4-FFF2-40B4-BE49-F238E27FC236}">
                <a16:creationId xmlns:a16="http://schemas.microsoft.com/office/drawing/2014/main" id="{4F239126-AB45-45A0-A993-8782C91C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210175"/>
            <a:ext cx="571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ext">
            <a:extLst xmlns:a="http://schemas.openxmlformats.org/drawingml/2006/main">
              <a:ext uri="{FF2B5EF4-FFF2-40B4-BE49-F238E27FC236}">
                <a16:creationId xmlns:a16="http://schemas.microsoft.com/office/drawing/2014/main" id="{56D3C9CC-E6B6-4654-B9A1-DC7B43FD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7525" y="5248275"/>
            <a:ext cx="571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2 new</a:t>
            </a:r>
          </a:p>
        </p:txBody>
      </p:sp>
      <p:sp>
        <p:nvSpPr>
          <p:cNvPr id="135" name="text">
            <a:extLst xmlns:a="http://schemas.openxmlformats.org/drawingml/2006/main">
              <a:ext uri="{FF2B5EF4-FFF2-40B4-BE49-F238E27FC236}">
                <a16:creationId xmlns:a16="http://schemas.microsoft.com/office/drawing/2014/main" id="{54CD9126-8982-4004-BADA-0733F4FD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734050"/>
            <a:ext cx="2667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Personal contact details stay hidden</a:t>
            </a:r>
          </a:p>
        </p:txBody>
      </p:sp>
    </p:spTree>
    <p:extLst>
      <p:ext uri="{BB962C8B-B14F-4D97-AF65-F5344CB8AC3E}">
        <p14:creationId xmlns:p14="http://schemas.microsoft.com/office/powerpoint/2010/main" val="15021466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3ED481C0-7729-4DFC-B088-BDF5DF0E3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AD638AC2-8F12-4638-94C8-1326EA31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03  Attendance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B09BB106-7723-4A6C-BDDA-AB7DCD88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Record daily presence, review leave requests and follow up with families.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130CBD2-99D5-43AD-9C61-5BBE59F1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03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84FBF310-E2E7-4812-8445-8E147CE3D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A1A72C9D-9195-41E0-8069-3ADAB5C7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1FBD6187-5C02-4E50-84DA-07D46CB9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B127B604-FB7F-4E26-ABE7-A89CEECB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9501453B-50B2-4C35-BBD6-7F5F203E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D7B83613-F98C-43E9-97B4-700EB2A7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9DE923F-3BC4-4EFA-913B-1EDE6B936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2396ED0D-C10D-45EF-8121-290E226C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643FB7AD-958E-4ABA-9DE7-2C5FDE95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713D4C06-55D5-4B95-A1F8-8E6AD70D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252758F8-6261-476D-8A95-E2D89BECD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A3A41332-360C-421A-8CB9-3BF4DB14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364CA8A-4106-4E79-89AF-27BB62D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04947A2-6DD3-4607-B0CD-CBA1F1D6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E2BD874-1E1D-4C92-9A3C-05E96F3D7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C2E375FE-245C-4914-BB37-10BB39C7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F5FE7FD-2CDC-433D-A3AE-9E8E490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68CF7BDA-0DE2-486B-A8F2-87C88DF8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active-nav">
            <a:extLst xmlns:a="http://schemas.openxmlformats.org/drawingml/2006/main">
              <a:ext uri="{FF2B5EF4-FFF2-40B4-BE49-F238E27FC236}">
                <a16:creationId xmlns:a16="http://schemas.microsoft.com/office/drawing/2014/main" id="{7E707A7D-62BF-4399-9C09-313F54A1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146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FFA0A40-F97B-4735-B79A-0FEDA1E6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08C4AA7D-F62E-4EFE-944A-9FFFA103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891F0AD-B777-4339-ABB2-0E0672F9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418CE569-C066-4DD7-931D-9ED21ED0C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954619B5-72D5-4525-A58B-BCF2F492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63803E8-77E7-46B1-8153-56D33155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3950866E-7DB0-4B46-AD38-6EB831BB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D96D09CE-576D-4D0E-9DD9-D17E97F2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E3A1DF37-7DC3-42CC-B761-EA2DC565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68E07D0C-69CE-4C5A-8444-09E48A3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3ECFEED-4901-4FFC-95E4-7DB9E045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8D081CDF-1443-48E8-845F-24CB9DEE9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0CBA523A-279D-4986-9055-31096EA3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893CD282-CADD-4D23-89E6-7C95C795D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D6C1EC97-4F46-40B2-8891-976DC20F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B3983F10-1DAD-442A-B25F-07A6FF8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96394BC-27D5-4715-86A7-C98A31B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550F989C-6BB3-40E9-ADB0-D56CC88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40987385-0AB1-4808-8AD1-43C62A8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F78E7D24-1740-4785-8F27-1AF8D098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F3D9E75F-166D-4662-B8C9-062CF170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CCB4A9B6-C39C-4E4D-943F-290C5F14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70EABC38-5A3D-4B79-9C68-00605860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60662CCE-C58D-4CBE-A455-AE90E836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CCFDD5B5-E792-490C-9529-C6BC7CC1E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BCFFDEDA-F400-470D-8A26-2F04B377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1F9856CB-5FB3-4181-B59C-DDD6CC8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29801ED5-AF87-4E3E-B7DC-8DF10A73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25CCFFC3-4095-411D-A536-47EECA94B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6BC45AF7-ABFC-4DD6-A10B-CBE011112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C29EE910-BF8C-476A-A6D1-49CA26E4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OPERATIONS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DE2F712E-CF6F-4D81-8166-366114773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9E73758E-8FA0-4FF4-BE34-BF43D14E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Monday, 5 October 2026 · All grades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B3CDBA39-A626-4474-85D9-76F470BB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9B83F6F6-1D3D-40F7-89B9-7CB9097A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Record attendance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D41E2AE-52B0-4BE5-AB44-3A4B9990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E475F3C3-4782-4191-A9BD-A85438DD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B79EF692-87F4-424D-A93F-7C691BF0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920D217A-D957-49D4-9A80-A32ECD57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Present today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1970E986-08CC-40FF-9F49-DE73BEC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1,218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857369BD-3EED-4DCB-9186-6CD586E6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94.8% of enrolled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79B0C8C-069C-48B1-872A-8F9814F6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39534EA2-42F8-4F78-A49D-EF18CC5F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1BA0942B-1CE4-4D63-862E-E471A2AB9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076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–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70B0A1E0-7711-4FD6-A907-94AA41DAC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Absent today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118D9BE4-AF34-4067-9159-55434E6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A893746E-5DFF-48A6-BBD8-DF230981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14 classes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F2B8DB16-1BA5-44F0-8810-7BF5A849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E0386E7C-E689-40C5-A857-63B82C15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07DB813D-38FE-444A-AE8D-BD673AA3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1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578B19D4-0AE4-475E-9BD7-61E9D84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Late arrivals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402AFC82-5BE4-4BA6-94CF-64C13526A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E09FCDB4-3045-4366-A232-8A44A765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Need a check-in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61FD89A-ED6F-438A-A575-E899AB6C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F19F4102-E909-4DAE-98D2-37DB8D2D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2876FBE0-3D98-4BA3-9C62-3ACBE4F29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62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413019A6-A647-4D43-89BC-EC76219B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Leave requests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311B97D5-13BC-4539-BB06-CB15C1E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BBB3DA19-CB87-4D72-A3EA-86C384E9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Awaiting review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AA38A22-4939-4F02-9288-FBD5AB0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90392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7F596219-52A9-4DC0-8617-63DCA5A8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8772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Class roll · Grade 8A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33D52A35-B3AB-44A4-B7BE-E2F97AA8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8772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Search students and review check-ins</a:t>
            </a:r>
          </a:p>
        </p:txBody>
      </p:sp>
      <p:sp>
        <p:nvSpPr>
          <p:cNvPr id="86" name="shape">
            <a:extLst xmlns:a="http://schemas.openxmlformats.org/drawingml/2006/main">
              <a:ext uri="{FF2B5EF4-FFF2-40B4-BE49-F238E27FC236}">
                <a16:creationId xmlns:a16="http://schemas.microsoft.com/office/drawing/2014/main" id="{F2C10977-1F02-4FFE-8E25-1A3E5667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3409950"/>
            <a:ext cx="143827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81324573-6B10-48DB-AE41-378C10F9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76625"/>
            <a:ext cx="1219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All grades  ▾</a:t>
            </a:r>
          </a:p>
        </p:txBody>
      </p:sp>
      <p:sp>
        <p:nvSpPr>
          <p:cNvPr id="88" name="shape">
            <a:extLst xmlns:a="http://schemas.openxmlformats.org/drawingml/2006/main">
              <a:ext uri="{FF2B5EF4-FFF2-40B4-BE49-F238E27FC236}">
                <a16:creationId xmlns:a16="http://schemas.microsoft.com/office/drawing/2014/main" id="{00DD02D9-780A-42F1-8FF8-CF9187D3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09950"/>
            <a:ext cx="1562100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A65B57DD-FF00-4528-A3CD-5A798F97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13525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All statuses  ▾</a:t>
            </a:r>
          </a:p>
        </p:txBody>
      </p:sp>
      <p:sp>
        <p:nvSpPr>
          <p:cNvPr id="90" name="text">
            <a:extLst xmlns:a="http://schemas.openxmlformats.org/drawingml/2006/main">
              <a:ext uri="{FF2B5EF4-FFF2-40B4-BE49-F238E27FC236}">
                <a16:creationId xmlns:a16="http://schemas.microsoft.com/office/drawing/2014/main" id="{E609EC8A-970D-4C89-B314-E2F67F8B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1666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⌕  Search student</a:t>
            </a:r>
          </a:p>
        </p:txBody>
      </p:sp>
      <p:sp>
        <p:nvSpPr>
          <p:cNvPr id="91" name="divider">
            <a:extLst xmlns:a="http://schemas.openxmlformats.org/drawingml/2006/main">
              <a:ext uri="{FF2B5EF4-FFF2-40B4-BE49-F238E27FC236}">
                <a16:creationId xmlns:a16="http://schemas.microsoft.com/office/drawing/2014/main" id="{ADDE183A-0FE9-4467-9701-C98C3C7E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909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99845B99-DF0B-455D-809C-696A47A9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147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STUDENT</a:t>
            </a:r>
          </a:p>
        </p:txBody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4DF00068-DA43-42DF-A057-0D4DE238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147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CLASS</a:t>
            </a:r>
          </a:p>
        </p:txBody>
      </p:sp>
      <p:sp>
        <p:nvSpPr>
          <p:cNvPr id="94" name="text">
            <a:extLst xmlns:a="http://schemas.openxmlformats.org/drawingml/2006/main">
              <a:ext uri="{FF2B5EF4-FFF2-40B4-BE49-F238E27FC236}">
                <a16:creationId xmlns:a16="http://schemas.microsoft.com/office/drawing/2014/main" id="{96F819FA-83F1-4F8A-A37C-88D88250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147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CHECK-IN</a:t>
            </a:r>
          </a:p>
        </p:txBody>
      </p:sp>
      <p:sp>
        <p:nvSpPr>
          <p:cNvPr id="95" name="divider">
            <a:extLst xmlns:a="http://schemas.openxmlformats.org/drawingml/2006/main">
              <a:ext uri="{FF2B5EF4-FFF2-40B4-BE49-F238E27FC236}">
                <a16:creationId xmlns:a16="http://schemas.microsoft.com/office/drawing/2014/main" id="{27CF75CC-2E71-4E65-ADF4-E2D903EA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719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BC83D52D-EE9C-4228-B08E-EC831F60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338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Aarav Sharma</a:t>
            </a:r>
          </a:p>
        </p:txBody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C06AEA0F-1E98-49D4-8A28-4F57D762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338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8A</a:t>
            </a:r>
          </a:p>
        </p:txBody>
      </p:sp>
      <p:sp>
        <p:nvSpPr>
          <p:cNvPr id="98" name="text">
            <a:extLst xmlns:a="http://schemas.openxmlformats.org/drawingml/2006/main">
              <a:ext uri="{FF2B5EF4-FFF2-40B4-BE49-F238E27FC236}">
                <a16:creationId xmlns:a16="http://schemas.microsoft.com/office/drawing/2014/main" id="{1D92B663-46C5-446A-A98E-1257543B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338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08:12 AM</a:t>
            </a:r>
          </a:p>
        </p:txBody>
      </p:sp>
      <p:sp>
        <p:nvSpPr>
          <p:cNvPr id="99" name="status">
            <a:extLst xmlns:a="http://schemas.openxmlformats.org/drawingml/2006/main">
              <a:ext uri="{FF2B5EF4-FFF2-40B4-BE49-F238E27FC236}">
                <a16:creationId xmlns:a16="http://schemas.microsoft.com/office/drawing/2014/main" id="{6C7C0367-E5A5-4BFC-8A05-DDF95A1B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29577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text">
            <a:extLst xmlns:a="http://schemas.openxmlformats.org/drawingml/2006/main">
              <a:ext uri="{FF2B5EF4-FFF2-40B4-BE49-F238E27FC236}">
                <a16:creationId xmlns:a16="http://schemas.microsoft.com/office/drawing/2014/main" id="{13867DC6-E328-4C59-AB4B-7D4B5A65A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33387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101" name="divider">
            <a:extLst xmlns:a="http://schemas.openxmlformats.org/drawingml/2006/main">
              <a:ext uri="{FF2B5EF4-FFF2-40B4-BE49-F238E27FC236}">
                <a16:creationId xmlns:a16="http://schemas.microsoft.com/office/drawing/2014/main" id="{4D3F44F1-6005-45C8-82F7-8B15C3EA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4C0B354A-D45F-4E5A-9BA6-04C44F54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529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Diya Nair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3782EB04-62F3-4B20-9306-6A5663AB3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529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8A</a:t>
            </a:r>
          </a:p>
        </p:txBody>
      </p:sp>
      <p:sp>
        <p:nvSpPr>
          <p:cNvPr id="104" name="text">
            <a:extLst xmlns:a="http://schemas.openxmlformats.org/drawingml/2006/main">
              <a:ext uri="{FF2B5EF4-FFF2-40B4-BE49-F238E27FC236}">
                <a16:creationId xmlns:a16="http://schemas.microsoft.com/office/drawing/2014/main" id="{A722E0EC-1DE9-4E46-B9B6-1105714DB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529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08:31 AM</a:t>
            </a:r>
          </a:p>
        </p:txBody>
      </p:sp>
      <p:sp>
        <p:nvSpPr>
          <p:cNvPr id="105" name="status">
            <a:extLst xmlns:a="http://schemas.openxmlformats.org/drawingml/2006/main">
              <a:ext uri="{FF2B5EF4-FFF2-40B4-BE49-F238E27FC236}">
                <a16:creationId xmlns:a16="http://schemas.microsoft.com/office/drawing/2014/main" id="{3B7A1E78-0189-4FE3-A199-73BC7C27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1487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F0B46D16-0C0B-426C-87D8-7A3E84C6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475297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Late</a:t>
            </a:r>
          </a:p>
        </p:txBody>
      </p:sp>
      <p:sp>
        <p:nvSpPr>
          <p:cNvPr id="107" name="divider">
            <a:extLst xmlns:a="http://schemas.openxmlformats.org/drawingml/2006/main">
              <a:ext uri="{FF2B5EF4-FFF2-40B4-BE49-F238E27FC236}">
                <a16:creationId xmlns:a16="http://schemas.microsoft.com/office/drawing/2014/main" id="{94FE26DC-91A0-43D4-B766-17CDDE0F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387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68DEF3C7-A3B2-470D-B941-BE6E93BC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Rohan Kapoor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C4E6AEB6-2F11-4958-AC09-A80EAA76F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720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7B</a:t>
            </a:r>
          </a:p>
        </p:txBody>
      </p:sp>
      <p:sp>
        <p:nvSpPr>
          <p:cNvPr id="110" name="text">
            <a:extLst xmlns:a="http://schemas.openxmlformats.org/drawingml/2006/main">
              <a:ext uri="{FF2B5EF4-FFF2-40B4-BE49-F238E27FC236}">
                <a16:creationId xmlns:a16="http://schemas.microsoft.com/office/drawing/2014/main" id="{1382EA42-7A49-442D-98C4-BC012F92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720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—</a:t>
            </a:r>
          </a:p>
        </p:txBody>
      </p:sp>
      <p:sp>
        <p:nvSpPr>
          <p:cNvPr id="111" name="status">
            <a:extLst xmlns:a="http://schemas.openxmlformats.org/drawingml/2006/main">
              <a:ext uri="{FF2B5EF4-FFF2-40B4-BE49-F238E27FC236}">
                <a16:creationId xmlns:a16="http://schemas.microsoft.com/office/drawing/2014/main" id="{4080A26B-F9C0-46DE-80AD-1661A8CD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3397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8E9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text">
            <a:extLst xmlns:a="http://schemas.openxmlformats.org/drawingml/2006/main">
              <a:ext uri="{FF2B5EF4-FFF2-40B4-BE49-F238E27FC236}">
                <a16:creationId xmlns:a16="http://schemas.microsoft.com/office/drawing/2014/main" id="{D96DF2BB-B24C-43BA-B15A-A18C3F2A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17207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7564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75645"/>
                </a:solidFill>
                <a:latin typeface="Arial"/>
                <a:ea typeface="Arial"/>
                <a:cs typeface="Arial"/>
              </a:rPr>
              <a:t>Absent</a:t>
            </a:r>
          </a:p>
        </p:txBody>
      </p:sp>
      <p:sp>
        <p:nvSpPr>
          <p:cNvPr id="113" name="divider">
            <a:extLst xmlns:a="http://schemas.openxmlformats.org/drawingml/2006/main">
              <a:ext uri="{FF2B5EF4-FFF2-40B4-BE49-F238E27FC236}">
                <a16:creationId xmlns:a16="http://schemas.microsoft.com/office/drawing/2014/main" id="{19D8437B-D65B-486E-8DB1-F218F8E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578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7066A814-53DB-429F-A9FA-966149F1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911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Maya Iyer</a:t>
            </a:r>
          </a:p>
        </p:txBody>
      </p:sp>
      <p:sp>
        <p:nvSpPr>
          <p:cNvPr id="115" name="text">
            <a:extLst xmlns:a="http://schemas.openxmlformats.org/drawingml/2006/main">
              <a:ext uri="{FF2B5EF4-FFF2-40B4-BE49-F238E27FC236}">
                <a16:creationId xmlns:a16="http://schemas.microsoft.com/office/drawing/2014/main" id="{81EF99EC-828A-47EC-A13C-6B95DB7F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5911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5A</a:t>
            </a:r>
          </a:p>
        </p:txBody>
      </p:sp>
      <p:sp>
        <p:nvSpPr>
          <p:cNvPr id="116" name="text">
            <a:extLst xmlns:a="http://schemas.openxmlformats.org/drawingml/2006/main">
              <a:ext uri="{FF2B5EF4-FFF2-40B4-BE49-F238E27FC236}">
                <a16:creationId xmlns:a16="http://schemas.microsoft.com/office/drawing/2014/main" id="{80A9687D-8975-408B-9629-32522136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5911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08:05 AM</a:t>
            </a:r>
          </a:p>
        </p:txBody>
      </p:sp>
      <p:sp>
        <p:nvSpPr>
          <p:cNvPr id="117" name="status">
            <a:extLst xmlns:a="http://schemas.openxmlformats.org/drawingml/2006/main">
              <a:ext uri="{FF2B5EF4-FFF2-40B4-BE49-F238E27FC236}">
                <a16:creationId xmlns:a16="http://schemas.microsoft.com/office/drawing/2014/main" id="{F518FFB7-47FA-47FD-9691-F9261A9F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5307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ext">
            <a:extLst xmlns:a="http://schemas.openxmlformats.org/drawingml/2006/main">
              <a:ext uri="{FF2B5EF4-FFF2-40B4-BE49-F238E27FC236}">
                <a16:creationId xmlns:a16="http://schemas.microsoft.com/office/drawing/2014/main" id="{40A7AC38-166C-4ACF-B682-F02588DB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59117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119" name="divider">
            <a:extLst xmlns:a="http://schemas.openxmlformats.org/drawingml/2006/main">
              <a:ext uri="{FF2B5EF4-FFF2-40B4-BE49-F238E27FC236}">
                <a16:creationId xmlns:a16="http://schemas.microsoft.com/office/drawing/2014/main" id="{6948717B-0FBB-45A6-8621-295A03AB6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769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ext">
            <a:extLst xmlns:a="http://schemas.openxmlformats.org/drawingml/2006/main">
              <a:ext uri="{FF2B5EF4-FFF2-40B4-BE49-F238E27FC236}">
                <a16:creationId xmlns:a16="http://schemas.microsoft.com/office/drawing/2014/main" id="{841A6061-A241-4059-8C4E-612EABDF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10275"/>
            <a:ext cx="2171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Tara Shah</a:t>
            </a:r>
          </a:p>
        </p:txBody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F2FE91C1-B397-4519-87E9-F2A1A377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010275"/>
            <a:ext cx="1314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5B</a:t>
            </a:r>
          </a:p>
        </p:txBody>
      </p:sp>
      <p:sp>
        <p:nvSpPr>
          <p:cNvPr id="122" name="text">
            <a:extLst xmlns:a="http://schemas.openxmlformats.org/drawingml/2006/main">
              <a:ext uri="{FF2B5EF4-FFF2-40B4-BE49-F238E27FC236}">
                <a16:creationId xmlns:a16="http://schemas.microsoft.com/office/drawing/2014/main" id="{E54E918A-9C1C-4A33-B0DB-05D5C871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10275"/>
            <a:ext cx="12954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08:17 AM</a:t>
            </a:r>
          </a:p>
        </p:txBody>
      </p:sp>
      <p:sp>
        <p:nvSpPr>
          <p:cNvPr id="123" name="status">
            <a:extLst xmlns:a="http://schemas.openxmlformats.org/drawingml/2006/main">
              <a:ext uri="{FF2B5EF4-FFF2-40B4-BE49-F238E27FC236}">
                <a16:creationId xmlns:a16="http://schemas.microsoft.com/office/drawing/2014/main" id="{E322446F-00EB-43F8-AE18-8FD329F3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97217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ext">
            <a:extLst xmlns:a="http://schemas.openxmlformats.org/drawingml/2006/main">
              <a:ext uri="{FF2B5EF4-FFF2-40B4-BE49-F238E27FC236}">
                <a16:creationId xmlns:a16="http://schemas.microsoft.com/office/drawing/2014/main" id="{9784CA69-1DE1-4F0B-B01B-BBDC71E32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601027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Present</a:t>
            </a:r>
          </a:p>
        </p:txBody>
      </p:sp>
      <p:sp>
        <p:nvSpPr>
          <p:cNvPr id="125" name="divider">
            <a:extLst xmlns:a="http://schemas.openxmlformats.org/drawingml/2006/main">
              <a:ext uri="{FF2B5EF4-FFF2-40B4-BE49-F238E27FC236}">
                <a16:creationId xmlns:a16="http://schemas.microsoft.com/office/drawing/2014/main" id="{68C234DC-BFFE-4DEF-BEE3-22DC6DFD7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960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67809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text">
            <a:extLst xmlns:a="http://schemas.openxmlformats.org/drawingml/2006/main">
              <a:ext uri="{FF2B5EF4-FFF2-40B4-BE49-F238E27FC236}">
                <a16:creationId xmlns:a16="http://schemas.microsoft.com/office/drawing/2014/main" id="{3DE7C83C-34F8-43B5-A9DB-6676107CD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B055954-738F-45B7-8D28-586404FA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04  Academics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8C35D91E-39E0-4072-A40B-779B5B49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Keep curriculum, class schedules and student progress in one place.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2C40F4-CC19-4274-9559-8AE2BD56B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04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04FA73FF-714D-4D27-993D-EA1736A01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4F1276EC-A58B-4B86-ACEB-53DF6EB42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C483BF18-BF9F-4DAC-99E6-AC419A99F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5EF97F88-3769-4035-A739-8485DF93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7E90DBD7-AABD-4B52-8083-B08D5DEB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9EDB4F26-FD74-489D-A36F-EA90FC4F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A17C8548-3AEC-401C-824F-8F07D5F7D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3F954F-7F55-4F00-90CB-318B089C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63D4E290-43D3-4CC6-96DF-FAC442CD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FF1A2B6D-1391-463E-9208-3D668B1D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841E5C7-69F6-4BE6-893B-676CD6B0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68C6AF29-FEB7-439C-81D7-A1F3004E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C5486FD5-9280-4E16-A44A-20E1988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5C97A902-7314-4274-8FC1-4AA94845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2A441F-2EF1-4CEA-AD65-22B868F5A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D82469A-3FE9-4820-9818-A95C194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active-nav">
            <a:extLst xmlns:a="http://schemas.openxmlformats.org/drawingml/2006/main">
              <a:ext uri="{FF2B5EF4-FFF2-40B4-BE49-F238E27FC236}">
                <a16:creationId xmlns:a16="http://schemas.microsoft.com/office/drawing/2014/main" id="{D52B20C9-13B9-4A0F-92C0-889EF2EF6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E042FA90-ECFC-48E7-83F8-E92ED580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588E4FDF-6576-49F6-8190-E99156FE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1A99F63-8837-4E5D-B268-E3FC3ED8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83F0FA5C-23D0-49B9-BD46-964A6635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D57AD0BA-7E32-42BD-ADE2-422FA402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26791CE-71B5-4AD4-B743-F0BFFC616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16DB564-A948-46A1-B6C8-0411CDE8C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E43A142C-4E8B-413B-89ED-925230DF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ECD41FB6-FFB8-40EB-86A8-2523CD66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C96695F-7BEA-4617-8363-7F0A672D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32C06EF7-6CB3-4FD0-B4C4-D5D8FC37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DCD8E58D-95C7-4870-80FF-611CAE2B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E5A7E71-4CD9-4D46-BB9E-FF0C9898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BACA4B2B-DFFB-47D1-8683-F3AAFE0D6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B2ACA1EA-6FB6-4F3E-9715-4E6FFF4B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7A3FF4DF-407D-46A3-9589-D22D981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67C19CC9-F01D-4185-B721-075D17D4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6DDCFF76-EC2C-41AF-892D-48858F53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34C3FC08-9FB4-4FCF-BECE-D6804454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67453E1C-850D-46E8-9AB4-15566BDD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7FA00099-322C-4A09-BCEB-55FA96AC0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738AF4C2-F0CB-44B8-A529-366AE1E5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EE4ECE3-6E17-4324-B544-A559D03D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AB02CE02-5995-4B1F-9539-992B81647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EFD6463A-EE6D-45A2-A8C0-B99A7419A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C4E92723-21F0-499D-84A3-4F4ED92E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ED49E2AE-8A4F-486C-9A80-C9C73338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117DDB0A-BBDB-45A4-A586-E89C98E7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B72862F2-3670-40C7-8307-E439257B9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8A8230D8-414D-4847-B522-B9DB422D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F39F6D91-CB1B-4CAB-A66A-97647E7F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0C95B535-6319-4428-90FE-5AB67CCAA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8AD40DA6-0AB4-405B-B0F5-88963C25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TEACHING &amp; LEARNING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13EE6972-BA5C-4B6C-9825-1DE76836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CF104E91-9DC4-4E06-A846-02438977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Curriculum, classes and learning progress.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C2F54A4E-5C9F-49A7-939B-09E0E865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2FEB9657-7BB0-4F27-A9CE-9CA459C3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Add assignment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487B5C20-4292-46C1-B31D-2E09756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0AE95B8C-E5C5-4C9B-AF4A-D06E09D3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F0B8A090-3F7B-49D8-9573-0C356E01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9ACEA491-196E-4643-B87E-B1AFD5D1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Active classes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96054174-52F5-40DC-953D-1B484EBB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711BFEAA-7B8B-4871-8B29-71C7CF15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6 grades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0ABC5123-B008-487B-A8F0-998A8829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56EF6E5F-805D-4847-BD91-C5F02562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806B10FB-6250-4D97-B1B2-84C3189C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335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C06CF09E-E13B-4F5F-9D76-86FFF0A1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Assignments due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F3113B85-4FB3-4B18-8816-76342BC6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4E2F8A0D-E988-4BC9-B074-A23BC3BEC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This week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E42B0E6-E2A3-4990-AC3E-D08DE279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CF04513F-C7E4-45C4-AC60-F3B12CE88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40BE5FE2-0163-4A91-A7A3-C7DC9357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62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↗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ED0109EA-EE67-4EF1-9DFD-5762CD6B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Class average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A50FE543-18FF-4ADC-B2EB-B1779CAB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86%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FFECCE5F-5ED6-4B11-85DB-E88A490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this term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65D8C209-69E3-4398-9309-B5C5D4E6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3F34961C-2888-4D92-AD56-FC8645C29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D066B41E-CEF4-4468-BE14-19E245DE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076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0A8CB68E-68E8-431C-BFE5-21E3D4E6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Learning plans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CBBF3236-AF6A-44CD-B7CD-4132708E5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BCB1B783-2753-49C0-A60C-A323C7A5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Need review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A3BD24F5-4565-4A03-9D7D-9A229670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540067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BC738BD0-DF9B-4543-8009-90C4B6F5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5133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Class performance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C62A50FB-4A6C-45B1-A770-94E2649FD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5133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Average progress by grade</a:t>
            </a:r>
          </a:p>
        </p:txBody>
      </p:sp>
      <p:sp>
        <p:nvSpPr>
          <p:cNvPr id="86" name="text">
            <a:extLst xmlns:a="http://schemas.openxmlformats.org/drawingml/2006/main">
              <a:ext uri="{FF2B5EF4-FFF2-40B4-BE49-F238E27FC236}">
                <a16:creationId xmlns:a16="http://schemas.microsoft.com/office/drawing/2014/main" id="{ECEDD54C-8CA0-4486-96F0-DAD19771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76625"/>
            <a:ext cx="7429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6</a:t>
            </a:r>
          </a:p>
        </p:txBody>
      </p:sp>
      <p:sp>
        <p:nvSpPr>
          <p:cNvPr id="87" name="shape">
            <a:extLst xmlns:a="http://schemas.openxmlformats.org/drawingml/2006/main">
              <a:ext uri="{FF2B5EF4-FFF2-40B4-BE49-F238E27FC236}">
                <a16:creationId xmlns:a16="http://schemas.microsoft.com/office/drawing/2014/main" id="{11CE280C-0B15-4D53-BE5E-AEB3F41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86150"/>
            <a:ext cx="3238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shape">
            <a:extLst xmlns:a="http://schemas.openxmlformats.org/drawingml/2006/main">
              <a:ext uri="{FF2B5EF4-FFF2-40B4-BE49-F238E27FC236}">
                <a16:creationId xmlns:a16="http://schemas.microsoft.com/office/drawing/2014/main" id="{754CCE15-D460-409D-B7F0-E4D24DF9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486150"/>
            <a:ext cx="284988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B9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F801D0D4-4300-4B7D-9B76-91B21D18A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476625"/>
            <a:ext cx="4572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88%</a:t>
            </a:r>
          </a:p>
        </p:txBody>
      </p:sp>
      <p:sp>
        <p:nvSpPr>
          <p:cNvPr id="90" name="text">
            <a:extLst xmlns:a="http://schemas.openxmlformats.org/drawingml/2006/main">
              <a:ext uri="{FF2B5EF4-FFF2-40B4-BE49-F238E27FC236}">
                <a16:creationId xmlns:a16="http://schemas.microsoft.com/office/drawing/2014/main" id="{A5B89A17-C8F2-4D3D-83B1-A332FF47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33825"/>
            <a:ext cx="7429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7</a:t>
            </a:r>
          </a:p>
        </p:txBody>
      </p:sp>
      <p:sp>
        <p:nvSpPr>
          <p:cNvPr id="91" name="shape">
            <a:extLst xmlns:a="http://schemas.openxmlformats.org/drawingml/2006/main">
              <a:ext uri="{FF2B5EF4-FFF2-40B4-BE49-F238E27FC236}">
                <a16:creationId xmlns:a16="http://schemas.microsoft.com/office/drawing/2014/main" id="{2E1FF6E3-F15A-470F-B3D8-BD04A1CC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3238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hape">
            <a:extLst xmlns:a="http://schemas.openxmlformats.org/drawingml/2006/main">
              <a:ext uri="{FF2B5EF4-FFF2-40B4-BE49-F238E27FC236}">
                <a16:creationId xmlns:a16="http://schemas.microsoft.com/office/drawing/2014/main" id="{8273039B-6C47-40F0-9AE4-35BA89E9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43350"/>
            <a:ext cx="246126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B9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558B9990-4795-457C-8DB4-1376E546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933825"/>
            <a:ext cx="4572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76%</a:t>
            </a:r>
          </a:p>
        </p:txBody>
      </p:sp>
      <p:sp>
        <p:nvSpPr>
          <p:cNvPr id="94" name="text">
            <a:extLst xmlns:a="http://schemas.openxmlformats.org/drawingml/2006/main">
              <a:ext uri="{FF2B5EF4-FFF2-40B4-BE49-F238E27FC236}">
                <a16:creationId xmlns:a16="http://schemas.microsoft.com/office/drawing/2014/main" id="{7DE15C47-317E-4152-9EB2-E9CB61BD7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91025"/>
            <a:ext cx="7429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8</a:t>
            </a:r>
          </a:p>
        </p:txBody>
      </p:sp>
      <p:sp>
        <p:nvSpPr>
          <p:cNvPr id="95" name="shape">
            <a:extLst xmlns:a="http://schemas.openxmlformats.org/drawingml/2006/main">
              <a:ext uri="{FF2B5EF4-FFF2-40B4-BE49-F238E27FC236}">
                <a16:creationId xmlns:a16="http://schemas.microsoft.com/office/drawing/2014/main" id="{3A195943-A8A9-480D-9F88-18614F05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3238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shape">
            <a:extLst xmlns:a="http://schemas.openxmlformats.org/drawingml/2006/main">
              <a:ext uri="{FF2B5EF4-FFF2-40B4-BE49-F238E27FC236}">
                <a16:creationId xmlns:a16="http://schemas.microsoft.com/office/drawing/2014/main" id="{A909DE14-6B49-4105-8EC4-2565E79AA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00550"/>
            <a:ext cx="297942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867B2EDD-84EE-4707-ADB9-37A2CA46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91025"/>
            <a:ext cx="4572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92%</a:t>
            </a:r>
          </a:p>
        </p:txBody>
      </p:sp>
      <p:sp>
        <p:nvSpPr>
          <p:cNvPr id="98" name="text">
            <a:extLst xmlns:a="http://schemas.openxmlformats.org/drawingml/2006/main">
              <a:ext uri="{FF2B5EF4-FFF2-40B4-BE49-F238E27FC236}">
                <a16:creationId xmlns:a16="http://schemas.microsoft.com/office/drawing/2014/main" id="{39E9E38C-67A1-4FF9-84FB-73C0A46A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48225"/>
            <a:ext cx="7429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9</a:t>
            </a:r>
          </a:p>
        </p:txBody>
      </p:sp>
      <p:sp>
        <p:nvSpPr>
          <p:cNvPr id="99" name="shape">
            <a:extLst xmlns:a="http://schemas.openxmlformats.org/drawingml/2006/main">
              <a:ext uri="{FF2B5EF4-FFF2-40B4-BE49-F238E27FC236}">
                <a16:creationId xmlns:a16="http://schemas.microsoft.com/office/drawing/2014/main" id="{09E5C080-DC99-4B41-85AA-0D3F165E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3238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shape">
            <a:extLst xmlns:a="http://schemas.openxmlformats.org/drawingml/2006/main">
              <a:ext uri="{FF2B5EF4-FFF2-40B4-BE49-F238E27FC236}">
                <a16:creationId xmlns:a16="http://schemas.microsoft.com/office/drawing/2014/main" id="{BDF5877E-0047-42D6-86CF-DF454123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857750"/>
            <a:ext cx="223456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B9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F2438213-D74A-4398-9478-14678576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848225"/>
            <a:ext cx="4572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69%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F96DFF8B-D89A-4647-B1E2-55BACD3A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05425"/>
            <a:ext cx="7429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10</a:t>
            </a:r>
          </a:p>
        </p:txBody>
      </p:sp>
      <p:sp>
        <p:nvSpPr>
          <p:cNvPr id="103" name="shape">
            <a:extLst xmlns:a="http://schemas.openxmlformats.org/drawingml/2006/main">
              <a:ext uri="{FF2B5EF4-FFF2-40B4-BE49-F238E27FC236}">
                <a16:creationId xmlns:a16="http://schemas.microsoft.com/office/drawing/2014/main" id="{11C51187-9B7F-4FCE-8F27-2729E8899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32385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shape">
            <a:extLst xmlns:a="http://schemas.openxmlformats.org/drawingml/2006/main">
              <a:ext uri="{FF2B5EF4-FFF2-40B4-BE49-F238E27FC236}">
                <a16:creationId xmlns:a16="http://schemas.microsoft.com/office/drawing/2014/main" id="{085A6E29-6061-4416-B2E6-02439012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14950"/>
            <a:ext cx="2687955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6B9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E89BDE6B-AE67-4A1E-A94C-D927D5E0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305425"/>
            <a:ext cx="4572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83%</a:t>
            </a:r>
          </a:p>
        </p:txBody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0AB835DE-25E7-45F3-BC99-8F0100BC9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772150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Based on current term assessment records</a:t>
            </a:r>
          </a:p>
        </p:txBody>
      </p:sp>
      <p:sp>
        <p:nvSpPr>
          <p:cNvPr id="107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8F89B16-7755-43AE-AB0D-30F1561C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38475"/>
            <a:ext cx="35147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D296C776-38A5-4AC2-B3D9-35D2CBFAE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Upcoming work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B223A41E-C8C3-4304-AEE0-2CED7C95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248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Assignments and due dates</a:t>
            </a:r>
          </a:p>
        </p:txBody>
      </p:sp>
      <p:sp>
        <p:nvSpPr>
          <p:cNvPr id="110" name="text">
            <a:extLst xmlns:a="http://schemas.openxmlformats.org/drawingml/2006/main">
              <a:ext uri="{FF2B5EF4-FFF2-40B4-BE49-F238E27FC236}">
                <a16:creationId xmlns:a16="http://schemas.microsoft.com/office/drawing/2014/main" id="{FF8F614C-53B8-4C2E-AC5D-1D3E9EA6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Grade 8A · Science</a:t>
            </a:r>
          </a:p>
        </p:txBody>
      </p:sp>
      <p:sp>
        <p:nvSpPr>
          <p:cNvPr id="111" name="text">
            <a:extLst xmlns:a="http://schemas.openxmlformats.org/drawingml/2006/main">
              <a:ext uri="{FF2B5EF4-FFF2-40B4-BE49-F238E27FC236}">
                <a16:creationId xmlns:a16="http://schemas.microsoft.com/office/drawing/2014/main" id="{5ADDE6FA-4E01-4A93-BB16-42ECCBA3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81400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Museum trip reflection</a:t>
            </a:r>
          </a:p>
        </p:txBody>
      </p:sp>
      <p:sp>
        <p:nvSpPr>
          <p:cNvPr id="112" name="status">
            <a:extLst xmlns:a="http://schemas.openxmlformats.org/drawingml/2006/main">
              <a:ext uri="{FF2B5EF4-FFF2-40B4-BE49-F238E27FC236}">
                <a16:creationId xmlns:a16="http://schemas.microsoft.com/office/drawing/2014/main" id="{BF596790-39AA-41C8-BF18-7AB46E0A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514725"/>
            <a:ext cx="6096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125FE4FB-D775-43A1-B051-DECEC27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552825"/>
            <a:ext cx="609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Oct 7</a:t>
            </a:r>
          </a:p>
        </p:txBody>
      </p:sp>
      <p:sp>
        <p:nvSpPr>
          <p:cNvPr id="114" name="divider">
            <a:extLst xmlns:a="http://schemas.openxmlformats.org/drawingml/2006/main">
              <a:ext uri="{FF2B5EF4-FFF2-40B4-BE49-F238E27FC236}">
                <a16:creationId xmlns:a16="http://schemas.microsoft.com/office/drawing/2014/main" id="{C8764B76-88A5-4E3C-B4EF-83D1C593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38575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">
            <a:extLst xmlns:a="http://schemas.openxmlformats.org/drawingml/2006/main">
              <a:ext uri="{FF2B5EF4-FFF2-40B4-BE49-F238E27FC236}">
                <a16:creationId xmlns:a16="http://schemas.microsoft.com/office/drawing/2014/main" id="{897F6A34-10F4-4251-BE29-2916A8C3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719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Grade 7B · Maths</a:t>
            </a:r>
          </a:p>
        </p:txBody>
      </p:sp>
      <p:sp>
        <p:nvSpPr>
          <p:cNvPr id="116" name="text">
            <a:extLst xmlns:a="http://schemas.openxmlformats.org/drawingml/2006/main">
              <a:ext uri="{FF2B5EF4-FFF2-40B4-BE49-F238E27FC236}">
                <a16:creationId xmlns:a16="http://schemas.microsoft.com/office/drawing/2014/main" id="{DB1CABC0-A53F-495A-9015-D16BA9CA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24325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Fractions practice</a:t>
            </a:r>
          </a:p>
        </p:txBody>
      </p:sp>
      <p:sp>
        <p:nvSpPr>
          <p:cNvPr id="117" name="status">
            <a:extLst xmlns:a="http://schemas.openxmlformats.org/drawingml/2006/main">
              <a:ext uri="{FF2B5EF4-FFF2-40B4-BE49-F238E27FC236}">
                <a16:creationId xmlns:a16="http://schemas.microsoft.com/office/drawing/2014/main" id="{4A944639-762E-4AD7-9AF1-5335C754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057650"/>
            <a:ext cx="6096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ext">
            <a:extLst xmlns:a="http://schemas.openxmlformats.org/drawingml/2006/main">
              <a:ext uri="{FF2B5EF4-FFF2-40B4-BE49-F238E27FC236}">
                <a16:creationId xmlns:a16="http://schemas.microsoft.com/office/drawing/2014/main" id="{83253C9F-C713-41B1-96AE-31C032DE3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095750"/>
            <a:ext cx="609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Oct 8</a:t>
            </a:r>
          </a:p>
        </p:txBody>
      </p:sp>
      <p:sp>
        <p:nvSpPr>
          <p:cNvPr id="119" name="divider">
            <a:extLst xmlns:a="http://schemas.openxmlformats.org/drawingml/2006/main">
              <a:ext uri="{FF2B5EF4-FFF2-40B4-BE49-F238E27FC236}">
                <a16:creationId xmlns:a16="http://schemas.microsoft.com/office/drawing/2014/main" id="{71982204-C10E-41CE-BFDB-5125F028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8150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ext">
            <a:extLst xmlns:a="http://schemas.openxmlformats.org/drawingml/2006/main">
              <a:ext uri="{FF2B5EF4-FFF2-40B4-BE49-F238E27FC236}">
                <a16:creationId xmlns:a16="http://schemas.microsoft.com/office/drawing/2014/main" id="{961A2F1A-7AD4-4926-AF8D-FC4BCEB8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1485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Grade 6C · English</a:t>
            </a:r>
          </a:p>
        </p:txBody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B727323E-D6D2-4A58-80F6-4C9B5BF4F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Reading response</a:t>
            </a:r>
          </a:p>
        </p:txBody>
      </p:sp>
      <p:sp>
        <p:nvSpPr>
          <p:cNvPr id="122" name="status">
            <a:extLst xmlns:a="http://schemas.openxmlformats.org/drawingml/2006/main">
              <a:ext uri="{FF2B5EF4-FFF2-40B4-BE49-F238E27FC236}">
                <a16:creationId xmlns:a16="http://schemas.microsoft.com/office/drawing/2014/main" id="{3D20D0A0-5F85-4576-8DF1-85E1B8B7D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600575"/>
            <a:ext cx="6096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">
            <a:extLst xmlns:a="http://schemas.openxmlformats.org/drawingml/2006/main">
              <a:ext uri="{FF2B5EF4-FFF2-40B4-BE49-F238E27FC236}">
                <a16:creationId xmlns:a16="http://schemas.microsoft.com/office/drawing/2014/main" id="{BD7B9CF6-C439-42C7-93EC-E73FBD207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4638675"/>
            <a:ext cx="609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Oct 9</a:t>
            </a:r>
          </a:p>
        </p:txBody>
      </p:sp>
      <p:sp>
        <p:nvSpPr>
          <p:cNvPr id="124" name="divider">
            <a:extLst xmlns:a="http://schemas.openxmlformats.org/drawingml/2006/main">
              <a:ext uri="{FF2B5EF4-FFF2-40B4-BE49-F238E27FC236}">
                <a16:creationId xmlns:a16="http://schemas.microsoft.com/office/drawing/2014/main" id="{57DAE86F-234D-4038-8C59-09353F3B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924425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ext">
            <a:extLst xmlns:a="http://schemas.openxmlformats.org/drawingml/2006/main">
              <a:ext uri="{FF2B5EF4-FFF2-40B4-BE49-F238E27FC236}">
                <a16:creationId xmlns:a16="http://schemas.microsoft.com/office/drawing/2014/main" id="{1EAE533A-B8E9-4449-95C8-88D8A800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5777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Grade 9A · History</a:t>
            </a:r>
          </a:p>
        </p:txBody>
      </p:sp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20B65EF1-BAC2-494E-9359-1E03B316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0175"/>
            <a:ext cx="2095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Source analysis</a:t>
            </a:r>
          </a:p>
        </p:txBody>
      </p:sp>
      <p:sp>
        <p:nvSpPr>
          <p:cNvPr id="127" name="status">
            <a:extLst xmlns:a="http://schemas.openxmlformats.org/drawingml/2006/main">
              <a:ext uri="{FF2B5EF4-FFF2-40B4-BE49-F238E27FC236}">
                <a16:creationId xmlns:a16="http://schemas.microsoft.com/office/drawing/2014/main" id="{5F068B78-2BCA-4530-8121-F2CDC49A8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143500"/>
            <a:ext cx="6096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5D2959E4-62B0-4FCB-A8E6-BE3D8642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5181600"/>
            <a:ext cx="609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Oct 12</a:t>
            </a:r>
          </a:p>
        </p:txBody>
      </p:sp>
    </p:spTree>
    <p:extLst>
      <p:ext uri="{BB962C8B-B14F-4D97-AF65-F5344CB8AC3E}">
        <p14:creationId xmlns:p14="http://schemas.microsoft.com/office/powerpoint/2010/main" val="13378009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7" name="text">
            <a:extLst xmlns:a="http://schemas.openxmlformats.org/drawingml/2006/main">
              <a:ext uri="{FF2B5EF4-FFF2-40B4-BE49-F238E27FC236}">
                <a16:creationId xmlns:a16="http://schemas.microsoft.com/office/drawing/2014/main" id="{93ECDEE1-4784-47AA-BFC3-F3C33154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86CDE739-7ACA-48F7-81A7-90A334C2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05  People &amp; directory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3AAB8DE-A383-4E03-AA71-CD67ECA4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 role-aware directory for students, families, teachers and school teams.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6C958E0F-09A4-4F7C-A026-63E30AE3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05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A110518E-D25C-456F-BC7E-03DA8BFF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860CB1CE-85BA-495F-B5A2-55C64611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FDED068D-4275-4729-B7DB-D7421119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F109B544-C426-448B-AD93-B3FD864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97289677-E60F-483F-942F-ACA51A632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DB24BFC8-F74A-43B2-9A3A-6A8A066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7187AF5-38F7-411A-A4CD-3CFC8F775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D332395-A048-4676-A4B7-027B5E96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24DDE2CB-C047-4B58-AA04-904236D7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191DF9EC-2918-437D-B93A-BE2FC898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093868-9FF6-4C7E-89FD-9D6F27967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43769C8-737D-442C-8A46-B6548508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3322D63A-1D3E-4BA8-9FBA-07AB0249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49682000-A6CC-4142-9387-95197EFC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FE09FCE2-2700-4B8E-96D1-E53ABAFFB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7829F56-B58E-4254-8C29-9FB648BA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F5EEEA9D-AF70-4EBE-A243-D79E974D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36B1A410-CB35-4DE2-82F0-0A5CD120B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A45D634C-15FE-4474-819D-CE40A06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D19C1EAB-5929-4B68-B6F0-E0DB1AD7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active-nav">
            <a:extLst xmlns:a="http://schemas.openxmlformats.org/drawingml/2006/main">
              <a:ext uri="{FF2B5EF4-FFF2-40B4-BE49-F238E27FC236}">
                <a16:creationId xmlns:a16="http://schemas.microsoft.com/office/drawing/2014/main" id="{70AC9AFA-310B-47B8-BBD3-CA0540DD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194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F07D87BA-965C-42B6-A80D-22C420A3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0981DF44-7E1B-44AD-967F-864B988F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92FC731-5CB7-4744-8C14-FACF8498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6FFEE942-2155-4CC9-B38D-7B25EDFC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DBB93A29-6865-4DC3-BB0A-A59ED0D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130C9DE-A43F-4473-ACAA-3CB4224B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2A4477EB-AC35-449D-8DCD-5BFF2891B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7066A8EC-2187-4405-9A7D-04998F372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6FBACAB9-1D93-4CA7-B763-3206004E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E12653DB-D35A-4931-9852-586DE208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5171102C-562F-48A1-B9F8-939687CF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E0872CC-E20C-4AE8-90F3-73BE9563B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DD801E40-D216-42E1-B15C-06F7120A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73C54E7-0402-48F5-8B29-484C024E5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F423D115-AF1E-4FC5-8DC1-3A387FA3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814023A9-DA81-4C06-8096-AA1CEEB6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A9580884-AD53-49BB-8A7B-CD26982CF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A6F536E2-121C-4670-A539-6E11D55A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BCA9C734-8FE4-40BB-AC71-9833E1565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318AD681-74C6-4595-A090-894F73CC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E1475973-07B2-4D6C-B332-445EF61E8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57A27E57-9698-413D-B60B-ECB533DEE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116F4C93-DB03-4C6F-AF1B-221443076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AD9F0E21-D993-46B7-B3C7-EDAC295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60C840D9-CA6A-4949-AE73-4A663AE0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A4B0D033-1F1C-4C61-821A-36060AC0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B46DB014-7310-4243-B942-041E89451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50D90A34-393C-4CF9-A944-68833E89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E3C4E889-0AAB-4872-894C-644EEA4E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COMMUNITY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74B22773-151C-4536-969B-7C69FC06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2C58A543-3054-4BD8-ACF4-461D00FC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Find a person or group by name, class or role.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27CE5AD1-8F82-438F-A280-5D08B0BBF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D4C3BEC5-98D0-4D11-80CF-634AC613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Invite member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50F850E6-C774-4A56-A7E2-067FAC0B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4CABBE4E-6B01-41CF-B96B-578599C0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13BCA29F-805B-47D7-A9AC-ED78C9C4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4A6BC431-2F38-4D70-B395-5DE73C50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Students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65DFF68F-69EA-4820-8A3D-ACAC1A7E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1,284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E749CD7E-CFE8-4675-9A1B-A4D723A2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42 classes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D747B3CA-A7E7-46FD-974C-41F7095F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902FAA58-4802-4D95-B7B2-BBF7E5DA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74147FCD-1289-4E13-A487-227E6C80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4504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80467BD5-A061-4BA0-A0CC-0A179EF7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Teachers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CBF32649-750A-4DFC-8E7E-B576B674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86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7F5B8FE5-BC69-4C8F-8A55-A330C433D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6 departments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F5D8978-1F60-4690-9CF4-F6066910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25D97C2C-E612-40BE-AA69-140F58D56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EF8CA13E-55F0-4AC0-A2A8-2A514C70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576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23A64687-0D7D-4A62-B41D-90EE77AE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Families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474E4C2E-9BE5-463A-954A-0619D930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1,036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34BD4FAC-45A8-4072-A071-856A221F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Verified accounts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2E8F720-4396-412E-8056-3CA4FD2B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06CB7773-63FD-4980-93AF-7F32BAE5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E1674DD6-549B-4B66-9AA8-028242679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62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3D3D34AB-BF48-47BC-AA16-5E837C8E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Staff requests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02BE142C-ADF6-4038-B5E5-CFD521CD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154C0989-8E57-463F-BE13-038A4632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Need action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61BC7A9F-9D86-423E-A504-58EE1F56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90392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0DD4DA82-DEBB-4F67-A0F6-8591974F6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87725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School directory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4693EA59-6C27-4C56-BD2E-DC52220E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87725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Contact people through their private school profile</a:t>
            </a:r>
          </a:p>
        </p:txBody>
      </p:sp>
      <p:sp>
        <p:nvSpPr>
          <p:cNvPr id="86" name="shape">
            <a:extLst xmlns:a="http://schemas.openxmlformats.org/drawingml/2006/main">
              <a:ext uri="{FF2B5EF4-FFF2-40B4-BE49-F238E27FC236}">
                <a16:creationId xmlns:a16="http://schemas.microsoft.com/office/drawing/2014/main" id="{96BEDAE1-1855-4CA9-BB7B-C0439F93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9950"/>
            <a:ext cx="2781300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9EACA51F-9554-44D8-9184-54D7833B5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486150"/>
            <a:ext cx="2524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⌕  Search name, class or role</a:t>
            </a:r>
          </a:p>
        </p:txBody>
      </p:sp>
      <p:sp>
        <p:nvSpPr>
          <p:cNvPr id="88" name="text">
            <a:extLst xmlns:a="http://schemas.openxmlformats.org/drawingml/2006/main">
              <a:ext uri="{FF2B5EF4-FFF2-40B4-BE49-F238E27FC236}">
                <a16:creationId xmlns:a16="http://schemas.microsoft.com/office/drawing/2014/main" id="{85E1C810-F6BB-4F0B-9459-1EAEB27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861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All roles  ▾</a:t>
            </a:r>
          </a:p>
        </p:txBody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126612E4-CF98-4787-A2D6-25F37BC1A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86150"/>
            <a:ext cx="952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  ▾</a:t>
            </a:r>
          </a:p>
        </p:txBody>
      </p:sp>
      <p:sp>
        <p:nvSpPr>
          <p:cNvPr id="90" name="divider">
            <a:extLst xmlns:a="http://schemas.openxmlformats.org/drawingml/2006/main">
              <a:ext uri="{FF2B5EF4-FFF2-40B4-BE49-F238E27FC236}">
                <a16:creationId xmlns:a16="http://schemas.microsoft.com/office/drawing/2014/main" id="{D5EBE653-7034-4829-9022-C1B9891B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100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77F7B9B6-C4A9-4159-AB40-EEADB61C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338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NAME</a:t>
            </a:r>
          </a:p>
        </p:txBody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9BA5EB9E-D698-4646-A4D8-730FD075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9338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CLASS / ROLE</a:t>
            </a:r>
          </a:p>
        </p:txBody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0F351128-A17E-4063-82B7-10D922E0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33825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PROFILE</a:t>
            </a:r>
          </a:p>
        </p:txBody>
      </p:sp>
      <p:sp>
        <p:nvSpPr>
          <p:cNvPr id="94" name="divider">
            <a:extLst xmlns:a="http://schemas.openxmlformats.org/drawingml/2006/main">
              <a:ext uri="{FF2B5EF4-FFF2-40B4-BE49-F238E27FC236}">
                <a16:creationId xmlns:a16="http://schemas.microsoft.com/office/drawing/2014/main" id="{C184379C-CD27-4277-ADE0-A0DDBB63A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005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FD069BC9-28D4-454A-991F-F78422A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3434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Aarav Sharma</a:t>
            </a:r>
          </a:p>
        </p:txBody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C5EE2FE8-2DF6-4987-A82D-63477993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3434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8A</a:t>
            </a:r>
          </a:p>
        </p:txBody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2E1C40A3-2AF4-4CBC-A885-786FBB00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343400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Student + family</a:t>
            </a:r>
          </a:p>
        </p:txBody>
      </p:sp>
      <p:sp>
        <p:nvSpPr>
          <p:cNvPr id="98" name="status">
            <a:extLst xmlns:a="http://schemas.openxmlformats.org/drawingml/2006/main">
              <a:ext uri="{FF2B5EF4-FFF2-40B4-BE49-F238E27FC236}">
                <a16:creationId xmlns:a16="http://schemas.microsoft.com/office/drawing/2014/main" id="{12EC4FA1-5954-4972-9C39-8F64E4CC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05300"/>
            <a:ext cx="6286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AA06B3E7-30B9-4812-90F6-59EC7CE5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343400"/>
            <a:ext cx="6286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00" name="divider">
            <a:extLst xmlns:a="http://schemas.openxmlformats.org/drawingml/2006/main">
              <a:ext uri="{FF2B5EF4-FFF2-40B4-BE49-F238E27FC236}">
                <a16:creationId xmlns:a16="http://schemas.microsoft.com/office/drawing/2014/main" id="{DCE32514-5DFC-4E5E-80FB-F58CC6B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196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DF3F2B7C-C45E-4926-BD9B-DB424BDC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5297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Diya Nair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216358CA-CC32-45BC-A6BD-9E31D3FFF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5297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8A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EB9D56D2-056C-4D3E-8E27-9BA6DA91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752975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Student + family</a:t>
            </a:r>
          </a:p>
        </p:txBody>
      </p:sp>
      <p:sp>
        <p:nvSpPr>
          <p:cNvPr id="104" name="status">
            <a:extLst xmlns:a="http://schemas.openxmlformats.org/drawingml/2006/main">
              <a:ext uri="{FF2B5EF4-FFF2-40B4-BE49-F238E27FC236}">
                <a16:creationId xmlns:a16="http://schemas.microsoft.com/office/drawing/2014/main" id="{741E52F8-97F8-43D3-A476-645BEF71C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14875"/>
            <a:ext cx="6286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2B69775A-8AF8-4215-A1C7-FB94D399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752975"/>
            <a:ext cx="6286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06" name="divider">
            <a:extLst xmlns:a="http://schemas.openxmlformats.org/drawingml/2006/main">
              <a:ext uri="{FF2B5EF4-FFF2-40B4-BE49-F238E27FC236}">
                <a16:creationId xmlns:a16="http://schemas.microsoft.com/office/drawing/2014/main" id="{EE870BDC-2D0A-46DA-8AFA-3B745585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292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FA247DDD-E386-4BCE-9C79-3035720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6255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Priya Nair</a:t>
            </a:r>
          </a:p>
        </p:txBody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C797FA6B-2BDC-4FC7-8614-A4D8F21F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6255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6C · Teacher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17047F18-E333-422D-BFD3-B76C4901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162550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Teaching staff</a:t>
            </a:r>
          </a:p>
        </p:txBody>
      </p:sp>
      <p:sp>
        <p:nvSpPr>
          <p:cNvPr id="110" name="status">
            <a:extLst xmlns:a="http://schemas.openxmlformats.org/drawingml/2006/main">
              <a:ext uri="{FF2B5EF4-FFF2-40B4-BE49-F238E27FC236}">
                <a16:creationId xmlns:a16="http://schemas.microsoft.com/office/drawing/2014/main" id="{4476386B-0324-4D39-87EF-8A55EA9F0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24450"/>
            <a:ext cx="6286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">
            <a:extLst xmlns:a="http://schemas.openxmlformats.org/drawingml/2006/main">
              <a:ext uri="{FF2B5EF4-FFF2-40B4-BE49-F238E27FC236}">
                <a16:creationId xmlns:a16="http://schemas.microsoft.com/office/drawing/2014/main" id="{EF5AB828-9C9D-4720-9D1B-29E64C50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162550"/>
            <a:ext cx="6286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12" name="divider">
            <a:extLst xmlns:a="http://schemas.openxmlformats.org/drawingml/2006/main">
              <a:ext uri="{FF2B5EF4-FFF2-40B4-BE49-F238E27FC236}">
                <a16:creationId xmlns:a16="http://schemas.microsoft.com/office/drawing/2014/main" id="{C58AEAF9-E86C-44BF-9C13-3CB5F415D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36DAA957-ED2A-49A8-AF15-BE4D93FE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572125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Kavita Rao</a:t>
            </a:r>
          </a:p>
        </p:txBody>
      </p:sp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9BE869D3-4435-4643-93E8-95560D29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572125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Parent · Grade 8A</a:t>
            </a:r>
          </a:p>
        </p:txBody>
      </p:sp>
      <p:sp>
        <p:nvSpPr>
          <p:cNvPr id="115" name="text">
            <a:extLst xmlns:a="http://schemas.openxmlformats.org/drawingml/2006/main">
              <a:ext uri="{FF2B5EF4-FFF2-40B4-BE49-F238E27FC236}">
                <a16:creationId xmlns:a16="http://schemas.microsoft.com/office/drawing/2014/main" id="{EF944E17-102D-40E5-BC1D-5BBC7457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572125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Family account</a:t>
            </a:r>
          </a:p>
        </p:txBody>
      </p:sp>
      <p:sp>
        <p:nvSpPr>
          <p:cNvPr id="116" name="status">
            <a:extLst xmlns:a="http://schemas.openxmlformats.org/drawingml/2006/main">
              <a:ext uri="{FF2B5EF4-FFF2-40B4-BE49-F238E27FC236}">
                <a16:creationId xmlns:a16="http://schemas.microsoft.com/office/drawing/2014/main" id="{CC70BC81-877F-49D5-8508-849B442B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534025"/>
            <a:ext cx="6286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ext">
            <a:extLst xmlns:a="http://schemas.openxmlformats.org/drawingml/2006/main">
              <a:ext uri="{FF2B5EF4-FFF2-40B4-BE49-F238E27FC236}">
                <a16:creationId xmlns:a16="http://schemas.microsoft.com/office/drawing/2014/main" id="{7882A46B-65CF-4FE4-A3BB-9AA8628E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572125"/>
            <a:ext cx="6286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18" name="divider">
            <a:extLst xmlns:a="http://schemas.openxmlformats.org/drawingml/2006/main">
              <a:ext uri="{FF2B5EF4-FFF2-40B4-BE49-F238E27FC236}">
                <a16:creationId xmlns:a16="http://schemas.microsoft.com/office/drawing/2014/main" id="{F2684860-8EF2-4CB0-B61C-A9F05D41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8483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">
            <a:extLst xmlns:a="http://schemas.openxmlformats.org/drawingml/2006/main">
              <a:ext uri="{FF2B5EF4-FFF2-40B4-BE49-F238E27FC236}">
                <a16:creationId xmlns:a16="http://schemas.microsoft.com/office/drawing/2014/main" id="{08BBA479-FF50-4873-98EB-65AA298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81700"/>
            <a:ext cx="1809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Arjun Rao</a:t>
            </a:r>
          </a:p>
        </p:txBody>
      </p:sp>
      <p:sp>
        <p:nvSpPr>
          <p:cNvPr id="120" name="text">
            <a:extLst xmlns:a="http://schemas.openxmlformats.org/drawingml/2006/main">
              <a:ext uri="{FF2B5EF4-FFF2-40B4-BE49-F238E27FC236}">
                <a16:creationId xmlns:a16="http://schemas.microsoft.com/office/drawing/2014/main" id="{093520B0-2233-4F17-9551-D58D948A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981700"/>
            <a:ext cx="2000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8A · Teacher</a:t>
            </a:r>
          </a:p>
        </p:txBody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2E3603E4-EC59-49E3-A373-0C6E89331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981700"/>
            <a:ext cx="17621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Teaching staff</a:t>
            </a:r>
          </a:p>
        </p:txBody>
      </p:sp>
      <p:sp>
        <p:nvSpPr>
          <p:cNvPr id="122" name="status">
            <a:extLst xmlns:a="http://schemas.openxmlformats.org/drawingml/2006/main">
              <a:ext uri="{FF2B5EF4-FFF2-40B4-BE49-F238E27FC236}">
                <a16:creationId xmlns:a16="http://schemas.microsoft.com/office/drawing/2014/main" id="{26F11910-9B75-43A8-945B-08851508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943600"/>
            <a:ext cx="6286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">
            <a:extLst xmlns:a="http://schemas.openxmlformats.org/drawingml/2006/main">
              <a:ext uri="{FF2B5EF4-FFF2-40B4-BE49-F238E27FC236}">
                <a16:creationId xmlns:a16="http://schemas.microsoft.com/office/drawing/2014/main" id="{08D5B057-3446-4200-A57E-D5DFCBA3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5981700"/>
            <a:ext cx="6286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124" name="divider">
            <a:extLst xmlns:a="http://schemas.openxmlformats.org/drawingml/2006/main">
              <a:ext uri="{FF2B5EF4-FFF2-40B4-BE49-F238E27FC236}">
                <a16:creationId xmlns:a16="http://schemas.microsoft.com/office/drawing/2014/main" id="{160BB423-25BF-4775-8E03-BAF6DD5E8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25792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shape">
            <a:extLst xmlns:a="http://schemas.openxmlformats.org/drawingml/2006/main">
              <a:ext uri="{FF2B5EF4-FFF2-40B4-BE49-F238E27FC236}">
                <a16:creationId xmlns:a16="http://schemas.microsoft.com/office/drawing/2014/main" id="{D50D758F-5392-4BB3-BC96-65BB0E5A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436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89D6F16C-E4DD-4159-8157-DF60C87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010275"/>
            <a:ext cx="8191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Phone numbers and personal email addresses are hidden from the directory.</a:t>
            </a:r>
          </a:p>
        </p:txBody>
      </p:sp>
    </p:spTree>
    <p:extLst>
      <p:ext uri="{BB962C8B-B14F-4D97-AF65-F5344CB8AC3E}">
        <p14:creationId xmlns:p14="http://schemas.microsoft.com/office/powerpoint/2010/main" val="12098847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5325C5FC-1932-4A39-AF75-96047700E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6FE5EB80-92D5-4C85-B57D-20D61DFF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06  Fees &amp; payments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F285D7E-1AEA-47FD-80EB-E94BDECB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Track collections and payment follow-ups while keeping family conversations private.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3BCF2D1-A63D-4FC3-A3EC-BF7FF8F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06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D183DE59-5DD0-434D-8D88-D645CEF7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998F7E42-6976-41A1-A59A-011EF8B4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9BD1B9BF-4E9B-49D3-9446-3F66B504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7E80B300-B883-40E6-9EAB-4D106FAB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8D3354C0-6907-4ECC-BB0A-99EBF97C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127314E6-A842-43D6-80C1-F88FE9C6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940C53-85F6-4C34-B209-AB6DDFA94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84006FE-365F-43A7-B93F-7C60D4E0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826EB5A8-E197-430B-B325-E2F45E21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6B1EE523-A3CC-4175-9A90-2B739D63C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448B8C-6302-48A9-A3E6-B087D10C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B36C7FCF-9FEA-4756-96D1-2A8354B6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70744F25-60F4-452B-A8E5-CCA09783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BDE3EC44-745D-432E-AF55-A5731C07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E1F63652-BC41-416A-994E-E0F05F7D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DAF14F4F-E3CB-42DE-970C-046B281C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EC4D3217-CC1F-45D3-92C3-0B0085E2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3AD4335-AE06-4243-B7FE-BEF4EAB2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96CB0783-E1C8-4AA7-9B6E-A49E7DABD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563ED112-C91E-43A1-AA88-C9E07FB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3B3C1460-D099-42D6-B567-B6CFA08B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29E05EE8-9B5B-43BC-9338-5D61D79A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active-nav">
            <a:extLst xmlns:a="http://schemas.openxmlformats.org/drawingml/2006/main">
              <a:ext uri="{FF2B5EF4-FFF2-40B4-BE49-F238E27FC236}">
                <a16:creationId xmlns:a16="http://schemas.microsoft.com/office/drawing/2014/main" id="{B46BA928-09B6-4F76-BA95-C0AADEEF5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40008A40-E8E7-4303-851B-3BD5F39AD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7F239B07-0619-493B-9B3C-ADE7BA4D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AD53FE3-175C-45FD-A9DB-74D3867A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122243E9-9370-4794-B7FD-42F5B35A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729F2E8A-E27E-4AFD-BD77-6B2E30A74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73BCDD6-F6DC-49E0-B07C-5611E42E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EAA7B896-B791-4FBF-91BC-A548922C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18A98CC-294D-41F6-9F86-001BA0FE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BEAFB744-5263-4EA0-A819-B72C44579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A0B95CA7-F713-419F-8F33-7CFDABE4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782089AF-9017-40F5-AB21-50EEEED5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FD15262-03EA-4424-82BF-2EC6F515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0E36F8A7-C6EA-4CFA-83F1-3D3CA448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68320833-E665-4A9D-B398-D74B1B77A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D16DD1D4-1DC6-47FC-8267-F5CAFD69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508B9FA0-6FEF-4B47-A2EB-C6074A8B8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648E57F5-88B0-46FB-84C9-E75247B5D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BCF75120-E913-4F96-A880-0D91CBEE1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8BEDF0CA-ADD1-45E1-9D1E-83BB7675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09376A6C-CD8D-4954-B2CC-88D3A81E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6EC2056F-514A-4933-8208-B91C17587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3EFCBDD6-1679-47FC-A32F-BC213B3BF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4ADF6E1C-8011-4C59-8AAC-BBDFAF118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360F3258-0C5F-4133-B82B-CF1DC6BB0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449BE4B2-FCB6-40CE-86CF-5C87A813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4B72F1BC-B9DA-4B4C-A62D-7CFB9041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614DA39C-B1EA-4534-8088-5F8B4A36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FINANCE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94275258-2947-4686-A911-90CB395AA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71BEA859-52FC-49FF-BFAF-EE20B101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Term 1 collections and recent family payments.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99E72855-9211-44B2-9DE4-483405E7C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62439C88-522A-404B-9A0A-BF34857D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Create invoice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92FBE548-2C73-4BCB-83A9-74E45387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4726F5A0-9A25-4D5C-8B63-A27C3FFB1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66BDFD63-4EF9-4E18-BC86-4E0D5B14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264F8E18-DCCE-4E30-8854-815343B9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Collected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6CFC2390-9C48-4BF4-ADB7-06D4345C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₹82.5L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87FA76A4-6FD7-4B34-A238-5CD5CB7F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82.5% of term total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D9F7691D-FD27-42C6-BE18-39296D707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FFDCC920-8A8B-415F-90FE-DD740A25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8B2903C5-40B4-429D-9AEE-AF59E293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4317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1F17E138-367F-4B0D-9FF3-39009C07A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Outstanding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9648FC0A-F294-414D-9E7B-A7F37DF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₹17.5L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BC06FBAA-97FC-417E-B0A4-997ED6E5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214 accounts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567868A8-C444-4366-B088-50739377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36D1D1B6-04D5-4C5F-B6F8-C5B8F355E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5617C9B4-1561-44A2-87DD-8242F3BB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076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CDE756FA-63BA-44F7-8E89-EEBBD763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Paid on time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67D13B9E-83CC-4992-A6C8-1FE9AD2F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91%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C41ECCA4-F1B6-40A2-8C72-5D16F566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This term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689C8F14-6C17-4770-89D6-260F8546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6DD4BDAE-EAE9-4821-A7A4-9DF82BC66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9F4F9FC0-25B0-4DDF-BD4F-73988403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7862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4DCF1FA4-77A7-4EB7-9C82-344980A1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Follow-ups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5C782FB6-0E89-4B7A-9611-CD4C893B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BC8FF464-CFF8-4F6B-8F73-77FF2BD4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Due this week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C14F526-DD53-4A1A-B9A5-3F8E9785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4171950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9EFEA504-40EF-41E4-8AD9-E1211690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3905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Collection progress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68A80715-1A55-4CEF-866C-CB30E1D2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3905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Term 1 fees by category</a:t>
            </a:r>
          </a:p>
        </p:txBody>
      </p:sp>
      <p:sp>
        <p:nvSpPr>
          <p:cNvPr id="86" name="text">
            <a:extLst xmlns:a="http://schemas.openxmlformats.org/drawingml/2006/main">
              <a:ext uri="{FF2B5EF4-FFF2-40B4-BE49-F238E27FC236}">
                <a16:creationId xmlns:a16="http://schemas.microsoft.com/office/drawing/2014/main" id="{04914A51-37AD-41F3-88F2-A5A7252A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05200"/>
            <a:ext cx="1905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Tuition</a:t>
            </a:r>
          </a:p>
        </p:txBody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A5946C85-6308-498F-AD91-D766AA70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05200"/>
            <a:ext cx="175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₹34.2L / ₹40.0L</a:t>
            </a:r>
          </a:p>
        </p:txBody>
      </p:sp>
      <p:sp>
        <p:nvSpPr>
          <p:cNvPr id="88" name="shape">
            <a:extLst xmlns:a="http://schemas.openxmlformats.org/drawingml/2006/main">
              <a:ext uri="{FF2B5EF4-FFF2-40B4-BE49-F238E27FC236}">
                <a16:creationId xmlns:a16="http://schemas.microsoft.com/office/drawing/2014/main" id="{8EE40B72-AA82-4F52-BFA3-13BC8DA5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43325"/>
            <a:ext cx="3790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shape">
            <a:extLst xmlns:a="http://schemas.openxmlformats.org/drawingml/2006/main">
              <a:ext uri="{FF2B5EF4-FFF2-40B4-BE49-F238E27FC236}">
                <a16:creationId xmlns:a16="http://schemas.microsoft.com/office/drawing/2014/main" id="{0732E63D-5F3A-48DD-9631-544F312A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43325"/>
            <a:ext cx="3260217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text">
            <a:extLst xmlns:a="http://schemas.openxmlformats.org/drawingml/2006/main">
              <a:ext uri="{FF2B5EF4-FFF2-40B4-BE49-F238E27FC236}">
                <a16:creationId xmlns:a16="http://schemas.microsoft.com/office/drawing/2014/main" id="{C8F57431-64D1-473D-B881-44C9654C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00525"/>
            <a:ext cx="1905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25165927-3C9E-4EB9-BC99-8B9BE814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00525"/>
            <a:ext cx="175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₹5.8L / ₹7.2L</a:t>
            </a:r>
          </a:p>
        </p:txBody>
      </p:sp>
      <p:sp>
        <p:nvSpPr>
          <p:cNvPr id="92" name="shape">
            <a:extLst xmlns:a="http://schemas.openxmlformats.org/drawingml/2006/main">
              <a:ext uri="{FF2B5EF4-FFF2-40B4-BE49-F238E27FC236}">
                <a16:creationId xmlns:a16="http://schemas.microsoft.com/office/drawing/2014/main" id="{99ADAC68-3A69-4F81-8A74-54CBBB93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790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shape">
            <a:extLst xmlns:a="http://schemas.openxmlformats.org/drawingml/2006/main">
              <a:ext uri="{FF2B5EF4-FFF2-40B4-BE49-F238E27FC236}">
                <a16:creationId xmlns:a16="http://schemas.microsoft.com/office/drawing/2014/main" id="{A42F3D49-6A89-4A72-A5A2-579EA4D7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38650"/>
            <a:ext cx="307067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0B9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text">
            <a:extLst xmlns:a="http://schemas.openxmlformats.org/drawingml/2006/main">
              <a:ext uri="{FF2B5EF4-FFF2-40B4-BE49-F238E27FC236}">
                <a16:creationId xmlns:a16="http://schemas.microsoft.com/office/drawing/2014/main" id="{51F7B566-FCE9-4E1F-8F5B-4CE95F27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95850"/>
            <a:ext cx="1905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Activities &amp; resources</a:t>
            </a:r>
          </a:p>
        </p:txBody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235F3302-3957-4470-92DB-E458A5BE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95850"/>
            <a:ext cx="1752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₹2.8L / ₹4.7L</a:t>
            </a:r>
          </a:p>
        </p:txBody>
      </p:sp>
      <p:sp>
        <p:nvSpPr>
          <p:cNvPr id="96" name="shape">
            <a:extLst xmlns:a="http://schemas.openxmlformats.org/drawingml/2006/main">
              <a:ext uri="{FF2B5EF4-FFF2-40B4-BE49-F238E27FC236}">
                <a16:creationId xmlns:a16="http://schemas.microsoft.com/office/drawing/2014/main" id="{AEDA7E83-07F0-471F-854E-BF79B7DD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37909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shape">
            <a:extLst xmlns:a="http://schemas.openxmlformats.org/drawingml/2006/main">
              <a:ext uri="{FF2B5EF4-FFF2-40B4-BE49-F238E27FC236}">
                <a16:creationId xmlns:a16="http://schemas.microsoft.com/office/drawing/2014/main" id="{F908D8C3-B532-48AE-B0DF-C2BAA74F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33975"/>
            <a:ext cx="227457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C46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shape">
            <a:extLst xmlns:a="http://schemas.openxmlformats.org/drawingml/2006/main">
              <a:ext uri="{FF2B5EF4-FFF2-40B4-BE49-F238E27FC236}">
                <a16:creationId xmlns:a16="http://schemas.microsoft.com/office/drawing/2014/main" id="{243B970D-D3F2-4329-B043-1FE37B97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95950"/>
            <a:ext cx="3790950" cy="276225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AF5B1D91-D4A1-40D1-A23A-79913E406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72150"/>
            <a:ext cx="3600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Payment details stay inside each family account</a:t>
            </a:r>
          </a:p>
        </p:txBody>
      </p:sp>
      <p:sp>
        <p:nvSpPr>
          <p:cNvPr id="10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BF3167ED-FC88-41B3-8246-7DE9751F3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38475"/>
            <a:ext cx="47339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2AE0EB79-8425-48F7-93A6-AC2D8CBF1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52775"/>
            <a:ext cx="44672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Recent payments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C83BC325-75DC-4C72-857A-F49FD3A3B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14700"/>
            <a:ext cx="4467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Private reminders for families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A9E830C3-7498-4993-B274-6AAF486E7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29000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Aarav Sharma</a:t>
            </a:r>
          </a:p>
        </p:txBody>
      </p:sp>
      <p:sp>
        <p:nvSpPr>
          <p:cNvPr id="104" name="text">
            <a:extLst xmlns:a="http://schemas.openxmlformats.org/drawingml/2006/main">
              <a:ext uri="{FF2B5EF4-FFF2-40B4-BE49-F238E27FC236}">
                <a16:creationId xmlns:a16="http://schemas.microsoft.com/office/drawing/2014/main" id="{F962A336-9227-407A-BD4A-4AE75875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9092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Tuition · Term 1</a:t>
            </a:r>
          </a:p>
        </p:txBody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23B5481C-C5D2-4840-BF8A-5597FAA7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8615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₹28,000</a:t>
            </a:r>
          </a:p>
        </p:txBody>
      </p:sp>
      <p:sp>
        <p:nvSpPr>
          <p:cNvPr id="106" name="status">
            <a:extLst xmlns:a="http://schemas.openxmlformats.org/drawingml/2006/main">
              <a:ext uri="{FF2B5EF4-FFF2-40B4-BE49-F238E27FC236}">
                <a16:creationId xmlns:a16="http://schemas.microsoft.com/office/drawing/2014/main" id="{95D55F06-6ECF-4075-A710-F884DBF44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57575"/>
            <a:ext cx="6858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205E2653-8A89-45D1-8C73-019183A6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4956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  <p:sp>
        <p:nvSpPr>
          <p:cNvPr id="108" name="divider">
            <a:extLst xmlns:a="http://schemas.openxmlformats.org/drawingml/2006/main">
              <a:ext uri="{FF2B5EF4-FFF2-40B4-BE49-F238E27FC236}">
                <a16:creationId xmlns:a16="http://schemas.microsoft.com/office/drawing/2014/main" id="{E5854B1B-FD37-4D88-BCC0-731811016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9525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A9749EC2-7FFA-45F6-9ED4-9B68C47B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33825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Meera Iyer</a:t>
            </a:r>
          </a:p>
        </p:txBody>
      </p:sp>
      <p:sp>
        <p:nvSpPr>
          <p:cNvPr id="110" name="text">
            <a:extLst xmlns:a="http://schemas.openxmlformats.org/drawingml/2006/main">
              <a:ext uri="{FF2B5EF4-FFF2-40B4-BE49-F238E27FC236}">
                <a16:creationId xmlns:a16="http://schemas.microsoft.com/office/drawing/2014/main" id="{591960D3-454B-49D6-AAFB-5317913C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Tuition · Term 1</a:t>
            </a:r>
          </a:p>
        </p:txBody>
      </p:sp>
      <p:sp>
        <p:nvSpPr>
          <p:cNvPr id="111" name="text">
            <a:extLst xmlns:a="http://schemas.openxmlformats.org/drawingml/2006/main">
              <a:ext uri="{FF2B5EF4-FFF2-40B4-BE49-F238E27FC236}">
                <a16:creationId xmlns:a16="http://schemas.microsoft.com/office/drawing/2014/main" id="{63206ED4-764F-422B-8F59-DE07ABEA0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90975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₹12,500</a:t>
            </a:r>
          </a:p>
        </p:txBody>
      </p:sp>
      <p:sp>
        <p:nvSpPr>
          <p:cNvPr id="112" name="status">
            <a:extLst xmlns:a="http://schemas.openxmlformats.org/drawingml/2006/main">
              <a:ext uri="{FF2B5EF4-FFF2-40B4-BE49-F238E27FC236}">
                <a16:creationId xmlns:a16="http://schemas.microsoft.com/office/drawing/2014/main" id="{59B2ABB1-4696-4CCD-912E-8C59AAD27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3962400"/>
            <a:ext cx="6858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277A7ECA-22F0-43F8-A117-D8FD0A8A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000500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14" name="divider">
            <a:extLst xmlns:a="http://schemas.openxmlformats.org/drawingml/2006/main">
              <a:ext uri="{FF2B5EF4-FFF2-40B4-BE49-F238E27FC236}">
                <a16:creationId xmlns:a16="http://schemas.microsoft.com/office/drawing/2014/main" id="{7D753D0E-2166-440F-931B-5A6F7122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text">
            <a:extLst xmlns:a="http://schemas.openxmlformats.org/drawingml/2006/main">
              <a:ext uri="{FF2B5EF4-FFF2-40B4-BE49-F238E27FC236}">
                <a16:creationId xmlns:a16="http://schemas.microsoft.com/office/drawing/2014/main" id="{79A550F4-B2E0-48D5-940B-7F04D500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38650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Rohan Kapoor</a:t>
            </a:r>
          </a:p>
        </p:txBody>
      </p:sp>
      <p:sp>
        <p:nvSpPr>
          <p:cNvPr id="116" name="text">
            <a:extLst xmlns:a="http://schemas.openxmlformats.org/drawingml/2006/main">
              <a:ext uri="{FF2B5EF4-FFF2-40B4-BE49-F238E27FC236}">
                <a16:creationId xmlns:a16="http://schemas.microsoft.com/office/drawing/2014/main" id="{EC2AE779-7704-4E88-B82A-F9A0D26F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00575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Transport · Term 1</a:t>
            </a:r>
          </a:p>
        </p:txBody>
      </p:sp>
      <p:sp>
        <p:nvSpPr>
          <p:cNvPr id="117" name="text">
            <a:extLst xmlns:a="http://schemas.openxmlformats.org/drawingml/2006/main">
              <a:ext uri="{FF2B5EF4-FFF2-40B4-BE49-F238E27FC236}">
                <a16:creationId xmlns:a16="http://schemas.microsoft.com/office/drawing/2014/main" id="{4870DAFB-B7F8-4E28-9859-BB69B724A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95800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₹4,200</a:t>
            </a:r>
          </a:p>
        </p:txBody>
      </p:sp>
      <p:sp>
        <p:nvSpPr>
          <p:cNvPr id="118" name="status">
            <a:extLst xmlns:a="http://schemas.openxmlformats.org/drawingml/2006/main">
              <a:ext uri="{FF2B5EF4-FFF2-40B4-BE49-F238E27FC236}">
                <a16:creationId xmlns:a16="http://schemas.microsoft.com/office/drawing/2014/main" id="{6D2C6237-1BC5-4A7F-A2D6-BEB8B801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467225"/>
            <a:ext cx="6858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text">
            <a:extLst xmlns:a="http://schemas.openxmlformats.org/drawingml/2006/main">
              <a:ext uri="{FF2B5EF4-FFF2-40B4-BE49-F238E27FC236}">
                <a16:creationId xmlns:a16="http://schemas.microsoft.com/office/drawing/2014/main" id="{9ABC85AF-3205-4201-9625-F328DEBC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50532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Pending</a:t>
            </a:r>
          </a:p>
        </p:txBody>
      </p:sp>
      <p:sp>
        <p:nvSpPr>
          <p:cNvPr id="120" name="divider">
            <a:extLst xmlns:a="http://schemas.openxmlformats.org/drawingml/2006/main">
              <a:ext uri="{FF2B5EF4-FFF2-40B4-BE49-F238E27FC236}">
                <a16:creationId xmlns:a16="http://schemas.microsoft.com/office/drawing/2014/main" id="{62F921A4-C9DF-4EF6-8D5C-CE7C98B0F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9175"/>
            <a:ext cx="4419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B2FFFE1B-CA50-474B-B060-2B850513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43475"/>
            <a:ext cx="1714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Kabir Patel</a:t>
            </a:r>
          </a:p>
        </p:txBody>
      </p:sp>
      <p:sp>
        <p:nvSpPr>
          <p:cNvPr id="122" name="text">
            <a:extLst xmlns:a="http://schemas.openxmlformats.org/drawingml/2006/main">
              <a:ext uri="{FF2B5EF4-FFF2-40B4-BE49-F238E27FC236}">
                <a16:creationId xmlns:a16="http://schemas.microsoft.com/office/drawing/2014/main" id="{E8ED8C02-0756-4E79-8DC0-12DEDBFE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05400"/>
            <a:ext cx="1714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Activities · Term 1</a:t>
            </a:r>
          </a:p>
        </p:txBody>
      </p:sp>
      <p:sp>
        <p:nvSpPr>
          <p:cNvPr id="123" name="text">
            <a:extLst xmlns:a="http://schemas.openxmlformats.org/drawingml/2006/main">
              <a:ext uri="{FF2B5EF4-FFF2-40B4-BE49-F238E27FC236}">
                <a16:creationId xmlns:a16="http://schemas.microsoft.com/office/drawing/2014/main" id="{604A7628-0D10-487D-A758-0BAF54E2F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000625"/>
            <a:ext cx="762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₹3,600</a:t>
            </a:r>
          </a:p>
        </p:txBody>
      </p:sp>
      <p:sp>
        <p:nvSpPr>
          <p:cNvPr id="124" name="status">
            <a:extLst xmlns:a="http://schemas.openxmlformats.org/drawingml/2006/main">
              <a:ext uri="{FF2B5EF4-FFF2-40B4-BE49-F238E27FC236}">
                <a16:creationId xmlns:a16="http://schemas.microsoft.com/office/drawing/2014/main" id="{CB6BA8A2-1E4B-4EDE-83B3-F1C08687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972050"/>
            <a:ext cx="6858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text">
            <a:extLst xmlns:a="http://schemas.openxmlformats.org/drawingml/2006/main">
              <a:ext uri="{FF2B5EF4-FFF2-40B4-BE49-F238E27FC236}">
                <a16:creationId xmlns:a16="http://schemas.microsoft.com/office/drawing/2014/main" id="{E134FA9A-13F4-4203-AAA0-F4D82D146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5010150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Paid</a:t>
            </a:r>
          </a:p>
        </p:txBody>
      </p:sp>
    </p:spTree>
    <p:extLst>
      <p:ext uri="{BB962C8B-B14F-4D97-AF65-F5344CB8AC3E}">
        <p14:creationId xmlns:p14="http://schemas.microsoft.com/office/powerpoint/2010/main" val="1793775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82138BCD-539D-4D40-8711-AB319D56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FAC02967-19BA-48A4-BC1F-A45AE9B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07  Transport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2DCC2F5-B210-4D60-908F-DCE428A2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See route status, bus assignments and family updates from one operations screen.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536E133E-728C-4CD8-B177-570282BE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07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56A2872F-A1AC-487F-B23D-3E7849D0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3C10B718-0E67-4B0D-9026-4445FB657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6DA913CF-2BC1-4DBF-871C-D21CAA48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0289C3C1-AC4A-4368-B708-C73DF4F9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0DE985E5-CF63-4B5F-9497-81C1816A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6CBBCB1A-4CC5-40D2-BB2E-926349CE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1B22D39-945E-4938-AE9C-83B674D1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8A8AC94-6B72-48EB-AFBE-62772DFF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E80FDA47-1138-4B99-8815-0F987795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883BFB3F-F797-4BA3-8B48-F7391EC1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5E6BEC5-1611-4CD2-9E03-665889F7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7F73B72-FDDC-4F56-A298-AA4CE242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8518ACED-2027-4C5C-85DB-A6757EC5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F282CC9-DD43-49B2-BFEA-5186E887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4FA4A5BC-C3EA-4180-9736-F25981CB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12DE06B-FD1E-44E3-B745-A3AD08E7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1024709D-4668-4992-BC7F-4632D46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1EEBDD50-675E-4ABF-8CE7-A2CB0521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72EB6553-2FB1-4CA3-AA6E-13323EE8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7BB568B0-BA7B-40BB-A914-A3877C85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2C577778-0E1E-43ED-9312-9C5E5A0B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C7FBA7D2-858E-429F-99E0-0F3407BA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C91C6088-AC90-47B4-BBD9-A818A34A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7B45D0E4-DAA6-4DA0-B4AF-B26904B6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29" name="active-nav">
            <a:extLst xmlns:a="http://schemas.openxmlformats.org/drawingml/2006/main">
              <a:ext uri="{FF2B5EF4-FFF2-40B4-BE49-F238E27FC236}">
                <a16:creationId xmlns:a16="http://schemas.microsoft.com/office/drawing/2014/main" id="{EC66B69E-E44D-4A3D-B041-8A34ECAF1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290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4EC1EEE-1C0C-49FB-90CE-44BFA0F5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937F0DD2-B3DD-4EAA-82E3-728C9C09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FF4E6EAA-905E-465E-8972-C198A64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8D8613E6-82C2-4A66-A747-5DD15D8F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534D924E-0F61-4D9C-A1BC-486A838C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1AF03665-2A05-4779-8341-6E9BA315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123CCCF3-F3FF-436D-A184-2B9D7599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15D5BD5A-B11A-4F95-AE9A-C363B9CEF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260B2317-1D54-4D4E-A078-70A340D9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ACF56DE9-B2EB-42B8-ADFA-D256810D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6EB967F7-2835-4573-A714-B12DAE9C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ED4A02F6-1354-430B-9397-82F14598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63081AD3-59C7-436A-91B7-EF43A7190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0C32F615-5EAB-4E49-9018-101F6B73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C725D0FA-E824-4AB4-8035-B4B54EBD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E84505CC-DBA5-4646-97A6-F0B167A7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35FA30F5-3384-4767-B884-ECDA898E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BC6BE079-E40D-4A02-A5F9-B738A56E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EE522A3B-B889-4DA7-8249-FBBDC2ED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041BFD8D-3A27-4A2A-98C4-49FFACEB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2A952FDC-5153-4A0C-A82E-86FB2C51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5FC68F2A-B482-45B1-8649-52A4109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9ED3BD4D-DA58-40AA-9426-A4E04CE3B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61F9A795-1DE7-4FBF-BCDE-12288DF1C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6556C138-89D7-4F8A-810E-5A968A71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OPERATIONS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00F7ED33-BC95-4F29-9E09-FDACD154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5C2578CC-F037-4677-915A-3892E1F0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Routes, vehicles and pickup updates.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24295069-DB77-4F44-A958-0106C5ED9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06EE0E51-38EA-45BD-B091-13EAC51F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Edit routes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C5801688-CFA8-452A-9F39-C59658A2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89A6E2C7-32E9-4154-9274-6598638BA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32417838-BCEA-4672-B8AD-F6AAD5A2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FDD4EA3A-931C-4F5D-9B8E-D1E26BF6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Buses active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ED44290A-2AAA-4DF0-A402-4A672482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E6806E8A-272F-47E6-81A8-47ABE494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All routes running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77FFED13-FCA2-43A6-BB26-5B74DAC5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D0047A29-732F-4822-BCDF-4E4EF0F9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20A2F355-A097-4C8E-91ED-E1866C82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4504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FCB42139-E0B2-4C49-AFF5-35078F6D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Students onboard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882B274F-047B-46CD-8D89-7E618B3D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312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C5907D70-514E-48AA-A94A-B1616D8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8 routes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55D11ED-9DEB-4BC1-B426-2ABDF711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B6B316C4-3B51-4384-9920-F31CF479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65896AF6-B80E-4D26-A6C0-22979F8A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0710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A9D68C45-F21A-4844-8EF9-692FCC889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Next arrival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A9098350-C036-42E3-A3EA-A2417C9D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6 min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7F3A4955-6896-455F-99C0-930624C9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Gate A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0BB8F31A-B880-48EF-A766-2D79913C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421C5D2A-C04A-4243-A3E2-79F5AD53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47F0A4ED-E08F-4F43-8729-A025286E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4504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61F24E77-A571-44B7-8882-AFBA23FC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Route changes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16C7EE55-6A8C-4334-8710-AB02D038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B5FD7862-2EBB-4A1E-8983-875CB2212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Need review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40A67371-438F-4C40-8C7D-8B4D1705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540067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B5045D79-C2B6-4553-B25A-40307704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5133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Live route overview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D11D3946-AEF9-4C29-BEF2-FFDAA59D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5133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Morning pickup · Monday, 5 October</a:t>
            </a:r>
          </a:p>
        </p:txBody>
      </p:sp>
      <p:sp>
        <p:nvSpPr>
          <p:cNvPr id="86" name="shape">
            <a:extLst xmlns:a="http://schemas.openxmlformats.org/drawingml/2006/main">
              <a:ext uri="{FF2B5EF4-FFF2-40B4-BE49-F238E27FC236}">
                <a16:creationId xmlns:a16="http://schemas.microsoft.com/office/drawing/2014/main" id="{C0C243C9-BE94-4007-BD62-5C7EF9EC1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00425"/>
            <a:ext cx="5057775" cy="2543175"/>
          </a:xfrm>
          <a:prstGeom xmlns:a="http://schemas.openxmlformats.org/drawingml/2006/main" prst="roundRect">
            <a:avLst>
              <a:gd name="adj" fmla="val 2996"/>
            </a:avLst>
          </a:prstGeom>
          <a:solidFill xmlns:a="http://schemas.openxmlformats.org/drawingml/2006/main">
            <a:srgbClr val="EEF4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shape">
            <a:extLst xmlns:a="http://schemas.openxmlformats.org/drawingml/2006/main">
              <a:ext uri="{FF2B5EF4-FFF2-40B4-BE49-F238E27FC236}">
                <a16:creationId xmlns:a16="http://schemas.microsoft.com/office/drawing/2014/main" id="{B867C325-44D2-43B1-8EF2-E902D3969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3629025"/>
            <a:ext cx="838200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shape">
            <a:extLst xmlns:a="http://schemas.openxmlformats.org/drawingml/2006/main">
              <a:ext uri="{FF2B5EF4-FFF2-40B4-BE49-F238E27FC236}">
                <a16:creationId xmlns:a16="http://schemas.microsoft.com/office/drawing/2014/main" id="{66A1EBFC-C61A-4B76-8564-01E13682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571875"/>
            <a:ext cx="11620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shape">
            <a:extLst xmlns:a="http://schemas.openxmlformats.org/drawingml/2006/main">
              <a:ext uri="{FF2B5EF4-FFF2-40B4-BE49-F238E27FC236}">
                <a16:creationId xmlns:a16="http://schemas.microsoft.com/office/drawing/2014/main" id="{103540A4-C595-4C57-8822-1FB8DFA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705225"/>
            <a:ext cx="176212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shape">
            <a:extLst xmlns:a="http://schemas.openxmlformats.org/drawingml/2006/main">
              <a:ext uri="{FF2B5EF4-FFF2-40B4-BE49-F238E27FC236}">
                <a16:creationId xmlns:a16="http://schemas.microsoft.com/office/drawing/2014/main" id="{2172510F-17C8-47A2-BC23-5D3171A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4686300"/>
            <a:ext cx="1171575" cy="828675"/>
          </a:xfrm>
          <a:prstGeom xmlns:a="http://schemas.openxmlformats.org/drawingml/2006/main" prst="roundRect">
            <a:avLst>
              <a:gd name="adj" fmla="val 11494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shape">
            <a:extLst xmlns:a="http://schemas.openxmlformats.org/drawingml/2006/main">
              <a:ext uri="{FF2B5EF4-FFF2-40B4-BE49-F238E27FC236}">
                <a16:creationId xmlns:a16="http://schemas.microsoft.com/office/drawing/2014/main" id="{50E19426-A7A9-42F6-BED1-6D18455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667250"/>
            <a:ext cx="885825" cy="895350"/>
          </a:xfrm>
          <a:prstGeom xmlns:a="http://schemas.openxmlformats.org/drawingml/2006/main" prst="roundRect">
            <a:avLst>
              <a:gd name="adj" fmla="val 10753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shape">
            <a:extLst xmlns:a="http://schemas.openxmlformats.org/drawingml/2006/main">
              <a:ext uri="{FF2B5EF4-FFF2-40B4-BE49-F238E27FC236}">
                <a16:creationId xmlns:a16="http://schemas.microsoft.com/office/drawing/2014/main" id="{3B339966-3BC2-4B9A-ABE7-05D377B2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72025"/>
            <a:ext cx="13049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3E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divider">
            <a:extLst xmlns:a="http://schemas.openxmlformats.org/drawingml/2006/main">
              <a:ext uri="{FF2B5EF4-FFF2-40B4-BE49-F238E27FC236}">
                <a16:creationId xmlns:a16="http://schemas.microsoft.com/office/drawing/2014/main" id="{9B1C8E1C-88E8-431D-A1F0-9B450324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4410075"/>
            <a:ext cx="48006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C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shape">
            <a:extLst xmlns:a="http://schemas.openxmlformats.org/drawingml/2006/main">
              <a:ext uri="{FF2B5EF4-FFF2-40B4-BE49-F238E27FC236}">
                <a16:creationId xmlns:a16="http://schemas.microsoft.com/office/drawing/2014/main" id="{4FDC1FF7-573F-4779-A674-6C0D3D5F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914775"/>
            <a:ext cx="85725" cy="13620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shape">
            <a:extLst xmlns:a="http://schemas.openxmlformats.org/drawingml/2006/main">
              <a:ext uri="{FF2B5EF4-FFF2-40B4-BE49-F238E27FC236}">
                <a16:creationId xmlns:a16="http://schemas.microsoft.com/office/drawing/2014/main" id="{84C33ED8-6A96-4D13-A4F1-A6C9C412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76725"/>
            <a:ext cx="241935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avatar">
            <a:extLst xmlns:a="http://schemas.openxmlformats.org/drawingml/2006/main">
              <a:ext uri="{FF2B5EF4-FFF2-40B4-BE49-F238E27FC236}">
                <a16:creationId xmlns:a16="http://schemas.microsoft.com/office/drawing/2014/main" id="{8362BF83-50B6-460F-A26D-69C49413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848100"/>
            <a:ext cx="238125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B2516CE2-0A5C-4643-ACFD-A21693299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914775"/>
            <a:ext cx="238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98" name="avatar">
            <a:extLst xmlns:a="http://schemas.openxmlformats.org/drawingml/2006/main">
              <a:ext uri="{FF2B5EF4-FFF2-40B4-BE49-F238E27FC236}">
                <a16:creationId xmlns:a16="http://schemas.microsoft.com/office/drawing/2014/main" id="{D66A5630-0CAD-4D0F-9B95-4A970B99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F69DE628-D80D-4C69-B832-DF1EBF44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38625"/>
            <a:ext cx="228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00" name="status">
            <a:extLst xmlns:a="http://schemas.openxmlformats.org/drawingml/2006/main">
              <a:ext uri="{FF2B5EF4-FFF2-40B4-BE49-F238E27FC236}">
                <a16:creationId xmlns:a16="http://schemas.microsoft.com/office/drawing/2014/main" id="{0F89AFF7-E58B-44C2-95A8-BC4209CE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76625"/>
            <a:ext cx="6477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489A4565-08EF-401E-9465-DCED5280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14725"/>
            <a:ext cx="647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Route 04</a:t>
            </a:r>
          </a:p>
        </p:txBody>
      </p:sp>
      <p:sp>
        <p:nvSpPr>
          <p:cNvPr id="102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C31CAFF9-9808-4D1F-870D-279417DC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38475"/>
            <a:ext cx="35147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6D1481AA-284C-44A3-88C2-3C8A59FA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Active buses</a:t>
            </a:r>
          </a:p>
        </p:txBody>
      </p:sp>
      <p:sp>
        <p:nvSpPr>
          <p:cNvPr id="104" name="text">
            <a:extLst xmlns:a="http://schemas.openxmlformats.org/drawingml/2006/main">
              <a:ext uri="{FF2B5EF4-FFF2-40B4-BE49-F238E27FC236}">
                <a16:creationId xmlns:a16="http://schemas.microsoft.com/office/drawing/2014/main" id="{4D3E7DE4-55DD-464C-8BF0-957E5A12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248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Vehicle status and driver</a:t>
            </a:r>
          </a:p>
        </p:txBody>
      </p:sp>
      <p:sp>
        <p:nvSpPr>
          <p:cNvPr id="105" name="avatar">
            <a:extLst xmlns:a="http://schemas.openxmlformats.org/drawingml/2006/main">
              <a:ext uri="{FF2B5EF4-FFF2-40B4-BE49-F238E27FC236}">
                <a16:creationId xmlns:a16="http://schemas.microsoft.com/office/drawing/2014/main" id="{756766D5-C044-45F6-8513-265B2551B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4B767108-54A0-401D-BF88-8E971AE1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562350"/>
            <a:ext cx="2952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21AD45BF-3DB6-4F91-911B-3AFAA1E1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95675"/>
            <a:ext cx="18383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 Gate · 6 min</a:t>
            </a:r>
          </a:p>
        </p:txBody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54792F31-BC84-4DC4-83E5-73EB2FB0E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6712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Driver · S. Kumar</a:t>
            </a:r>
          </a:p>
        </p:txBody>
      </p:sp>
      <p:sp>
        <p:nvSpPr>
          <p:cNvPr id="109" name="status">
            <a:extLst xmlns:a="http://schemas.openxmlformats.org/drawingml/2006/main">
              <a:ext uri="{FF2B5EF4-FFF2-40B4-BE49-F238E27FC236}">
                <a16:creationId xmlns:a16="http://schemas.microsoft.com/office/drawing/2014/main" id="{2B7570FF-52FC-4D07-B294-1739733B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2425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text">
            <a:extLst xmlns:a="http://schemas.openxmlformats.org/drawingml/2006/main">
              <a:ext uri="{FF2B5EF4-FFF2-40B4-BE49-F238E27FC236}">
                <a16:creationId xmlns:a16="http://schemas.microsoft.com/office/drawing/2014/main" id="{10B0E480-9C2F-4DEA-B3AB-2E9345A6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356235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 route</a:t>
            </a:r>
          </a:p>
        </p:txBody>
      </p:sp>
      <p:sp>
        <p:nvSpPr>
          <p:cNvPr id="111" name="divider">
            <a:extLst xmlns:a="http://schemas.openxmlformats.org/drawingml/2006/main">
              <a:ext uri="{FF2B5EF4-FFF2-40B4-BE49-F238E27FC236}">
                <a16:creationId xmlns:a16="http://schemas.microsoft.com/office/drawing/2014/main" id="{F5D5DF15-968D-453A-96FA-FF926CF0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914775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avatar">
            <a:extLst xmlns:a="http://schemas.openxmlformats.org/drawingml/2006/main">
              <a:ext uri="{FF2B5EF4-FFF2-40B4-BE49-F238E27FC236}">
                <a16:creationId xmlns:a16="http://schemas.microsoft.com/office/drawing/2014/main" id="{3BB5F9DA-2E60-44BD-9E8D-AD8E6B87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2907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5E534285-A0B8-4333-B2BB-3C23C4FE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2952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CA42E232-4F8B-48AA-9D2F-EAEB8CC2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18383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Lake Road · 12 min</a:t>
            </a:r>
          </a:p>
        </p:txBody>
      </p:sp>
      <p:sp>
        <p:nvSpPr>
          <p:cNvPr id="115" name="text">
            <a:extLst xmlns:a="http://schemas.openxmlformats.org/drawingml/2006/main">
              <a:ext uri="{FF2B5EF4-FFF2-40B4-BE49-F238E27FC236}">
                <a16:creationId xmlns:a16="http://schemas.microsoft.com/office/drawing/2014/main" id="{EFE04457-9B94-4C44-914A-7A1EC091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1957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Driver · A. Thomas</a:t>
            </a:r>
          </a:p>
        </p:txBody>
      </p:sp>
      <p:sp>
        <p:nvSpPr>
          <p:cNvPr id="116" name="status">
            <a:extLst xmlns:a="http://schemas.openxmlformats.org/drawingml/2006/main">
              <a:ext uri="{FF2B5EF4-FFF2-40B4-BE49-F238E27FC236}">
                <a16:creationId xmlns:a16="http://schemas.microsoft.com/office/drawing/2014/main" id="{8FBBDD85-20E1-47C2-8936-DB6AE9CF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07670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text">
            <a:extLst xmlns:a="http://schemas.openxmlformats.org/drawingml/2006/main">
              <a:ext uri="{FF2B5EF4-FFF2-40B4-BE49-F238E27FC236}">
                <a16:creationId xmlns:a16="http://schemas.microsoft.com/office/drawing/2014/main" id="{6A1D7494-36AA-4EB6-B121-6C852C2E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11480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 route</a:t>
            </a:r>
          </a:p>
        </p:txBody>
      </p:sp>
      <p:sp>
        <p:nvSpPr>
          <p:cNvPr id="118" name="divider">
            <a:extLst xmlns:a="http://schemas.openxmlformats.org/drawingml/2006/main">
              <a:ext uri="{FF2B5EF4-FFF2-40B4-BE49-F238E27FC236}">
                <a16:creationId xmlns:a16="http://schemas.microsoft.com/office/drawing/2014/main" id="{0E8082F9-8893-400F-8115-8380296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67225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avatar">
            <a:extLst xmlns:a="http://schemas.openxmlformats.org/drawingml/2006/main">
              <a:ext uri="{FF2B5EF4-FFF2-40B4-BE49-F238E27FC236}">
                <a16:creationId xmlns:a16="http://schemas.microsoft.com/office/drawing/2014/main" id="{77F93BE0-E96C-4706-BF92-0C67FFA0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8152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text">
            <a:extLst xmlns:a="http://schemas.openxmlformats.org/drawingml/2006/main">
              <a:ext uri="{FF2B5EF4-FFF2-40B4-BE49-F238E27FC236}">
                <a16:creationId xmlns:a16="http://schemas.microsoft.com/office/drawing/2014/main" id="{498064BA-BF2C-4D40-970A-51DF258E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67250"/>
            <a:ext cx="2952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2D7EB256-FB5E-4270-83AC-D297D0D06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00575"/>
            <a:ext cx="18383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West Park · 18 min</a:t>
            </a:r>
          </a:p>
        </p:txBody>
      </p:sp>
      <p:sp>
        <p:nvSpPr>
          <p:cNvPr id="122" name="text">
            <a:extLst xmlns:a="http://schemas.openxmlformats.org/drawingml/2006/main">
              <a:ext uri="{FF2B5EF4-FFF2-40B4-BE49-F238E27FC236}">
                <a16:creationId xmlns:a16="http://schemas.microsoft.com/office/drawing/2014/main" id="{8EF4E83F-6D9D-4DF0-A39C-F7924D3E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7202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Driver · R. Singh</a:t>
            </a:r>
          </a:p>
        </p:txBody>
      </p:sp>
      <p:sp>
        <p:nvSpPr>
          <p:cNvPr id="123" name="status">
            <a:extLst xmlns:a="http://schemas.openxmlformats.org/drawingml/2006/main">
              <a:ext uri="{FF2B5EF4-FFF2-40B4-BE49-F238E27FC236}">
                <a16:creationId xmlns:a16="http://schemas.microsoft.com/office/drawing/2014/main" id="{6FB3AC17-CC09-4FD6-A977-85A6E2F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62915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text">
            <a:extLst xmlns:a="http://schemas.openxmlformats.org/drawingml/2006/main">
              <a:ext uri="{FF2B5EF4-FFF2-40B4-BE49-F238E27FC236}">
                <a16:creationId xmlns:a16="http://schemas.microsoft.com/office/drawing/2014/main" id="{DBB834AA-80BE-43C8-AE23-20382BEC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466725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 route</a:t>
            </a:r>
          </a:p>
        </p:txBody>
      </p:sp>
      <p:sp>
        <p:nvSpPr>
          <p:cNvPr id="125" name="divider">
            <a:extLst xmlns:a="http://schemas.openxmlformats.org/drawingml/2006/main">
              <a:ext uri="{FF2B5EF4-FFF2-40B4-BE49-F238E27FC236}">
                <a16:creationId xmlns:a16="http://schemas.microsoft.com/office/drawing/2014/main" id="{A962D65A-44B7-4849-81B8-5472F87CE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9675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avatar">
            <a:extLst xmlns:a="http://schemas.openxmlformats.org/drawingml/2006/main">
              <a:ext uri="{FF2B5EF4-FFF2-40B4-BE49-F238E27FC236}">
                <a16:creationId xmlns:a16="http://schemas.microsoft.com/office/drawing/2014/main" id="{8F64AF2E-8476-45EF-BF37-66CAF580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3397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text">
            <a:extLst xmlns:a="http://schemas.openxmlformats.org/drawingml/2006/main">
              <a:ext uri="{FF2B5EF4-FFF2-40B4-BE49-F238E27FC236}">
                <a16:creationId xmlns:a16="http://schemas.microsoft.com/office/drawing/2014/main" id="{C9F99A37-9B61-4810-B478-620EFFA8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219700"/>
            <a:ext cx="2952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CB3AD96B-3DC7-4469-9684-85AAC914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53025"/>
            <a:ext cx="18383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Central stop · arrived</a:t>
            </a:r>
          </a:p>
        </p:txBody>
      </p:sp>
      <p:sp>
        <p:nvSpPr>
          <p:cNvPr id="129" name="text">
            <a:extLst xmlns:a="http://schemas.openxmlformats.org/drawingml/2006/main">
              <a:ext uri="{FF2B5EF4-FFF2-40B4-BE49-F238E27FC236}">
                <a16:creationId xmlns:a16="http://schemas.microsoft.com/office/drawing/2014/main" id="{7BC8FA73-57D6-449E-A9D0-66140674E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24475"/>
            <a:ext cx="1619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Driver · M. Das</a:t>
            </a:r>
          </a:p>
        </p:txBody>
      </p:sp>
      <p:sp>
        <p:nvSpPr>
          <p:cNvPr id="130" name="status">
            <a:extLst xmlns:a="http://schemas.openxmlformats.org/drawingml/2006/main">
              <a:ext uri="{FF2B5EF4-FFF2-40B4-BE49-F238E27FC236}">
                <a16:creationId xmlns:a16="http://schemas.microsoft.com/office/drawing/2014/main" id="{25C65919-A134-457A-9EB7-2FD8244A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18160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ext">
            <a:extLst xmlns:a="http://schemas.openxmlformats.org/drawingml/2006/main">
              <a:ext uri="{FF2B5EF4-FFF2-40B4-BE49-F238E27FC236}">
                <a16:creationId xmlns:a16="http://schemas.microsoft.com/office/drawing/2014/main" id="{BCB43BD6-20F9-46A8-BE28-2575A8E2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1775" y="521970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At school</a:t>
            </a:r>
          </a:p>
        </p:txBody>
      </p:sp>
    </p:spTree>
    <p:extLst>
      <p:ext uri="{BB962C8B-B14F-4D97-AF65-F5344CB8AC3E}">
        <p14:creationId xmlns:p14="http://schemas.microsoft.com/office/powerpoint/2010/main" val="3670462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2" name="text">
            <a:extLst xmlns:a="http://schemas.openxmlformats.org/drawingml/2006/main">
              <a:ext uri="{FF2B5EF4-FFF2-40B4-BE49-F238E27FC236}">
                <a16:creationId xmlns:a16="http://schemas.microsoft.com/office/drawing/2014/main" id="{567648E2-EE35-4B7F-9D49-8CA43EAF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43CD480-8201-4815-B71F-40B99E300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08  Library &amp; campus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2B7F280-D8B3-49A5-820C-27E37B43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Connect books, facilities, clubs and campus care in the same school workspace.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A499006-A060-46AA-A727-4CAEC110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08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AC52DAFF-405F-473C-AC4A-48A54BB8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F2864160-CFAC-4471-A3A5-871FE4CA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39C5E488-7FAF-4688-BC9F-C3EF2D85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9205D8C8-0323-447B-9E95-01BAF933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AD2BDCDA-584F-4F28-AF63-7153EF2C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C67D5AEB-66CC-4C3B-8A62-C36C9D3D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F7893DB-99C7-402E-8D1F-5C8AC026D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BB842B-0012-4F3F-8AD5-9FC016B5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51AFE42F-4A81-4D68-BEFF-69F4FEFE6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86778262-27C5-4611-AB33-1FEBF7DC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9F0C9ADF-BA04-47B5-A22E-790711AF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3AAD4870-87E6-46EC-B324-77B7D0E7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65368AB3-02B3-4708-953D-E66114D1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D44E9104-6A13-4E3A-A7E6-64318AAA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40976C8-446A-4202-BDDA-05AB3CA0D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29F52479-9FD4-46E2-BA9D-A3E7CE21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9D7F92FC-9B87-4E9F-A11E-7CE734ED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EFE0113-8985-48DD-B726-9580E5C6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8BACE50-8691-4FE4-828D-3C9AD905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41105501-BBDD-4F39-8168-6C39E80A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57091CE9-401C-4153-B1AE-57AD70FF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0D5CC834-BF44-4663-A6CD-5C4429E3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83F3D76B-2501-4D51-BC46-3CA6820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EE6A7566-5A2E-4C60-ACE3-9E6EC00E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F62A3D31-EB6E-4D6B-B65B-167950E6A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04EE508A-3766-4BA4-B408-62B93128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1" name="active-nav">
            <a:extLst xmlns:a="http://schemas.openxmlformats.org/drawingml/2006/main">
              <a:ext uri="{FF2B5EF4-FFF2-40B4-BE49-F238E27FC236}">
                <a16:creationId xmlns:a16="http://schemas.microsoft.com/office/drawing/2014/main" id="{C13EC510-A442-452C-8916-C0483910C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338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DA7C6474-CFA3-4176-A76D-EBC19AA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388BC411-7F0E-41CD-8814-B1F64932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9C88F12F-B8E8-4B76-8FC2-8514E2EF1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DB75821E-9CD7-4C3D-B743-D7092D68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87B33ECD-1C2C-4D75-9BA6-4D401419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F82BBB7A-0710-4936-B937-7BF728E6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F592F9CE-19D8-4662-9E7C-1F35A60B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7AAE15B4-FACC-418D-B17A-E695840D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A4316D69-D450-474B-B9EE-548307D9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44684206-4802-42AC-9C2E-E09DE177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F30C32A8-FD4F-4581-AF96-880C1069E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282D7140-9E1C-40E7-8719-2105873F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CB350433-CE7B-4225-AC2E-2BE19A0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DD814009-56D5-4DC1-8FD4-C6F92B20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10E4921E-7840-48DB-BAAA-BF2755E3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166FDCC6-70C2-4964-8173-648D225F5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932C45B7-A9C8-45A3-AC58-02838993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93E445E7-38AF-48E7-91E0-3DDB0ECE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ED8958D8-0DA6-460D-814D-A4050170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8B4BDDDE-AA18-4EEA-80C7-647F2321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2FF5BD95-5C8C-42F9-8D70-D37D311A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58499025-DC8F-4662-8E91-71672383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C4B4B844-E34F-426B-A899-254B375C1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CAMPUS LIFE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737958A8-240D-4E7D-BB87-96F857673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39C60119-9BE8-4FBC-B8DE-73A662EE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Library activity, facilities and student activities.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BC99A28C-4F4B-411D-A560-661543406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1E71A8E7-0A7C-458F-AE44-B0AE2CD4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Add activity</a:t>
            </a:r>
          </a:p>
        </p:txBody>
      </p:sp>
      <p:sp>
        <p:nvSpPr>
          <p:cNvPr id="59" name="metric-card">
            <a:extLst xmlns:a="http://schemas.openxmlformats.org/drawingml/2006/main">
              <a:ext uri="{FF2B5EF4-FFF2-40B4-BE49-F238E27FC236}">
                <a16:creationId xmlns:a16="http://schemas.microsoft.com/office/drawing/2014/main" id="{A9BD86E4-9413-4131-99F1-D5432B5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avatar">
            <a:extLst xmlns:a="http://schemas.openxmlformats.org/drawingml/2006/main">
              <a:ext uri="{FF2B5EF4-FFF2-40B4-BE49-F238E27FC236}">
                <a16:creationId xmlns:a16="http://schemas.microsoft.com/office/drawing/2014/main" id="{FE06CB44-5A87-4495-A2C0-FE97FF62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ext">
            <a:extLst xmlns:a="http://schemas.openxmlformats.org/drawingml/2006/main">
              <a:ext uri="{FF2B5EF4-FFF2-40B4-BE49-F238E27FC236}">
                <a16:creationId xmlns:a16="http://schemas.microsoft.com/office/drawing/2014/main" id="{99D484F1-1EEA-49E1-9D52-93B5DFEB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15742EAC-F27D-4AEE-A12F-B79E45FE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Books borrowed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7B07C577-2CCA-420C-B9CE-EF80BF06B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186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360843DE-ECB3-4C5B-BE21-20DCC9560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This month</a:t>
            </a:r>
          </a:p>
        </p:txBody>
      </p:sp>
      <p:sp>
        <p:nvSpPr>
          <p:cNvPr id="65" name="metric-card">
            <a:extLst xmlns:a="http://schemas.openxmlformats.org/drawingml/2006/main">
              <a:ext uri="{FF2B5EF4-FFF2-40B4-BE49-F238E27FC236}">
                <a16:creationId xmlns:a16="http://schemas.microsoft.com/office/drawing/2014/main" id="{3FD80720-A972-4125-B71D-27BC865F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6" name="avatar">
            <a:extLst xmlns:a="http://schemas.openxmlformats.org/drawingml/2006/main">
              <a:ext uri="{FF2B5EF4-FFF2-40B4-BE49-F238E27FC236}">
                <a16:creationId xmlns:a16="http://schemas.microsoft.com/office/drawing/2014/main" id="{A4B84290-12F1-481D-AF18-B2DE67F6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74CE6577-6195-48EB-880E-59DAD0E1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8335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FC465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FC465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B439AE04-5D8E-4C09-9361-0E60FA48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Due this week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B0AFE334-CE83-46E3-90F8-DA236748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4B0289E2-43AB-4956-8A6A-18F93C55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Across all grades</a:t>
            </a:r>
          </a:p>
        </p:txBody>
      </p:sp>
      <p:sp>
        <p:nvSpPr>
          <p:cNvPr id="71" name="metric-card">
            <a:extLst xmlns:a="http://schemas.openxmlformats.org/drawingml/2006/main">
              <a:ext uri="{FF2B5EF4-FFF2-40B4-BE49-F238E27FC236}">
                <a16:creationId xmlns:a16="http://schemas.microsoft.com/office/drawing/2014/main" id="{00921D96-D3D6-4609-A48B-5361610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38375"/>
            <a:ext cx="2133600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2" name="avatar">
            <a:extLst xmlns:a="http://schemas.openxmlformats.org/drawingml/2006/main">
              <a:ext uri="{FF2B5EF4-FFF2-40B4-BE49-F238E27FC236}">
                <a16:creationId xmlns:a16="http://schemas.microsoft.com/office/drawing/2014/main" id="{FFA0A18B-419C-46FF-84EC-297B4725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C7B6FFFE-5C56-4036-885A-DBE6CB71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0915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728BC0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28BC0"/>
                </a:solidFill>
                <a:latin typeface="Arial"/>
                <a:ea typeface="Arial"/>
                <a:cs typeface="Arial"/>
              </a:rPr>
              <a:t>✦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3897A3C1-28AD-4D9C-AAF6-1001CD37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362200"/>
            <a:ext cx="16097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Activities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830F383D-7821-4DE8-8790-C14DEB3B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524125"/>
            <a:ext cx="18859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07808ABD-560B-4DEE-A4F9-4A256A36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752725"/>
            <a:ext cx="18859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Currently active</a:t>
            </a:r>
          </a:p>
        </p:txBody>
      </p:sp>
      <p:sp>
        <p:nvSpPr>
          <p:cNvPr id="77" name="metric-card">
            <a:extLst xmlns:a="http://schemas.openxmlformats.org/drawingml/2006/main">
              <a:ext uri="{FF2B5EF4-FFF2-40B4-BE49-F238E27FC236}">
                <a16:creationId xmlns:a16="http://schemas.microsoft.com/office/drawing/2014/main" id="{7B1ECE40-589B-41DB-97E0-94CC4A94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2295525" cy="6667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8" name="avatar">
            <a:extLst xmlns:a="http://schemas.openxmlformats.org/drawingml/2006/main">
              <a:ext uri="{FF2B5EF4-FFF2-40B4-BE49-F238E27FC236}">
                <a16:creationId xmlns:a16="http://schemas.microsoft.com/office/drawing/2014/main" id="{165F5AE5-C4E6-423E-ADDB-894772D1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362200"/>
            <a:ext cx="2095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411311F4-5F25-4010-A9CE-C25226338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5675" y="2400300"/>
            <a:ext cx="20955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A805279E-EF09-4FBA-A104-55C9D253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62200"/>
            <a:ext cx="1771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Open requests</a:t>
            </a:r>
          </a:p>
        </p:txBody>
      </p:sp>
      <p:sp>
        <p:nvSpPr>
          <p:cNvPr id="81" name="text">
            <a:extLst xmlns:a="http://schemas.openxmlformats.org/drawingml/2006/main">
              <a:ext uri="{FF2B5EF4-FFF2-40B4-BE49-F238E27FC236}">
                <a16:creationId xmlns:a16="http://schemas.microsoft.com/office/drawing/2014/main" id="{D00FF118-67A7-4F09-BD2D-A66635F3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524125"/>
            <a:ext cx="2047875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F64183A6-E9FE-48C0-9588-22E3906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752725"/>
            <a:ext cx="2047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Campus care</a:t>
            </a:r>
          </a:p>
        </p:txBody>
      </p:sp>
      <p:sp>
        <p:nvSpPr>
          <p:cNvPr id="83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5962397B-56C4-4712-AD6A-48DB82CB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38475"/>
            <a:ext cx="540067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20DCFA9C-2F6F-4DA9-A0C2-575808E7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152775"/>
            <a:ext cx="51339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Library activity</a:t>
            </a:r>
          </a:p>
        </p:txBody>
      </p:sp>
      <p:sp>
        <p:nvSpPr>
          <p:cNvPr id="85" name="text">
            <a:extLst xmlns:a="http://schemas.openxmlformats.org/drawingml/2006/main">
              <a:ext uri="{FF2B5EF4-FFF2-40B4-BE49-F238E27FC236}">
                <a16:creationId xmlns:a16="http://schemas.microsoft.com/office/drawing/2014/main" id="{642ABB7C-853A-46B1-9A03-B05297A7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14700"/>
            <a:ext cx="51339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Recent loans and returns</a:t>
            </a:r>
          </a:p>
        </p:txBody>
      </p:sp>
      <p:sp>
        <p:nvSpPr>
          <p:cNvPr id="86" name="avatar">
            <a:extLst xmlns:a="http://schemas.openxmlformats.org/drawingml/2006/main">
              <a:ext uri="{FF2B5EF4-FFF2-40B4-BE49-F238E27FC236}">
                <a16:creationId xmlns:a16="http://schemas.microsoft.com/office/drawing/2014/main" id="{2030EAAA-62BA-4F65-934B-C3A87849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48615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99FC786B-D5EC-48EA-9437-B8832ADF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8140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BK</a:t>
            </a:r>
          </a:p>
        </p:txBody>
      </p:sp>
      <p:sp>
        <p:nvSpPr>
          <p:cNvPr id="88" name="text">
            <a:extLst xmlns:a="http://schemas.openxmlformats.org/drawingml/2006/main">
              <a:ext uri="{FF2B5EF4-FFF2-40B4-BE49-F238E27FC236}">
                <a16:creationId xmlns:a16="http://schemas.microsoft.com/office/drawing/2014/main" id="{F581314E-9A68-481D-8282-D2C5BB69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505200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The Wild Robot · Peter Brown</a:t>
            </a:r>
          </a:p>
        </p:txBody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57DDE995-637A-44D1-B516-5FA558D0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86175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Tara Shah · Grade 5B</a:t>
            </a:r>
          </a:p>
        </p:txBody>
      </p:sp>
      <p:sp>
        <p:nvSpPr>
          <p:cNvPr id="90" name="status">
            <a:extLst xmlns:a="http://schemas.openxmlformats.org/drawingml/2006/main">
              <a:ext uri="{FF2B5EF4-FFF2-40B4-BE49-F238E27FC236}">
                <a16:creationId xmlns:a16="http://schemas.microsoft.com/office/drawing/2014/main" id="{0D060F2F-BBFC-4FE7-BAA0-FD16302E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52825"/>
            <a:ext cx="10001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698380EF-7489-47DF-A68F-5578E52B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90925"/>
            <a:ext cx="1000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Due Oct 6</a:t>
            </a:r>
          </a:p>
        </p:txBody>
      </p:sp>
      <p:sp>
        <p:nvSpPr>
          <p:cNvPr id="92" name="divider">
            <a:extLst xmlns:a="http://schemas.openxmlformats.org/drawingml/2006/main">
              <a:ext uri="{FF2B5EF4-FFF2-40B4-BE49-F238E27FC236}">
                <a16:creationId xmlns:a16="http://schemas.microsoft.com/office/drawing/2014/main" id="{E1D0CD65-BAAB-46F8-8E37-BD4AD926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52875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avatar">
            <a:extLst xmlns:a="http://schemas.openxmlformats.org/drawingml/2006/main">
              <a:ext uri="{FF2B5EF4-FFF2-40B4-BE49-F238E27FC236}">
                <a16:creationId xmlns:a16="http://schemas.microsoft.com/office/drawing/2014/main" id="{1BDD2662-7D99-4B72-8321-D7EED0CB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067175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text">
            <a:extLst xmlns:a="http://schemas.openxmlformats.org/drawingml/2006/main">
              <a:ext uri="{FF2B5EF4-FFF2-40B4-BE49-F238E27FC236}">
                <a16:creationId xmlns:a16="http://schemas.microsoft.com/office/drawing/2014/main" id="{1F23E282-C64B-4E30-985C-05FA3D83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162425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BK</a:t>
            </a:r>
          </a:p>
        </p:txBody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0147CB53-F1E5-4D01-8491-57745B3C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86225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 Brief History of Time</a:t>
            </a:r>
          </a:p>
        </p:txBody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2DFCCD5B-81C8-4FBE-A8A1-BFEE6115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67200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Kabir Patel · Grade 9A</a:t>
            </a:r>
          </a:p>
        </p:txBody>
      </p:sp>
      <p:sp>
        <p:nvSpPr>
          <p:cNvPr id="97" name="status">
            <a:extLst xmlns:a="http://schemas.openxmlformats.org/drawingml/2006/main">
              <a:ext uri="{FF2B5EF4-FFF2-40B4-BE49-F238E27FC236}">
                <a16:creationId xmlns:a16="http://schemas.microsoft.com/office/drawing/2014/main" id="{1706458B-9357-4DB5-96B3-55E38097F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33850"/>
            <a:ext cx="10001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">
            <a:extLst xmlns:a="http://schemas.openxmlformats.org/drawingml/2006/main">
              <a:ext uri="{FF2B5EF4-FFF2-40B4-BE49-F238E27FC236}">
                <a16:creationId xmlns:a16="http://schemas.microsoft.com/office/drawing/2014/main" id="{EEFBB840-03B2-4F65-A9F3-BF327BAF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171950"/>
            <a:ext cx="1000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Due Oct 7</a:t>
            </a:r>
          </a:p>
        </p:txBody>
      </p:sp>
      <p:sp>
        <p:nvSpPr>
          <p:cNvPr id="99" name="divider">
            <a:extLst xmlns:a="http://schemas.openxmlformats.org/drawingml/2006/main">
              <a:ext uri="{FF2B5EF4-FFF2-40B4-BE49-F238E27FC236}">
                <a16:creationId xmlns:a16="http://schemas.microsoft.com/office/drawing/2014/main" id="{A8B3F7EB-B2D1-4A09-868A-9E82D70C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339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avatar">
            <a:extLst xmlns:a="http://schemas.openxmlformats.org/drawingml/2006/main">
              <a:ext uri="{FF2B5EF4-FFF2-40B4-BE49-F238E27FC236}">
                <a16:creationId xmlns:a16="http://schemas.microsoft.com/office/drawing/2014/main" id="{CEB620A6-2734-4E7C-BFB9-1D7C000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648200"/>
            <a:ext cx="304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C752278A-B69D-414F-A2CC-92546C62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43450"/>
            <a:ext cx="304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BK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E9D9D779-6723-45BE-8A4A-31532933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67250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The Blue Umbrella · Ruskin Bond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2E39FD50-E60A-4337-ACBC-DDE95A82A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48225"/>
            <a:ext cx="2571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Returned today · Library desk</a:t>
            </a:r>
          </a:p>
        </p:txBody>
      </p:sp>
      <p:sp>
        <p:nvSpPr>
          <p:cNvPr id="104" name="status">
            <a:extLst xmlns:a="http://schemas.openxmlformats.org/drawingml/2006/main">
              <a:ext uri="{FF2B5EF4-FFF2-40B4-BE49-F238E27FC236}">
                <a16:creationId xmlns:a16="http://schemas.microsoft.com/office/drawing/2014/main" id="{3BA28C27-7ECD-47B7-9317-7000068E9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14875"/>
            <a:ext cx="10001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880FDC80-ECD9-4F84-830D-05FCCA92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752975"/>
            <a:ext cx="1000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Returned</a:t>
            </a:r>
          </a:p>
        </p:txBody>
      </p:sp>
      <p:sp>
        <p:nvSpPr>
          <p:cNvPr id="106" name="shape">
            <a:extLst xmlns:a="http://schemas.openxmlformats.org/drawingml/2006/main">
              <a:ext uri="{FF2B5EF4-FFF2-40B4-BE49-F238E27FC236}">
                <a16:creationId xmlns:a16="http://schemas.microsoft.com/office/drawing/2014/main" id="{E670B14C-DA6C-448F-96E0-A49847D5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362575"/>
            <a:ext cx="4953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F938374C-DF19-465B-964D-7C21F400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448300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LIBRARY WEEK</a:t>
            </a:r>
          </a:p>
        </p:txBody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F56E4F61-FF5B-4B5F-ABBD-F1DC00FC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600700"/>
            <a:ext cx="2286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Book fair · 19–23 October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3711F4B5-9969-47A7-9E81-3681537D0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81650"/>
            <a:ext cx="12858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Notify families  ↗</a:t>
            </a:r>
          </a:p>
        </p:txBody>
      </p:sp>
      <p:sp>
        <p:nvSpPr>
          <p:cNvPr id="11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32579D3E-AF04-4CC8-9055-670B624A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38475"/>
            <a:ext cx="3514725" cy="3086100"/>
          </a:xfrm>
          <a:prstGeom xmlns:a="http://schemas.openxmlformats.org/drawingml/2006/main" prst="roundRect">
            <a:avLst>
              <a:gd name="adj" fmla="val 30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11" name="text">
            <a:extLst xmlns:a="http://schemas.openxmlformats.org/drawingml/2006/main">
              <a:ext uri="{FF2B5EF4-FFF2-40B4-BE49-F238E27FC236}">
                <a16:creationId xmlns:a16="http://schemas.microsoft.com/office/drawing/2014/main" id="{F75798DD-634C-4C29-87C1-2B707F42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52775"/>
            <a:ext cx="32480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Spaces &amp; campus care</a:t>
            </a:r>
          </a:p>
        </p:txBody>
      </p:sp>
      <p:sp>
        <p:nvSpPr>
          <p:cNvPr id="112" name="text">
            <a:extLst xmlns:a="http://schemas.openxmlformats.org/drawingml/2006/main">
              <a:ext uri="{FF2B5EF4-FFF2-40B4-BE49-F238E27FC236}">
                <a16:creationId xmlns:a16="http://schemas.microsoft.com/office/drawing/2014/main" id="{0B140C71-A5C9-4941-B10F-DE5219E4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14700"/>
            <a:ext cx="32480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Rooms, equipment and requests</a:t>
            </a:r>
          </a:p>
        </p:txBody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DD2C54C0-D5A1-474C-A957-B8220FDA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29000"/>
            <a:ext cx="1809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Auditorium</a:t>
            </a:r>
          </a:p>
        </p:txBody>
      </p:sp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86614508-137D-4B85-AEE9-69D06E26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099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Assembly · 10:00–11:30</a:t>
            </a:r>
          </a:p>
        </p:txBody>
      </p:sp>
      <p:sp>
        <p:nvSpPr>
          <p:cNvPr id="115" name="status">
            <a:extLst xmlns:a="http://schemas.openxmlformats.org/drawingml/2006/main">
              <a:ext uri="{FF2B5EF4-FFF2-40B4-BE49-F238E27FC236}">
                <a16:creationId xmlns:a16="http://schemas.microsoft.com/office/drawing/2014/main" id="{86E84E70-2307-4FD2-A571-0A2478B4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86150"/>
            <a:ext cx="8096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text">
            <a:extLst xmlns:a="http://schemas.openxmlformats.org/drawingml/2006/main">
              <a:ext uri="{FF2B5EF4-FFF2-40B4-BE49-F238E27FC236}">
                <a16:creationId xmlns:a16="http://schemas.microsoft.com/office/drawing/2014/main" id="{42B1D62D-D6DC-4462-8DAD-7DF942771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524250"/>
            <a:ext cx="8096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In use</a:t>
            </a:r>
          </a:p>
        </p:txBody>
      </p:sp>
      <p:sp>
        <p:nvSpPr>
          <p:cNvPr id="117" name="divider">
            <a:extLst xmlns:a="http://schemas.openxmlformats.org/drawingml/2006/main">
              <a:ext uri="{FF2B5EF4-FFF2-40B4-BE49-F238E27FC236}">
                <a16:creationId xmlns:a16="http://schemas.microsoft.com/office/drawing/2014/main" id="{C047F2AA-DAFC-4C2F-8EE4-5EC9ECB8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86715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text">
            <a:extLst xmlns:a="http://schemas.openxmlformats.org/drawingml/2006/main">
              <a:ext uri="{FF2B5EF4-FFF2-40B4-BE49-F238E27FC236}">
                <a16:creationId xmlns:a16="http://schemas.microsoft.com/office/drawing/2014/main" id="{C1C9853E-4E6A-4670-BD0E-4936684BA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00500"/>
            <a:ext cx="1809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Science Lab 2</a:t>
            </a:r>
          </a:p>
        </p:txBody>
      </p:sp>
      <p:sp>
        <p:nvSpPr>
          <p:cNvPr id="119" name="text">
            <a:extLst xmlns:a="http://schemas.openxmlformats.org/drawingml/2006/main">
              <a:ext uri="{FF2B5EF4-FFF2-40B4-BE49-F238E27FC236}">
                <a16:creationId xmlns:a16="http://schemas.microsoft.com/office/drawing/2014/main" id="{C4CE17DC-9CA8-4068-B63F-F5D04C8BD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814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Grade 7B · 09:30–10:30</a:t>
            </a:r>
          </a:p>
        </p:txBody>
      </p:sp>
      <p:sp>
        <p:nvSpPr>
          <p:cNvPr id="120" name="status">
            <a:extLst xmlns:a="http://schemas.openxmlformats.org/drawingml/2006/main">
              <a:ext uri="{FF2B5EF4-FFF2-40B4-BE49-F238E27FC236}">
                <a16:creationId xmlns:a16="http://schemas.microsoft.com/office/drawing/2014/main" id="{9C08AEA4-5344-4863-B67A-EE178E3D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8096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text">
            <a:extLst xmlns:a="http://schemas.openxmlformats.org/drawingml/2006/main">
              <a:ext uri="{FF2B5EF4-FFF2-40B4-BE49-F238E27FC236}">
                <a16:creationId xmlns:a16="http://schemas.microsoft.com/office/drawing/2014/main" id="{51DC2FAF-94D6-44D2-919E-9A7EDF55B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95750"/>
            <a:ext cx="8096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In use</a:t>
            </a:r>
          </a:p>
        </p:txBody>
      </p:sp>
      <p:sp>
        <p:nvSpPr>
          <p:cNvPr id="122" name="divider">
            <a:extLst xmlns:a="http://schemas.openxmlformats.org/drawingml/2006/main">
              <a:ext uri="{FF2B5EF4-FFF2-40B4-BE49-F238E27FC236}">
                <a16:creationId xmlns:a16="http://schemas.microsoft.com/office/drawing/2014/main" id="{49F082BC-16E2-4AB6-84E8-4649D4B47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text">
            <a:extLst xmlns:a="http://schemas.openxmlformats.org/drawingml/2006/main">
              <a:ext uri="{FF2B5EF4-FFF2-40B4-BE49-F238E27FC236}">
                <a16:creationId xmlns:a16="http://schemas.microsoft.com/office/drawing/2014/main" id="{7793C78A-00EE-4D2F-91A7-579F3872D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572000"/>
            <a:ext cx="1809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Gymnasium</a:t>
            </a:r>
          </a:p>
        </p:txBody>
      </p:sp>
      <p:sp>
        <p:nvSpPr>
          <p:cNvPr id="124" name="text">
            <a:extLst xmlns:a="http://schemas.openxmlformats.org/drawingml/2006/main">
              <a:ext uri="{FF2B5EF4-FFF2-40B4-BE49-F238E27FC236}">
                <a16:creationId xmlns:a16="http://schemas.microsoft.com/office/drawing/2014/main" id="{0D6B47E6-4433-45A4-8EBF-808A8BD7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529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Available until 12:00</a:t>
            </a:r>
          </a:p>
        </p:txBody>
      </p:sp>
      <p:sp>
        <p:nvSpPr>
          <p:cNvPr id="125" name="status">
            <a:extLst xmlns:a="http://schemas.openxmlformats.org/drawingml/2006/main">
              <a:ext uri="{FF2B5EF4-FFF2-40B4-BE49-F238E27FC236}">
                <a16:creationId xmlns:a16="http://schemas.microsoft.com/office/drawing/2014/main" id="{6B877AA6-4414-4E66-BAD1-6CBE184D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29150"/>
            <a:ext cx="8096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text">
            <a:extLst xmlns:a="http://schemas.openxmlformats.org/drawingml/2006/main">
              <a:ext uri="{FF2B5EF4-FFF2-40B4-BE49-F238E27FC236}">
                <a16:creationId xmlns:a16="http://schemas.microsoft.com/office/drawing/2014/main" id="{6FBE3217-6623-4D73-B8F6-06C841D6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67250"/>
            <a:ext cx="8096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Available</a:t>
            </a:r>
          </a:p>
        </p:txBody>
      </p:sp>
      <p:sp>
        <p:nvSpPr>
          <p:cNvPr id="127" name="divider">
            <a:extLst xmlns:a="http://schemas.openxmlformats.org/drawingml/2006/main">
              <a:ext uri="{FF2B5EF4-FFF2-40B4-BE49-F238E27FC236}">
                <a16:creationId xmlns:a16="http://schemas.microsoft.com/office/drawing/2014/main" id="{B049464C-2065-4DA1-B525-C699CC3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10150"/>
            <a:ext cx="32099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text">
            <a:extLst xmlns:a="http://schemas.openxmlformats.org/drawingml/2006/main">
              <a:ext uri="{FF2B5EF4-FFF2-40B4-BE49-F238E27FC236}">
                <a16:creationId xmlns:a16="http://schemas.microsoft.com/office/drawing/2014/main" id="{8885E754-CAFD-4BE2-B50B-7254FE13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43500"/>
            <a:ext cx="1809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Projector · Room 108</a:t>
            </a:r>
          </a:p>
        </p:txBody>
      </p:sp>
      <p:sp>
        <p:nvSpPr>
          <p:cNvPr id="129" name="text">
            <a:extLst xmlns:a="http://schemas.openxmlformats.org/drawingml/2006/main">
              <a:ext uri="{FF2B5EF4-FFF2-40B4-BE49-F238E27FC236}">
                <a16:creationId xmlns:a16="http://schemas.microsoft.com/office/drawing/2014/main" id="{C97F9965-B2D8-49A1-93A6-2D7C22AF8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324475"/>
            <a:ext cx="19526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Facilities team · Today</a:t>
            </a:r>
          </a:p>
        </p:txBody>
      </p:sp>
      <p:sp>
        <p:nvSpPr>
          <p:cNvPr id="130" name="status">
            <a:extLst xmlns:a="http://schemas.openxmlformats.org/drawingml/2006/main">
              <a:ext uri="{FF2B5EF4-FFF2-40B4-BE49-F238E27FC236}">
                <a16:creationId xmlns:a16="http://schemas.microsoft.com/office/drawing/2014/main" id="{B125D474-14FB-454F-A083-9EF3A6AA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00650"/>
            <a:ext cx="809625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text">
            <a:extLst xmlns:a="http://schemas.openxmlformats.org/drawingml/2006/main">
              <a:ext uri="{FF2B5EF4-FFF2-40B4-BE49-F238E27FC236}">
                <a16:creationId xmlns:a16="http://schemas.microsoft.com/office/drawing/2014/main" id="{CB5FABBC-C2EE-4BE4-9A7D-462FF4FD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38750"/>
            <a:ext cx="8096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</p:spTree>
    <p:extLst>
      <p:ext uri="{BB962C8B-B14F-4D97-AF65-F5344CB8AC3E}">
        <p14:creationId xmlns:p14="http://schemas.microsoft.com/office/powerpoint/2010/main" val="1946491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text">
            <a:extLst xmlns:a="http://schemas.openxmlformats.org/drawingml/2006/main">
              <a:ext uri="{FF2B5EF4-FFF2-40B4-BE49-F238E27FC236}">
                <a16:creationId xmlns:a16="http://schemas.microsoft.com/office/drawing/2014/main" id="{58F85108-AA68-404A-B680-A7BA09839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EEE21BB-8FB0-4255-9E40-400BEF447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09  Messages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8DD4E0F-2CEE-44D0-AEF3-400225848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 verified school inbox for families and staff, without exposing personal contact details.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0E95FE6C-5B8E-4C45-9564-CC7AEB726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09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41708C07-EFD2-487C-8071-4C4ED0F8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09F038E3-7D6F-48DB-B66A-8BDC2F62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C256B630-1770-4B3C-B0D2-AB00F77A0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5959BECF-C9BC-4126-B31E-D57BAD7C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F40E5E81-B0B1-4EFC-BA68-04A8C37D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8275DDE0-FEBF-4FCC-B4A9-C828F65A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8C033E49-5B53-4D52-8B11-ABEA62DFC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3870B70E-8A8F-47EE-B491-6748A1F7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9CFC9E2C-1987-4962-90AD-A2F23165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15FC35CE-FE5F-4E5D-B1FE-DF52232B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DE1FD133-B424-4AEE-B112-9FFE55B5E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C137C838-EA6C-447A-9ED7-B1CE2EB5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873797F-7CB1-4E3B-B06B-65BE6B50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257B5E4C-A4D1-484B-9963-66921BAEB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B576A920-B59D-41EE-97E7-DA0DA8CD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83138951-22CF-4E19-8D2C-E77A30D12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87136E84-B4E8-4B2F-86AC-A9A208B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8E5055-92DB-446E-A818-495085BEE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DB5112B5-91F3-4D31-90BD-02D4891C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E0EE79F4-B528-4951-8F24-E0F5D46E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AAE655FA-C641-4AD8-9E29-840D8BF9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88F92C0D-59F7-458F-9A51-C2AA8C0E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9C9072D0-EED1-4761-AED4-AA49D3DC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F3331CDC-5832-4FC7-96D7-D4089456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259D1394-F181-41BD-B22B-892A6A15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21978BEE-449B-43CE-815F-39F46D16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F1E79FA5-62A3-48FC-A284-C2DE710DE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CE412812-A22D-407E-9693-332BFBA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3" name="active-nav">
            <a:extLst xmlns:a="http://schemas.openxmlformats.org/drawingml/2006/main">
              <a:ext uri="{FF2B5EF4-FFF2-40B4-BE49-F238E27FC236}">
                <a16:creationId xmlns:a16="http://schemas.microsoft.com/office/drawing/2014/main" id="{DFD77B18-BD18-4FEE-9638-33666441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38650"/>
            <a:ext cx="1495425" cy="2667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1E274B6A-A885-402F-81FE-D795C58BF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5" name="text">
            <a:extLst xmlns:a="http://schemas.openxmlformats.org/drawingml/2006/main">
              <a:ext uri="{FF2B5EF4-FFF2-40B4-BE49-F238E27FC236}">
                <a16:creationId xmlns:a16="http://schemas.microsoft.com/office/drawing/2014/main" id="{CD8774D2-1215-44AB-9757-62AFA6E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6" name="status">
            <a:extLst xmlns:a="http://schemas.openxmlformats.org/drawingml/2006/main">
              <a:ext uri="{FF2B5EF4-FFF2-40B4-BE49-F238E27FC236}">
                <a16:creationId xmlns:a16="http://schemas.microsoft.com/office/drawing/2014/main" id="{AAB28739-AE04-4EB0-A90D-4B22535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">
            <a:extLst xmlns:a="http://schemas.openxmlformats.org/drawingml/2006/main">
              <a:ext uri="{FF2B5EF4-FFF2-40B4-BE49-F238E27FC236}">
                <a16:creationId xmlns:a16="http://schemas.microsoft.com/office/drawing/2014/main" id="{3025D7E3-E1A5-4265-9BF9-C6827654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8" name="divider">
            <a:extLst xmlns:a="http://schemas.openxmlformats.org/drawingml/2006/main">
              <a:ext uri="{FF2B5EF4-FFF2-40B4-BE49-F238E27FC236}">
                <a16:creationId xmlns:a16="http://schemas.microsoft.com/office/drawing/2014/main" id="{4C1944D8-E354-4EB8-B5B1-8E3AA329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98B49999-F59B-464B-BAB0-DBC4312A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40" name="text">
            <a:extLst xmlns:a="http://schemas.openxmlformats.org/drawingml/2006/main">
              <a:ext uri="{FF2B5EF4-FFF2-40B4-BE49-F238E27FC236}">
                <a16:creationId xmlns:a16="http://schemas.microsoft.com/office/drawing/2014/main" id="{D5F66804-26CF-470F-9F25-A93BE25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1" name="divider">
            <a:extLst xmlns:a="http://schemas.openxmlformats.org/drawingml/2006/main">
              <a:ext uri="{FF2B5EF4-FFF2-40B4-BE49-F238E27FC236}">
                <a16:creationId xmlns:a16="http://schemas.microsoft.com/office/drawing/2014/main" id="{554F59A4-8E22-4629-947F-166E43F1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avatar">
            <a:extLst xmlns:a="http://schemas.openxmlformats.org/drawingml/2006/main">
              <a:ext uri="{FF2B5EF4-FFF2-40B4-BE49-F238E27FC236}">
                <a16:creationId xmlns:a16="http://schemas.microsoft.com/office/drawing/2014/main" id="{14AED0AF-CBA2-46CC-A2B2-4BF36DC9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A162D289-92E1-4022-BAC3-4DB3BF42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EA666CA8-8C5F-409F-A739-A83823C6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5" name="text">
            <a:extLst xmlns:a="http://schemas.openxmlformats.org/drawingml/2006/main">
              <a:ext uri="{FF2B5EF4-FFF2-40B4-BE49-F238E27FC236}">
                <a16:creationId xmlns:a16="http://schemas.microsoft.com/office/drawing/2014/main" id="{413FB0C9-391D-4B51-8BBA-3569EE0A5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6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6BACAB63-A66C-4970-ADDD-EC52E6FCD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text">
            <a:extLst xmlns:a="http://schemas.openxmlformats.org/drawingml/2006/main">
              <a:ext uri="{FF2B5EF4-FFF2-40B4-BE49-F238E27FC236}">
                <a16:creationId xmlns:a16="http://schemas.microsoft.com/office/drawing/2014/main" id="{9B2758EA-8E44-4025-8346-10DAFD9E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8" name="search">
            <a:extLst xmlns:a="http://schemas.openxmlformats.org/drawingml/2006/main">
              <a:ext uri="{FF2B5EF4-FFF2-40B4-BE49-F238E27FC236}">
                <a16:creationId xmlns:a16="http://schemas.microsoft.com/office/drawing/2014/main" id="{0E9D5B86-2596-4EAC-9F1E-765C1B3B0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9" name="text">
            <a:extLst xmlns:a="http://schemas.openxmlformats.org/drawingml/2006/main">
              <a:ext uri="{FF2B5EF4-FFF2-40B4-BE49-F238E27FC236}">
                <a16:creationId xmlns:a16="http://schemas.microsoft.com/office/drawing/2014/main" id="{670A4A1F-66AF-4107-952A-21CB56B47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50" name="avatar">
            <a:extLst xmlns:a="http://schemas.openxmlformats.org/drawingml/2006/main">
              <a:ext uri="{FF2B5EF4-FFF2-40B4-BE49-F238E27FC236}">
                <a16:creationId xmlns:a16="http://schemas.microsoft.com/office/drawing/2014/main" id="{12D35CB1-FB02-4D77-95E8-9023731FC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EBC47ED7-2E18-49D3-A0AA-46BD797AA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083981AF-BE41-4DFF-8D3E-8265C6648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ACD102B9-4270-4A7B-92EA-6255D49D6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5CAC48DA-4C1A-4225-83B8-77F333F9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COMMUNITY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A1996BC7-C52E-4B1D-8EF1-6F96011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School messages</a:t>
            </a:r>
          </a:p>
        </p:txBody>
      </p:sp>
      <p:sp>
        <p:nvSpPr>
          <p:cNvPr id="56" name="text">
            <a:extLst xmlns:a="http://schemas.openxmlformats.org/drawingml/2006/main">
              <a:ext uri="{FF2B5EF4-FFF2-40B4-BE49-F238E27FC236}">
                <a16:creationId xmlns:a16="http://schemas.microsoft.com/office/drawing/2014/main" id="{601EBD4E-4725-4F96-A7FE-FBF7B21C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Private conversations, class groups and announcements.</a:t>
            </a:r>
          </a:p>
        </p:txBody>
      </p:sp>
      <p:sp>
        <p:nvSpPr>
          <p:cNvPr id="57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C6F27F07-71C9-4231-ACE0-C07E7818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text">
            <a:extLst xmlns:a="http://schemas.openxmlformats.org/drawingml/2006/main">
              <a:ext uri="{FF2B5EF4-FFF2-40B4-BE49-F238E27FC236}">
                <a16:creationId xmlns:a16="http://schemas.microsoft.com/office/drawing/2014/main" id="{2D4EBC05-1CE0-46EF-9DBF-13F1E3B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＋ New message</a:t>
            </a:r>
          </a:p>
        </p:txBody>
      </p:sp>
      <p:sp>
        <p:nvSpPr>
          <p:cNvPr id="59" name="messaging-window">
            <a:extLst xmlns:a="http://schemas.openxmlformats.org/drawingml/2006/main">
              <a:ext uri="{FF2B5EF4-FFF2-40B4-BE49-F238E27FC236}">
                <a16:creationId xmlns:a16="http://schemas.microsoft.com/office/drawing/2014/main" id="{EC83BDBA-5B2D-4441-8F52-B1FCDF5ED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9039225" cy="3886200"/>
          </a:xfrm>
          <a:prstGeom xmlns:a="http://schemas.openxmlformats.org/drawingml/2006/main" prst="roundRect">
            <a:avLst>
              <a:gd name="adj" fmla="val 24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0" name="inbox-list">
            <a:extLst xmlns:a="http://schemas.openxmlformats.org/drawingml/2006/main">
              <a:ext uri="{FF2B5EF4-FFF2-40B4-BE49-F238E27FC236}">
                <a16:creationId xmlns:a16="http://schemas.microsoft.com/office/drawing/2014/main" id="{15D048F5-9D16-4727-B96F-25D2C5E4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2628900" cy="3886200"/>
          </a:xfrm>
          <a:prstGeom xmlns:a="http://schemas.openxmlformats.org/drawingml/2006/main" prst="roundRect">
            <a:avLst>
              <a:gd name="adj" fmla="val 3623"/>
            </a:avLst>
          </a:prstGeom>
          <a:solidFill xmlns:a="http://schemas.openxmlformats.org/drawingml/2006/main">
            <a:srgbClr val="FCFD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divider">
            <a:extLst xmlns:a="http://schemas.openxmlformats.org/drawingml/2006/main">
              <a:ext uri="{FF2B5EF4-FFF2-40B4-BE49-F238E27FC236}">
                <a16:creationId xmlns:a16="http://schemas.microsoft.com/office/drawing/2014/main" id="{6DA6AA30-B09C-49DA-AB16-63C45E27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2238375"/>
            <a:ext cx="9525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123A3AE9-D1E9-4495-A954-E533727B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90775"/>
            <a:ext cx="1428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0256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Inbox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54AF8830-0D1B-4ED8-8D50-626592A27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76525"/>
            <a:ext cx="2095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⌕ Search conversations</a:t>
            </a:r>
          </a:p>
        </p:txBody>
      </p:sp>
      <p:sp>
        <p:nvSpPr>
          <p:cNvPr id="64" name="shape">
            <a:extLst xmlns:a="http://schemas.openxmlformats.org/drawingml/2006/main">
              <a:ext uri="{FF2B5EF4-FFF2-40B4-BE49-F238E27FC236}">
                <a16:creationId xmlns:a16="http://schemas.microsoft.com/office/drawing/2014/main" id="{EFED1A64-6D15-4A0F-9594-C732AE83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24574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avatar">
            <a:extLst xmlns:a="http://schemas.openxmlformats.org/drawingml/2006/main">
              <a:ext uri="{FF2B5EF4-FFF2-40B4-BE49-F238E27FC236}">
                <a16:creationId xmlns:a16="http://schemas.microsoft.com/office/drawing/2014/main" id="{00CA0450-1190-4EA9-AD37-184432F2E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4322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D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45AD68A7-2BB2-4259-9183-E55872EF0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028950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8A</a:t>
            </a:r>
          </a:p>
        </p:txBody>
      </p:sp>
      <p:sp>
        <p:nvSpPr>
          <p:cNvPr id="67" name="text">
            <a:extLst xmlns:a="http://schemas.openxmlformats.org/drawingml/2006/main">
              <a:ext uri="{FF2B5EF4-FFF2-40B4-BE49-F238E27FC236}">
                <a16:creationId xmlns:a16="http://schemas.microsoft.com/office/drawing/2014/main" id="{6BB8A318-9F7A-49A1-B531-171D66512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43225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8 families</a:t>
            </a:r>
          </a:p>
        </p:txBody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358910A7-C343-447E-99C2-3345D190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14675"/>
            <a:ext cx="1571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393"/>
          </a:bodyPr>
          <a:lstStyle xmlns:a="http://schemas.openxmlformats.org/drawingml/2006/main"/>
          <a:p xmlns:a="http://schemas.openxmlformats.org/drawingml/2006/main">
            <a:pPr algn="l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Field trip forms are ready…</a:t>
            </a:r>
          </a:p>
        </p:txBody>
      </p:sp>
      <p:sp>
        <p:nvSpPr>
          <p:cNvPr id="69" name="status">
            <a:extLst xmlns:a="http://schemas.openxmlformats.org/drawingml/2006/main">
              <a:ext uri="{FF2B5EF4-FFF2-40B4-BE49-F238E27FC236}">
                <a16:creationId xmlns:a16="http://schemas.microsoft.com/office/drawing/2014/main" id="{2FA041CA-2F61-4025-BB7F-4D8656CE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981325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text">
            <a:extLst xmlns:a="http://schemas.openxmlformats.org/drawingml/2006/main">
              <a:ext uri="{FF2B5EF4-FFF2-40B4-BE49-F238E27FC236}">
                <a16:creationId xmlns:a16="http://schemas.microsoft.com/office/drawing/2014/main" id="{011D9F3E-35CE-4DAF-833A-AC038686E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19425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1" name="avatar">
            <a:extLst xmlns:a="http://schemas.openxmlformats.org/drawingml/2006/main">
              <a:ext uri="{FF2B5EF4-FFF2-40B4-BE49-F238E27FC236}">
                <a16:creationId xmlns:a16="http://schemas.microsoft.com/office/drawing/2014/main" id="{29794379-E62E-4D3D-85CC-5EB35D27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53377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0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B4845ED6-AC63-4CD5-8AD6-F12EC18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619500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272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270"/>
                </a:solidFill>
                <a:latin typeface="Arial"/>
                <a:ea typeface="Arial"/>
                <a:cs typeface="Arial"/>
              </a:rPr>
              <a:t>KR</a:t>
            </a:r>
          </a:p>
        </p:txBody>
      </p:sp>
      <p:sp>
        <p:nvSpPr>
          <p:cNvPr id="73" name="text">
            <a:extLst xmlns:a="http://schemas.openxmlformats.org/drawingml/2006/main">
              <a:ext uri="{FF2B5EF4-FFF2-40B4-BE49-F238E27FC236}">
                <a16:creationId xmlns:a16="http://schemas.microsoft.com/office/drawing/2014/main" id="{7B562B7E-11F2-4AE5-B279-3E2C2917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33775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Kavita Rao · Parent</a:t>
            </a:r>
          </a:p>
        </p:txBody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27F24E76-A428-4EAD-843D-DE93DF93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705225"/>
            <a:ext cx="1571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393"/>
          </a:bodyPr>
          <a:lstStyle xmlns:a="http://schemas.openxmlformats.org/drawingml/2006/main"/>
          <a:p xmlns:a="http://schemas.openxmlformats.org/drawingml/2006/main">
            <a:pPr algn="l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Thank you for the quick update.</a:t>
            </a:r>
          </a:p>
        </p:txBody>
      </p:sp>
      <p:sp>
        <p:nvSpPr>
          <p:cNvPr id="75" name="avatar">
            <a:extLst xmlns:a="http://schemas.openxmlformats.org/drawingml/2006/main">
              <a:ext uri="{FF2B5EF4-FFF2-40B4-BE49-F238E27FC236}">
                <a16:creationId xmlns:a16="http://schemas.microsoft.com/office/drawing/2014/main" id="{BE6ACE85-082B-4627-9166-02D5C9C9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12432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EC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text">
            <a:extLst xmlns:a="http://schemas.openxmlformats.org/drawingml/2006/main">
              <a:ext uri="{FF2B5EF4-FFF2-40B4-BE49-F238E27FC236}">
                <a16:creationId xmlns:a16="http://schemas.microsoft.com/office/drawing/2014/main" id="{12B0976C-1FCB-4CCC-8E2E-4AD05AE2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10050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272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270"/>
                </a:solidFill>
                <a:latin typeface="Arial"/>
                <a:ea typeface="Arial"/>
                <a:cs typeface="Arial"/>
              </a:rPr>
              <a:t>TS</a:t>
            </a:r>
          </a:p>
        </p:txBody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F74E1270-1BAA-4B74-A912-360D40733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124325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Teaching staff</a:t>
            </a:r>
          </a:p>
        </p:txBody>
      </p:sp>
      <p:sp>
        <p:nvSpPr>
          <p:cNvPr id="78" name="text">
            <a:extLst xmlns:a="http://schemas.openxmlformats.org/drawingml/2006/main">
              <a:ext uri="{FF2B5EF4-FFF2-40B4-BE49-F238E27FC236}">
                <a16:creationId xmlns:a16="http://schemas.microsoft.com/office/drawing/2014/main" id="{0D0D0767-6383-4177-BD1B-F54EA90C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295775"/>
            <a:ext cx="1571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393"/>
          </a:bodyPr>
          <a:lstStyle xmlns:a="http://schemas.openxmlformats.org/drawingml/2006/main"/>
          <a:p xmlns:a="http://schemas.openxmlformats.org/drawingml/2006/main">
            <a:pPr algn="l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Reminder: staff meeting at 3:30</a:t>
            </a:r>
          </a:p>
        </p:txBody>
      </p:sp>
      <p:sp>
        <p:nvSpPr>
          <p:cNvPr id="79" name="status">
            <a:extLst xmlns:a="http://schemas.openxmlformats.org/drawingml/2006/main">
              <a:ext uri="{FF2B5EF4-FFF2-40B4-BE49-F238E27FC236}">
                <a16:creationId xmlns:a16="http://schemas.microsoft.com/office/drawing/2014/main" id="{BE99D174-3EBA-4A83-A582-2E2E39E9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62425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text">
            <a:extLst xmlns:a="http://schemas.openxmlformats.org/drawingml/2006/main">
              <a:ext uri="{FF2B5EF4-FFF2-40B4-BE49-F238E27FC236}">
                <a16:creationId xmlns:a16="http://schemas.microsoft.com/office/drawing/2014/main" id="{34F76C77-D77A-4BAE-9BE5-119999D4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200525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1" name="avatar">
            <a:extLst xmlns:a="http://schemas.openxmlformats.org/drawingml/2006/main">
              <a:ext uri="{FF2B5EF4-FFF2-40B4-BE49-F238E27FC236}">
                <a16:creationId xmlns:a16="http://schemas.microsoft.com/office/drawing/2014/main" id="{97DB9177-9939-4836-80C6-EC198E27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71487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5448B8DE-D64E-42E9-9975-CCCFAF4E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800600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272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270"/>
                </a:solidFill>
                <a:latin typeface="Arial"/>
                <a:ea typeface="Arial"/>
                <a:cs typeface="Arial"/>
              </a:rPr>
              <a:t>R4</a:t>
            </a:r>
          </a:p>
        </p:txBody>
      </p:sp>
      <p:sp>
        <p:nvSpPr>
          <p:cNvPr id="83" name="text">
            <a:extLst xmlns:a="http://schemas.openxmlformats.org/drawingml/2006/main">
              <a:ext uri="{FF2B5EF4-FFF2-40B4-BE49-F238E27FC236}">
                <a16:creationId xmlns:a16="http://schemas.microsoft.com/office/drawing/2014/main" id="{96A9723D-7F9E-4057-A436-965AE566C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714875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Transport · Route 04</a:t>
            </a:r>
          </a:p>
        </p:txBody>
      </p:sp>
      <p:sp>
        <p:nvSpPr>
          <p:cNvPr id="84" name="text">
            <a:extLst xmlns:a="http://schemas.openxmlformats.org/drawingml/2006/main">
              <a:ext uri="{FF2B5EF4-FFF2-40B4-BE49-F238E27FC236}">
                <a16:creationId xmlns:a16="http://schemas.microsoft.com/office/drawing/2014/main" id="{50ABC915-C236-4B51-ABFC-1171C816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886325"/>
            <a:ext cx="1571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393"/>
          </a:bodyPr>
          <a:lstStyle xmlns:a="http://schemas.openxmlformats.org/drawingml/2006/main"/>
          <a:p xmlns:a="http://schemas.openxmlformats.org/drawingml/2006/main">
            <a:pPr algn="l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Morning pickup point updated.</a:t>
            </a:r>
          </a:p>
        </p:txBody>
      </p:sp>
      <p:sp>
        <p:nvSpPr>
          <p:cNvPr id="85" name="avatar">
            <a:extLst xmlns:a="http://schemas.openxmlformats.org/drawingml/2006/main">
              <a:ext uri="{FF2B5EF4-FFF2-40B4-BE49-F238E27FC236}">
                <a16:creationId xmlns:a16="http://schemas.microsoft.com/office/drawing/2014/main" id="{51D5495D-B581-4492-983E-48D06797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05425"/>
            <a:ext cx="295275" cy="2952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ext">
            <a:extLst xmlns:a="http://schemas.openxmlformats.org/drawingml/2006/main">
              <a:ext uri="{FF2B5EF4-FFF2-40B4-BE49-F238E27FC236}">
                <a16:creationId xmlns:a16="http://schemas.microsoft.com/office/drawing/2014/main" id="{68CD7C16-3FD0-40A3-99FB-12161B6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5391150"/>
            <a:ext cx="2952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62727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627270"/>
                </a:solidFill>
                <a:latin typeface="Arial"/>
                <a:ea typeface="Arial"/>
                <a:cs typeface="Arial"/>
              </a:rPr>
              <a:t>LW</a:t>
            </a:r>
          </a:p>
        </p:txBody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C60154EA-B60D-4C56-94C1-8E25E0D7E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305425"/>
            <a:ext cx="14763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Library week</a:t>
            </a:r>
          </a:p>
        </p:txBody>
      </p:sp>
      <p:sp>
        <p:nvSpPr>
          <p:cNvPr id="88" name="text">
            <a:extLst xmlns:a="http://schemas.openxmlformats.org/drawingml/2006/main">
              <a:ext uri="{FF2B5EF4-FFF2-40B4-BE49-F238E27FC236}">
                <a16:creationId xmlns:a16="http://schemas.microsoft.com/office/drawing/2014/main" id="{FE6ADD07-18AD-4A57-8DE4-73500D4C0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476875"/>
            <a:ext cx="15716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2393"/>
          </a:bodyPr>
          <a:lstStyle xmlns:a="http://schemas.openxmlformats.org/drawingml/2006/main"/>
          <a:p xmlns:a="http://schemas.openxmlformats.org/drawingml/2006/main">
            <a:pPr algn="l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We’re excited to see you there!</a:t>
            </a:r>
          </a:p>
        </p:txBody>
      </p:sp>
      <p:sp>
        <p:nvSpPr>
          <p:cNvPr id="89" name="text">
            <a:extLst xmlns:a="http://schemas.openxmlformats.org/drawingml/2006/main">
              <a:ext uri="{FF2B5EF4-FFF2-40B4-BE49-F238E27FC236}">
                <a16:creationId xmlns:a16="http://schemas.microsoft.com/office/drawing/2014/main" id="{9A8AA4D3-034F-474A-A4CB-AF236F0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90775"/>
            <a:ext cx="2476500" cy="179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7143"/>
          </a:bodyPr>
          <a:lstStyle xmlns:a="http://schemas.openxmlformats.org/drawingml/2006/main"/>
          <a:p xmlns:a="http://schemas.openxmlformats.org/drawingml/2006/main">
            <a:pPr algn="l">
              <a:defRPr sz="1008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08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Grade 8 families</a:t>
            </a:r>
          </a:p>
        </p:txBody>
      </p:sp>
      <p:sp>
        <p:nvSpPr>
          <p:cNvPr id="90" name="text">
            <a:extLst xmlns:a="http://schemas.openxmlformats.org/drawingml/2006/main">
              <a:ext uri="{FF2B5EF4-FFF2-40B4-BE49-F238E27FC236}">
                <a16:creationId xmlns:a16="http://schemas.microsoft.com/office/drawing/2014/main" id="{7F445D85-5CE3-48A6-9FEA-CA50E8685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0032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Class group · 26 members</a:t>
            </a:r>
          </a:p>
        </p:txBody>
      </p:sp>
      <p:sp>
        <p:nvSpPr>
          <p:cNvPr id="91" name="status">
            <a:extLst xmlns:a="http://schemas.openxmlformats.org/drawingml/2006/main">
              <a:ext uri="{FF2B5EF4-FFF2-40B4-BE49-F238E27FC236}">
                <a16:creationId xmlns:a16="http://schemas.microsoft.com/office/drawing/2014/main" id="{B0FEA45C-35C1-4335-BB55-E670EDA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71725"/>
            <a:ext cx="161925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7D81C44B-B99E-453A-8A9A-6FD04794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9825"/>
            <a:ext cx="16192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PRIVATE SCHOOL SPACE</a:t>
            </a:r>
          </a:p>
        </p:txBody>
      </p:sp>
      <p:sp>
        <p:nvSpPr>
          <p:cNvPr id="93" name="divider">
            <a:extLst xmlns:a="http://schemas.openxmlformats.org/drawingml/2006/main">
              <a:ext uri="{FF2B5EF4-FFF2-40B4-BE49-F238E27FC236}">
                <a16:creationId xmlns:a16="http://schemas.microsoft.com/office/drawing/2014/main" id="{47305CF7-9FE7-4473-8E22-96533880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0350"/>
            <a:ext cx="609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text">
            <a:extLst xmlns:a="http://schemas.openxmlformats.org/drawingml/2006/main">
              <a:ext uri="{FF2B5EF4-FFF2-40B4-BE49-F238E27FC236}">
                <a16:creationId xmlns:a16="http://schemas.microsoft.com/office/drawing/2014/main" id="{67A9186E-A804-471A-929F-D00B4A2D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TODAY · MONDAY, 5 OCTOBER</a:t>
            </a:r>
          </a:p>
        </p:txBody>
      </p:sp>
      <p:sp>
        <p:nvSpPr>
          <p:cNvPr id="95" name="shape">
            <a:extLst xmlns:a="http://schemas.openxmlformats.org/drawingml/2006/main">
              <a:ext uri="{FF2B5EF4-FFF2-40B4-BE49-F238E27FC236}">
                <a16:creationId xmlns:a16="http://schemas.microsoft.com/office/drawing/2014/main" id="{FD6A247E-098A-4F81-9232-8E3E109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05150"/>
            <a:ext cx="3143250" cy="5238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A3F4D3A5-D3F3-4473-8173-2E13C976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3190875"/>
            <a:ext cx="29337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Good morning! The Grade 8 science museum trip forms are ready. Please review and submit by Friday.</a:t>
            </a:r>
          </a:p>
        </p:txBody>
      </p:sp>
      <p:sp>
        <p:nvSpPr>
          <p:cNvPr id="97" name="text">
            <a:extLst xmlns:a="http://schemas.openxmlformats.org/drawingml/2006/main">
              <a:ext uri="{FF2B5EF4-FFF2-40B4-BE49-F238E27FC236}">
                <a16:creationId xmlns:a16="http://schemas.microsoft.com/office/drawing/2014/main" id="{704F9A6B-A6E2-4689-A686-A4482714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67100"/>
            <a:ext cx="2952750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Ms. Priya · 9:15 AM</a:t>
            </a:r>
          </a:p>
        </p:txBody>
      </p:sp>
      <p:sp>
        <p:nvSpPr>
          <p:cNvPr id="98" name="shape">
            <a:extLst xmlns:a="http://schemas.openxmlformats.org/drawingml/2006/main">
              <a:ext uri="{FF2B5EF4-FFF2-40B4-BE49-F238E27FC236}">
                <a16:creationId xmlns:a16="http://schemas.microsoft.com/office/drawing/2014/main" id="{5E80145A-123D-47D8-A14C-CE1CB30D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714750"/>
            <a:ext cx="314325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8F2ED"/>
          </a:solidFill>
          <a:ln xmlns:a="http://schemas.openxmlformats.org/drawingml/2006/main" w="9525">
            <a:solidFill>
              <a:srgbClr val="DDEBE3"/>
            </a:solidFill>
            <a:prstDash val="solid"/>
          </a:ln>
        </p:spPr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1099BB13-B864-4D98-A701-5C4F34A2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2933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15B5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315B50"/>
                </a:solidFill>
                <a:latin typeface="Arial"/>
                <a:ea typeface="Arial"/>
                <a:cs typeface="Arial"/>
              </a:rPr>
              <a:t>Thanks, we’ll get those in this evening.</a:t>
            </a:r>
          </a:p>
        </p:txBody>
      </p:sp>
      <p:sp>
        <p:nvSpPr>
          <p:cNvPr id="100" name="text">
            <a:extLst xmlns:a="http://schemas.openxmlformats.org/drawingml/2006/main">
              <a:ext uri="{FF2B5EF4-FFF2-40B4-BE49-F238E27FC236}">
                <a16:creationId xmlns:a16="http://schemas.microsoft.com/office/drawing/2014/main" id="{2AACC07D-1F81-4FC2-AAB4-8C5544E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52875"/>
            <a:ext cx="2952750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Parent · 9:38 AM</a:t>
            </a:r>
          </a:p>
        </p:txBody>
      </p:sp>
      <p:sp>
        <p:nvSpPr>
          <p:cNvPr id="101" name="shape">
            <a:extLst xmlns:a="http://schemas.openxmlformats.org/drawingml/2006/main">
              <a:ext uri="{FF2B5EF4-FFF2-40B4-BE49-F238E27FC236}">
                <a16:creationId xmlns:a16="http://schemas.microsoft.com/office/drawing/2014/main" id="{589A0C64-03A0-4D08-9B49-A134F178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3476625" cy="619125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AE04C6D7-1AC4-4E9B-8417-5A26FC8E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295775"/>
            <a:ext cx="32670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Wonderful, thank you! The trip details and permission form are in the class resources.</a:t>
            </a:r>
          </a:p>
        </p:txBody>
      </p:sp>
      <p:sp>
        <p:nvSpPr>
          <p:cNvPr id="103" name="text">
            <a:extLst xmlns:a="http://schemas.openxmlformats.org/drawingml/2006/main">
              <a:ext uri="{FF2B5EF4-FFF2-40B4-BE49-F238E27FC236}">
                <a16:creationId xmlns:a16="http://schemas.microsoft.com/office/drawing/2014/main" id="{B5EEA3EA-DDA9-437F-A34A-1AF7FCF0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67250"/>
            <a:ext cx="3286125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Ms. Priya · 9:44 AM</a:t>
            </a:r>
          </a:p>
        </p:txBody>
      </p:sp>
      <p:sp>
        <p:nvSpPr>
          <p:cNvPr id="104" name="shape">
            <a:extLst xmlns:a="http://schemas.openxmlformats.org/drawingml/2006/main">
              <a:ext uri="{FF2B5EF4-FFF2-40B4-BE49-F238E27FC236}">
                <a16:creationId xmlns:a16="http://schemas.microsoft.com/office/drawing/2014/main" id="{3427AE3E-85D7-4C4C-AF08-0924C129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14900"/>
            <a:ext cx="2905125" cy="409575"/>
          </a:xfrm>
          <a:prstGeom xmlns:a="http://schemas.openxmlformats.org/drawingml/2006/main" prst="roundRect">
            <a:avLst>
              <a:gd name="adj" fmla="val 23256"/>
            </a:avLst>
          </a:prstGeom>
          <a:solidFill xmlns:a="http://schemas.openxmlformats.org/drawingml/2006/main">
            <a:srgbClr val="E8F2ED"/>
          </a:solidFill>
          <a:ln xmlns:a="http://schemas.openxmlformats.org/drawingml/2006/main" w="9525">
            <a:solidFill>
              <a:srgbClr val="DDEBE3"/>
            </a:solidFill>
            <a:prstDash val="solid"/>
          </a:ln>
        </p:spPr>
      </p:sp>
      <p:sp>
        <p:nvSpPr>
          <p:cNvPr id="105" name="text">
            <a:extLst xmlns:a="http://schemas.openxmlformats.org/drawingml/2006/main">
              <a:ext uri="{FF2B5EF4-FFF2-40B4-BE49-F238E27FC236}">
                <a16:creationId xmlns:a16="http://schemas.microsoft.com/office/drawing/2014/main" id="{C900703A-EAE8-44FE-9F62-1ED8A0E3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00625"/>
            <a:ext cx="26955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333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315B50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315B50"/>
                </a:solidFill>
                <a:latin typeface="Arial"/>
                <a:ea typeface="Arial"/>
                <a:cs typeface="Arial"/>
              </a:rPr>
              <a:t>Is the bus leaving from the main gate?</a:t>
            </a:r>
          </a:p>
        </p:txBody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AE4F543F-F0D3-4D30-932C-51386A77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162550"/>
            <a:ext cx="2714625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Ananya · 10:31 AM</a:t>
            </a:r>
          </a:p>
        </p:txBody>
      </p:sp>
      <p:sp>
        <p:nvSpPr>
          <p:cNvPr id="107" name="shape">
            <a:extLst xmlns:a="http://schemas.openxmlformats.org/drawingml/2006/main">
              <a:ext uri="{FF2B5EF4-FFF2-40B4-BE49-F238E27FC236}">
                <a16:creationId xmlns:a16="http://schemas.microsoft.com/office/drawing/2014/main" id="{E6B38C29-C1FB-46FA-BB30-9C541510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381625"/>
            <a:ext cx="3333750" cy="42862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08" name="text">
            <a:extLst xmlns:a="http://schemas.openxmlformats.org/drawingml/2006/main">
              <a:ext uri="{FF2B5EF4-FFF2-40B4-BE49-F238E27FC236}">
                <a16:creationId xmlns:a16="http://schemas.microsoft.com/office/drawing/2014/main" id="{243F40DA-5E33-4080-BCFC-396622E6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467350"/>
            <a:ext cx="31242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Yes, pickup is at the main gate at 8:15 AM Friday.</a:t>
            </a:r>
          </a:p>
        </p:txBody>
      </p:sp>
      <p:sp>
        <p:nvSpPr>
          <p:cNvPr id="109" name="text">
            <a:extLst xmlns:a="http://schemas.openxmlformats.org/drawingml/2006/main">
              <a:ext uri="{FF2B5EF4-FFF2-40B4-BE49-F238E27FC236}">
                <a16:creationId xmlns:a16="http://schemas.microsoft.com/office/drawing/2014/main" id="{72E87D42-CBFB-4600-BC07-35FB4370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48325"/>
            <a:ext cx="3143250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656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Parent · 10:42 AM</a:t>
            </a:r>
          </a:p>
        </p:txBody>
      </p:sp>
      <p:sp>
        <p:nvSpPr>
          <p:cNvPr id="110" name="shape">
            <a:extLst xmlns:a="http://schemas.openxmlformats.org/drawingml/2006/main">
              <a:ext uri="{FF2B5EF4-FFF2-40B4-BE49-F238E27FC236}">
                <a16:creationId xmlns:a16="http://schemas.microsoft.com/office/drawing/2014/main" id="{ADF6B783-13C4-461E-8AF9-A082F159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886450"/>
            <a:ext cx="5857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text">
            <a:extLst xmlns:a="http://schemas.openxmlformats.org/drawingml/2006/main">
              <a:ext uri="{FF2B5EF4-FFF2-40B4-BE49-F238E27FC236}">
                <a16:creationId xmlns:a16="http://schemas.microsoft.com/office/drawing/2014/main" id="{D214F152-2A65-413C-8C4C-9164AB153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5962650"/>
            <a:ext cx="419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Write a private message…</a:t>
            </a:r>
          </a:p>
        </p:txBody>
      </p:sp>
      <p:sp>
        <p:nvSpPr>
          <p:cNvPr id="112" name="shape">
            <a:extLst xmlns:a="http://schemas.openxmlformats.org/drawingml/2006/main">
              <a:ext uri="{FF2B5EF4-FFF2-40B4-BE49-F238E27FC236}">
                <a16:creationId xmlns:a16="http://schemas.microsoft.com/office/drawing/2014/main" id="{40ED5D6D-3971-4984-BEFF-253998AC1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915025"/>
            <a:ext cx="400050" cy="219075"/>
          </a:xfrm>
          <a:prstGeom xmlns:a="http://schemas.openxmlformats.org/drawingml/2006/main" prst="roundRect">
            <a:avLst>
              <a:gd name="adj" fmla="val 30435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text">
            <a:extLst xmlns:a="http://schemas.openxmlformats.org/drawingml/2006/main">
              <a:ext uri="{FF2B5EF4-FFF2-40B4-BE49-F238E27FC236}">
                <a16:creationId xmlns:a16="http://schemas.microsoft.com/office/drawing/2014/main" id="{F4829177-A15F-4632-907B-1FE098C4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5972175"/>
            <a:ext cx="4000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Send</a:t>
            </a:r>
          </a:p>
        </p:txBody>
      </p:sp>
    </p:spTree>
    <p:extLst>
      <p:ext uri="{BB962C8B-B14F-4D97-AF65-F5344CB8AC3E}">
        <p14:creationId xmlns:p14="http://schemas.microsoft.com/office/powerpoint/2010/main" val="57400282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text">
            <a:extLst xmlns:a="http://schemas.openxmlformats.org/drawingml/2006/main">
              <a:ext uri="{FF2B5EF4-FFF2-40B4-BE49-F238E27FC236}">
                <a16:creationId xmlns:a16="http://schemas.microsoft.com/office/drawing/2014/main" id="{17BF408C-B2F8-4C2A-AA48-5681C84D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810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CAMPUSLY  /  SCHOOL MANAGEMENT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C275F0A0-048A-4758-8CF8-AE4E6050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1475"/>
            <a:ext cx="952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10  Profile &amp; privacy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15BF5A0-DC40-4007-8554-52238ACF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714375"/>
            <a:ext cx="106680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0684"/>
          </a:bodyPr>
          <a:lstStyle xmlns:a="http://schemas.openxmlformats.org/drawingml/2006/main"/>
          <a:p xmlns:a="http://schemas.openxmlformats.org/drawingml/2006/main">
            <a:pPr algn="l">
              <a:defRPr sz="1008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1008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Finish with account controls that keep personal contact details within the school space.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861EE6B-212C-40E1-B69E-A23AE56C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591300"/>
            <a:ext cx="666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10 / 10</a:t>
            </a:r>
          </a:p>
        </p:txBody>
      </p:sp>
      <p:sp>
        <p:nvSpPr>
          <p:cNvPr id="5" name="app-window">
            <a:extLst xmlns:a="http://schemas.openxmlformats.org/drawingml/2006/main">
              <a:ext uri="{FF2B5EF4-FFF2-40B4-BE49-F238E27FC236}">
                <a16:creationId xmlns:a16="http://schemas.microsoft.com/office/drawing/2014/main" id="{E224B7C4-2327-4E4A-B2C1-09460C2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5267325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18606D8D-DD05-45AE-8240-15F785E2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714500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-bar">
            <a:extLst xmlns:a="http://schemas.openxmlformats.org/drawingml/2006/main">
              <a:ext uri="{FF2B5EF4-FFF2-40B4-BE49-F238E27FC236}">
                <a16:creationId xmlns:a16="http://schemas.microsoft.com/office/drawing/2014/main" id="{C9E8C0CD-EB4B-48FF-A3D9-F29CE2AF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76325"/>
            <a:ext cx="1123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72586516-9BEB-4D9A-8FDF-6E260AAE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668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ivider">
            <a:extLst xmlns:a="http://schemas.openxmlformats.org/drawingml/2006/main">
              <a:ext uri="{FF2B5EF4-FFF2-40B4-BE49-F238E27FC236}">
                <a16:creationId xmlns:a16="http://schemas.microsoft.com/office/drawing/2014/main" id="{D8944DAA-6CF0-4758-BE75-6E3CC7BB7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076325"/>
            <a:ext cx="9525" cy="526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brand-icon">
            <a:extLst xmlns:a="http://schemas.openxmlformats.org/drawingml/2006/main">
              <a:ext uri="{FF2B5EF4-FFF2-40B4-BE49-F238E27FC236}">
                <a16:creationId xmlns:a16="http://schemas.microsoft.com/office/drawing/2014/main" id="{404465A1-FD45-4B29-9D8E-6E70AD053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266700" cy="266700"/>
          </a:xfrm>
          <a:prstGeom xmlns:a="http://schemas.openxmlformats.org/drawingml/2006/main" prst="roundRect">
            <a:avLst>
              <a:gd name="adj" fmla="val 32143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FA09269C-A00C-4E67-AD93-83055BA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266700" cy="213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ECA9BA6-AC06-485F-ACAB-6CBFFA9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22872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Campusly</a:t>
            </a:r>
          </a:p>
        </p:txBody>
      </p:sp>
      <p:sp>
        <p:nvSpPr>
          <p:cNvPr id="13" name="school-switcher">
            <a:extLst xmlns:a="http://schemas.openxmlformats.org/drawingml/2006/main">
              <a:ext uri="{FF2B5EF4-FFF2-40B4-BE49-F238E27FC236}">
                <a16:creationId xmlns:a16="http://schemas.microsoft.com/office/drawing/2014/main" id="{B650AB65-6717-4763-8FEF-087F29BF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438275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14" name="avatar">
            <a:extLst xmlns:a="http://schemas.openxmlformats.org/drawingml/2006/main">
              <a:ext uri="{FF2B5EF4-FFF2-40B4-BE49-F238E27FC236}">
                <a16:creationId xmlns:a16="http://schemas.microsoft.com/office/drawing/2014/main" id="{6B657618-4A7F-46BF-9DED-3B14C5DF6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66875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E9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A968C604-89EE-42E7-9174-6BCC0EE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714500"/>
            <a:ext cx="228600" cy="1493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238"/>
          </a:bodyPr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8C6838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8C6838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9EA787F-6F76-45D9-97A9-5F09BAAB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647825"/>
            <a:ext cx="9906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F7BA159C-4849-498E-9F64-C40EA22E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1790700"/>
            <a:ext cx="990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workspace  ▾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AB5B1B5A-D382-42CF-B21B-14B82BE21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3360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112B54AC-69DF-4B9B-953D-6A846BA7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352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⌂</a:t>
            </a:r>
          </a:p>
        </p:txBody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32CD8056-38F9-459D-A42A-74CC1F6B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71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21" name="text">
            <a:extLst xmlns:a="http://schemas.openxmlformats.org/drawingml/2006/main">
              <a:ext uri="{FF2B5EF4-FFF2-40B4-BE49-F238E27FC236}">
                <a16:creationId xmlns:a16="http://schemas.microsoft.com/office/drawing/2014/main" id="{55E268E4-ACB6-4B79-B26B-B841E0F1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657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▦</a:t>
            </a:r>
          </a:p>
        </p:txBody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7FD6169-365F-4907-9C48-4D5111B3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76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Academics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08A5C890-6AFE-4D2F-9674-23B424A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962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◷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1C8A4162-5E7B-4A32-9983-106CAE67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81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Attendance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CD6DF49C-813C-4335-8C2D-0C7826BE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2670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♧</a:t>
            </a:r>
          </a:p>
        </p:txBody>
      </p:sp>
      <p:sp>
        <p:nvSpPr>
          <p:cNvPr id="26" name="text">
            <a:extLst xmlns:a="http://schemas.openxmlformats.org/drawingml/2006/main">
              <a:ext uri="{FF2B5EF4-FFF2-40B4-BE49-F238E27FC236}">
                <a16:creationId xmlns:a16="http://schemas.microsoft.com/office/drawing/2014/main" id="{BD5BDB7A-01A6-4A1C-A535-1CC0CA08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861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People</a:t>
            </a:r>
          </a:p>
        </p:txBody>
      </p:sp>
      <p:sp>
        <p:nvSpPr>
          <p:cNvPr id="27" name="text">
            <a:extLst xmlns:a="http://schemas.openxmlformats.org/drawingml/2006/main">
              <a:ext uri="{FF2B5EF4-FFF2-40B4-BE49-F238E27FC236}">
                <a16:creationId xmlns:a16="http://schemas.microsoft.com/office/drawing/2014/main" id="{69F0A10C-5E5F-4355-BB05-73261C6A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718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₹</a:t>
            </a:r>
          </a:p>
        </p:txBody>
      </p:sp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67A524C0-6B1F-4B61-A94D-13FA557B8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909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Fees &amp; payments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55ACC98A-B65D-4F7E-9793-5C35E28D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00A7581-4407-4872-BF14-DECB8941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Transport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CE394EE-1840-4A80-92E2-63DBC578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814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▤</a:t>
            </a:r>
          </a:p>
        </p:txBody>
      </p:sp>
      <p:sp>
        <p:nvSpPr>
          <p:cNvPr id="32" name="text">
            <a:extLst xmlns:a="http://schemas.openxmlformats.org/drawingml/2006/main">
              <a:ext uri="{FF2B5EF4-FFF2-40B4-BE49-F238E27FC236}">
                <a16:creationId xmlns:a16="http://schemas.microsoft.com/office/drawing/2014/main" id="{4B7F4F75-9D3E-45B6-BD08-7063050E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005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Library &amp; campus</a:t>
            </a:r>
          </a:p>
        </p:txBody>
      </p:sp>
      <p:sp>
        <p:nvSpPr>
          <p:cNvPr id="33" name="text">
            <a:extLst xmlns:a="http://schemas.openxmlformats.org/drawingml/2006/main">
              <a:ext uri="{FF2B5EF4-FFF2-40B4-BE49-F238E27FC236}">
                <a16:creationId xmlns:a16="http://schemas.microsoft.com/office/drawing/2014/main" id="{C36DE050-93E0-4240-A47B-A4652653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486275"/>
            <a:ext cx="161925" cy="1733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✉</a:t>
            </a:r>
          </a:p>
        </p:txBody>
      </p:sp>
      <p:sp>
        <p:nvSpPr>
          <p:cNvPr id="34" name="text">
            <a:extLst xmlns:a="http://schemas.openxmlformats.org/drawingml/2006/main">
              <a:ext uri="{FF2B5EF4-FFF2-40B4-BE49-F238E27FC236}">
                <a16:creationId xmlns:a16="http://schemas.microsoft.com/office/drawing/2014/main" id="{27C4DEAF-9CE8-4F59-9653-53443721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05325"/>
            <a:ext cx="1047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61726D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61726D"/>
                </a:solidFill>
                <a:latin typeface="Arial"/>
                <a:ea typeface="Arial"/>
                <a:cs typeface="Arial"/>
              </a:rPr>
              <a:t>Messages</a:t>
            </a:r>
          </a:p>
        </p:txBody>
      </p:sp>
      <p:sp>
        <p:nvSpPr>
          <p:cNvPr id="35" name="status">
            <a:extLst xmlns:a="http://schemas.openxmlformats.org/drawingml/2006/main">
              <a:ext uri="{FF2B5EF4-FFF2-40B4-BE49-F238E27FC236}">
                <a16:creationId xmlns:a16="http://schemas.microsoft.com/office/drawing/2014/main" id="{68A4C8D4-DB25-4564-85DC-22D3C15B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1905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783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ext">
            <a:extLst xmlns:a="http://schemas.openxmlformats.org/drawingml/2006/main">
              <a:ext uri="{FF2B5EF4-FFF2-40B4-BE49-F238E27FC236}">
                <a16:creationId xmlns:a16="http://schemas.microsoft.com/office/drawing/2014/main" id="{DE34EABF-C8EB-49F1-A67B-48F7DD56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90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1903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7" name="divider">
            <a:extLst xmlns:a="http://schemas.openxmlformats.org/drawingml/2006/main">
              <a:ext uri="{FF2B5EF4-FFF2-40B4-BE49-F238E27FC236}">
                <a16:creationId xmlns:a16="http://schemas.microsoft.com/office/drawing/2014/main" id="{AD1E3889-0305-4B33-A073-706F850B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">
            <a:extLst xmlns:a="http://schemas.openxmlformats.org/drawingml/2006/main">
              <a:ext uri="{FF2B5EF4-FFF2-40B4-BE49-F238E27FC236}">
                <a16:creationId xmlns:a16="http://schemas.microsoft.com/office/drawing/2014/main" id="{9958CD51-69D0-49F9-83A8-8DCDF7CA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962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AA7A2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AA7A2"/>
                </a:solidFill>
                <a:latin typeface="Arial"/>
                <a:ea typeface="Arial"/>
                <a:cs typeface="Arial"/>
              </a:rPr>
              <a:t>NEED A HAND?</a:t>
            </a:r>
          </a:p>
        </p:txBody>
      </p:sp>
      <p:sp>
        <p:nvSpPr>
          <p:cNvPr id="39" name="text">
            <a:extLst xmlns:a="http://schemas.openxmlformats.org/drawingml/2006/main">
              <a:ext uri="{FF2B5EF4-FFF2-40B4-BE49-F238E27FC236}">
                <a16:creationId xmlns:a16="http://schemas.microsoft.com/office/drawing/2014/main" id="{2FB05AFF-CCFD-4D3C-93F6-9DD81D175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153025"/>
            <a:ext cx="1238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Help &amp; support</a:t>
            </a:r>
          </a:p>
        </p:txBody>
      </p:sp>
      <p:sp>
        <p:nvSpPr>
          <p:cNvPr id="40" name="divider">
            <a:extLst xmlns:a="http://schemas.openxmlformats.org/drawingml/2006/main">
              <a:ext uri="{FF2B5EF4-FFF2-40B4-BE49-F238E27FC236}">
                <a16:creationId xmlns:a16="http://schemas.microsoft.com/office/drawing/2014/main" id="{B5232CBA-1037-4483-9CCA-697A6A372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4382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avatar">
            <a:extLst xmlns:a="http://schemas.openxmlformats.org/drawingml/2006/main">
              <a:ext uri="{FF2B5EF4-FFF2-40B4-BE49-F238E27FC236}">
                <a16:creationId xmlns:a16="http://schemas.microsoft.com/office/drawing/2014/main" id="{8A52BA6E-7D27-44B6-A659-D0B61CE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29275"/>
            <a:ext cx="266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">
            <a:extLst xmlns:a="http://schemas.openxmlformats.org/drawingml/2006/main">
              <a:ext uri="{FF2B5EF4-FFF2-40B4-BE49-F238E27FC236}">
                <a16:creationId xmlns:a16="http://schemas.microsoft.com/office/drawing/2014/main" id="{C503CB8E-877B-4CD7-9CB3-B8A30674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05475"/>
            <a:ext cx="2667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43" name="text">
            <a:extLst xmlns:a="http://schemas.openxmlformats.org/drawingml/2006/main">
              <a:ext uri="{FF2B5EF4-FFF2-40B4-BE49-F238E27FC236}">
                <a16:creationId xmlns:a16="http://schemas.microsoft.com/office/drawing/2014/main" id="{66539D3D-0225-4377-9765-9A86212D2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648325"/>
            <a:ext cx="952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44" name="text">
            <a:extLst xmlns:a="http://schemas.openxmlformats.org/drawingml/2006/main">
              <a:ext uri="{FF2B5EF4-FFF2-40B4-BE49-F238E27FC236}">
                <a16:creationId xmlns:a16="http://schemas.microsoft.com/office/drawing/2014/main" id="{0083826A-54C2-4C6D-A63C-B0A466DF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5781675"/>
            <a:ext cx="1047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45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57107FE3-F96B-4E3C-8D94-9B1E7888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476375"/>
            <a:ext cx="9525000" cy="486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">
            <a:extLst xmlns:a="http://schemas.openxmlformats.org/drawingml/2006/main">
              <a:ext uri="{FF2B5EF4-FFF2-40B4-BE49-F238E27FC236}">
                <a16:creationId xmlns:a16="http://schemas.microsoft.com/office/drawing/2014/main" id="{DE526658-C027-4576-80EC-A907004D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219200"/>
            <a:ext cx="1857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7014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7" name="search">
            <a:extLst xmlns:a="http://schemas.openxmlformats.org/drawingml/2006/main">
              <a:ext uri="{FF2B5EF4-FFF2-40B4-BE49-F238E27FC236}">
                <a16:creationId xmlns:a16="http://schemas.microsoft.com/office/drawing/2014/main" id="{41BDC01C-A73D-4E3E-933D-CE5E57CE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171575"/>
            <a:ext cx="2000250" cy="257175"/>
          </a:xfrm>
          <a:prstGeom xmlns:a="http://schemas.openxmlformats.org/drawingml/2006/main" prst="roundRect">
            <a:avLst>
              <a:gd name="adj" fmla="val 25926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48" name="text">
            <a:extLst xmlns:a="http://schemas.openxmlformats.org/drawingml/2006/main">
              <a:ext uri="{FF2B5EF4-FFF2-40B4-BE49-F238E27FC236}">
                <a16:creationId xmlns:a16="http://schemas.microsoft.com/office/drawing/2014/main" id="{75744299-619D-4558-B8CE-6E0B214D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238250"/>
            <a:ext cx="176212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8C9994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8C9994"/>
                </a:solidFill>
                <a:latin typeface="Arial"/>
                <a:ea typeface="Arial"/>
                <a:cs typeface="Arial"/>
              </a:rPr>
              <a:t>⌕  Search anything</a:t>
            </a:r>
          </a:p>
        </p:txBody>
      </p:sp>
      <p:sp>
        <p:nvSpPr>
          <p:cNvPr id="49" name="avatar">
            <a:extLst xmlns:a="http://schemas.openxmlformats.org/drawingml/2006/main">
              <a:ext uri="{FF2B5EF4-FFF2-40B4-BE49-F238E27FC236}">
                <a16:creationId xmlns:a16="http://schemas.microsoft.com/office/drawing/2014/main" id="{3810737B-855E-4CC5-A352-44A02758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181100"/>
            <a:ext cx="2286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text">
            <a:extLst xmlns:a="http://schemas.openxmlformats.org/drawingml/2006/main">
              <a:ext uri="{FF2B5EF4-FFF2-40B4-BE49-F238E27FC236}">
                <a16:creationId xmlns:a16="http://schemas.microsoft.com/office/drawing/2014/main" id="{2713D9CD-D34F-4539-B6E3-005AB692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238250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3655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51" name="text">
            <a:extLst xmlns:a="http://schemas.openxmlformats.org/drawingml/2006/main">
              <a:ext uri="{FF2B5EF4-FFF2-40B4-BE49-F238E27FC236}">
                <a16:creationId xmlns:a16="http://schemas.microsoft.com/office/drawing/2014/main" id="{AE2185D7-D431-401C-906B-484E99E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1247775"/>
            <a:ext cx="6858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r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 ▾</a:t>
            </a:r>
          </a:p>
        </p:txBody>
      </p:sp>
      <p:sp>
        <p:nvSpPr>
          <p:cNvPr id="52" name="text">
            <a:extLst xmlns:a="http://schemas.openxmlformats.org/drawingml/2006/main">
              <a:ext uri="{FF2B5EF4-FFF2-40B4-BE49-F238E27FC236}">
                <a16:creationId xmlns:a16="http://schemas.microsoft.com/office/drawing/2014/main" id="{132F1C8F-B01F-4645-8E9D-83302328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1238250"/>
            <a:ext cx="161925" cy="1642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24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924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◉</a:t>
            </a:r>
          </a:p>
        </p:txBody>
      </p:sp>
      <p:sp>
        <p:nvSpPr>
          <p:cNvPr id="53" name="text">
            <a:extLst xmlns:a="http://schemas.openxmlformats.org/drawingml/2006/main">
              <a:ext uri="{FF2B5EF4-FFF2-40B4-BE49-F238E27FC236}">
                <a16:creationId xmlns:a16="http://schemas.microsoft.com/office/drawing/2014/main" id="{57D92FDE-7A00-407A-A418-62E143722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628775"/>
            <a:ext cx="5715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YOUR ACCOUNT</a:t>
            </a:r>
          </a:p>
        </p:txBody>
      </p:sp>
      <p:sp>
        <p:nvSpPr>
          <p:cNvPr id="54" name="text">
            <a:extLst xmlns:a="http://schemas.openxmlformats.org/drawingml/2006/main">
              <a:ext uri="{FF2B5EF4-FFF2-40B4-BE49-F238E27FC236}">
                <a16:creationId xmlns:a16="http://schemas.microsoft.com/office/drawing/2014/main" id="{A3A62B40-18A0-45EB-AF8B-AC08CF2AC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1781175"/>
            <a:ext cx="5905500" cy="280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Profile &amp; privacy</a:t>
            </a:r>
          </a:p>
        </p:txBody>
      </p:sp>
      <p:sp>
        <p:nvSpPr>
          <p:cNvPr id="55" name="text">
            <a:extLst xmlns:a="http://schemas.openxmlformats.org/drawingml/2006/main">
              <a:ext uri="{FF2B5EF4-FFF2-40B4-BE49-F238E27FC236}">
                <a16:creationId xmlns:a16="http://schemas.microsoft.com/office/drawing/2014/main" id="{10503ED5-2F9E-47B8-B4F9-4A46FE29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2057400"/>
            <a:ext cx="6191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393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Manage account access, alerts and school directory visibility.</a:t>
            </a:r>
          </a:p>
        </p:txBody>
      </p:sp>
      <p:sp>
        <p:nvSpPr>
          <p:cNvPr id="56" name="primary-action">
            <a:extLst xmlns:a="http://schemas.openxmlformats.org/drawingml/2006/main">
              <a:ext uri="{FF2B5EF4-FFF2-40B4-BE49-F238E27FC236}">
                <a16:creationId xmlns:a16="http://schemas.microsoft.com/office/drawing/2014/main" id="{AB495284-ACF8-44D3-B13A-E2526A9D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1743075"/>
            <a:ext cx="113347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ext">
            <a:extLst xmlns:a="http://schemas.openxmlformats.org/drawingml/2006/main">
              <a:ext uri="{FF2B5EF4-FFF2-40B4-BE49-F238E27FC236}">
                <a16:creationId xmlns:a16="http://schemas.microsoft.com/office/drawing/2014/main" id="{9D6BD75D-2063-4242-BFD1-7A3AC6E6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819275"/>
            <a:ext cx="1095375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changes</a:t>
            </a:r>
          </a:p>
        </p:txBody>
      </p:sp>
      <p:sp>
        <p:nvSpPr>
          <p:cNvPr id="58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3DB2A88-9155-44BA-8394-D20AD57E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38375"/>
            <a:ext cx="3571875" cy="3886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59" name="text">
            <a:extLst xmlns:a="http://schemas.openxmlformats.org/drawingml/2006/main">
              <a:ext uri="{FF2B5EF4-FFF2-40B4-BE49-F238E27FC236}">
                <a16:creationId xmlns:a16="http://schemas.microsoft.com/office/drawing/2014/main" id="{D848A2D4-EE5D-453C-8C6A-788854D8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52675"/>
            <a:ext cx="3305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Your profile</a:t>
            </a:r>
          </a:p>
        </p:txBody>
      </p:sp>
      <p:sp>
        <p:nvSpPr>
          <p:cNvPr id="60" name="text">
            <a:extLst xmlns:a="http://schemas.openxmlformats.org/drawingml/2006/main">
              <a:ext uri="{FF2B5EF4-FFF2-40B4-BE49-F238E27FC236}">
                <a16:creationId xmlns:a16="http://schemas.microsoft.com/office/drawing/2014/main" id="{5DDCD5B7-1BC1-4C73-8376-827673C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514600"/>
            <a:ext cx="330517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61" name="avatar">
            <a:extLst xmlns:a="http://schemas.openxmlformats.org/drawingml/2006/main">
              <a:ext uri="{FF2B5EF4-FFF2-40B4-BE49-F238E27FC236}">
                <a16:creationId xmlns:a16="http://schemas.microsoft.com/office/drawing/2014/main" id="{BED03D06-214A-49ED-9357-2E07AE5D4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098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DC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text">
            <a:extLst xmlns:a="http://schemas.openxmlformats.org/drawingml/2006/main">
              <a:ext uri="{FF2B5EF4-FFF2-40B4-BE49-F238E27FC236}">
                <a16:creationId xmlns:a16="http://schemas.microsoft.com/office/drawing/2014/main" id="{F234D988-8773-4620-BA49-2B1326C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81300"/>
            <a:ext cx="514350" cy="1866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5952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151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815147"/>
                </a:solidFill>
                <a:latin typeface="Arial"/>
                <a:ea typeface="Arial"/>
                <a:cs typeface="Arial"/>
              </a:rPr>
              <a:t>AP</a:t>
            </a:r>
          </a:p>
        </p:txBody>
      </p:sp>
      <p:sp>
        <p:nvSpPr>
          <p:cNvPr id="63" name="text">
            <a:extLst xmlns:a="http://schemas.openxmlformats.org/drawingml/2006/main">
              <a:ext uri="{FF2B5EF4-FFF2-40B4-BE49-F238E27FC236}">
                <a16:creationId xmlns:a16="http://schemas.microsoft.com/office/drawing/2014/main" id="{85CBB496-4A6C-4492-897C-C03C6497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67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 Patel</a:t>
            </a:r>
          </a:p>
        </p:txBody>
      </p:sp>
      <p:sp>
        <p:nvSpPr>
          <p:cNvPr id="64" name="text">
            <a:extLst xmlns:a="http://schemas.openxmlformats.org/drawingml/2006/main">
              <a:ext uri="{FF2B5EF4-FFF2-40B4-BE49-F238E27FC236}">
                <a16:creationId xmlns:a16="http://schemas.microsoft.com/office/drawing/2014/main" id="{C88798C8-0B51-4FF3-B9C3-720CB80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86075"/>
            <a:ext cx="2381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administrator · Northfield Academy</a:t>
            </a:r>
          </a:p>
        </p:txBody>
      </p:sp>
      <p:sp>
        <p:nvSpPr>
          <p:cNvPr id="65" name="divider">
            <a:extLst xmlns:a="http://schemas.openxmlformats.org/drawingml/2006/main">
              <a:ext uri="{FF2B5EF4-FFF2-40B4-BE49-F238E27FC236}">
                <a16:creationId xmlns:a16="http://schemas.microsoft.com/office/drawing/2014/main" id="{40F71C55-F834-41E6-8CD1-F95AB448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76600"/>
            <a:ext cx="3190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text">
            <a:extLst xmlns:a="http://schemas.openxmlformats.org/drawingml/2006/main">
              <a:ext uri="{FF2B5EF4-FFF2-40B4-BE49-F238E27FC236}">
                <a16:creationId xmlns:a16="http://schemas.microsoft.com/office/drawing/2014/main" id="{9ADE90A0-1AE0-4F3C-8347-8BDECDC7E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4766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 email</a:t>
            </a:r>
          </a:p>
        </p:txBody>
      </p:sp>
      <p:sp>
        <p:nvSpPr>
          <p:cNvPr id="67" name="shape">
            <a:extLst xmlns:a="http://schemas.openxmlformats.org/drawingml/2006/main">
              <a:ext uri="{FF2B5EF4-FFF2-40B4-BE49-F238E27FC236}">
                <a16:creationId xmlns:a16="http://schemas.microsoft.com/office/drawing/2014/main" id="{293A5B8C-75FB-4621-8FB9-FCE5A9F3C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638550"/>
            <a:ext cx="31813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68" name="text">
            <a:extLst xmlns:a="http://schemas.openxmlformats.org/drawingml/2006/main">
              <a:ext uri="{FF2B5EF4-FFF2-40B4-BE49-F238E27FC236}">
                <a16:creationId xmlns:a16="http://schemas.microsoft.com/office/drawing/2014/main" id="{6AD84C85-8782-4C8D-B3A1-F8E740FD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714750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ananya@northfield.edu</a:t>
            </a:r>
          </a:p>
        </p:txBody>
      </p:sp>
      <p:sp>
        <p:nvSpPr>
          <p:cNvPr id="69" name="text">
            <a:extLst xmlns:a="http://schemas.openxmlformats.org/drawingml/2006/main">
              <a:ext uri="{FF2B5EF4-FFF2-40B4-BE49-F238E27FC236}">
                <a16:creationId xmlns:a16="http://schemas.microsoft.com/office/drawing/2014/main" id="{A76CBBAF-D9C7-4887-B3CE-92920DB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2907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Role</a:t>
            </a:r>
          </a:p>
        </p:txBody>
      </p:sp>
      <p:sp>
        <p:nvSpPr>
          <p:cNvPr id="70" name="shape">
            <a:extLst xmlns:a="http://schemas.openxmlformats.org/drawingml/2006/main">
              <a:ext uri="{FF2B5EF4-FFF2-40B4-BE49-F238E27FC236}">
                <a16:creationId xmlns:a16="http://schemas.microsoft.com/office/drawing/2014/main" id="{D5F60356-B321-4DF5-92B2-E1BAD4A8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91000"/>
            <a:ext cx="31813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1" name="text">
            <a:extLst xmlns:a="http://schemas.openxmlformats.org/drawingml/2006/main">
              <a:ext uri="{FF2B5EF4-FFF2-40B4-BE49-F238E27FC236}">
                <a16:creationId xmlns:a16="http://schemas.microsoft.com/office/drawing/2014/main" id="{55C943C5-8302-411E-9A7E-0965C2ED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267200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School administrator</a:t>
            </a:r>
          </a:p>
        </p:txBody>
      </p:sp>
      <p:sp>
        <p:nvSpPr>
          <p:cNvPr id="72" name="text">
            <a:extLst xmlns:a="http://schemas.openxmlformats.org/drawingml/2006/main">
              <a:ext uri="{FF2B5EF4-FFF2-40B4-BE49-F238E27FC236}">
                <a16:creationId xmlns:a16="http://schemas.microsoft.com/office/drawing/2014/main" id="{64C4A7FF-AB54-4CBA-847A-20F7D7FBF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581525"/>
            <a:ext cx="1238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71817C"/>
                </a:solidFill>
                <a:latin typeface="Arial"/>
                <a:ea typeface="Arial"/>
                <a:cs typeface="Arial"/>
              </a:rPr>
              <a:t>School</a:t>
            </a:r>
          </a:p>
        </p:txBody>
      </p:sp>
      <p:sp>
        <p:nvSpPr>
          <p:cNvPr id="73" name="shape">
            <a:extLst xmlns:a="http://schemas.openxmlformats.org/drawingml/2006/main">
              <a:ext uri="{FF2B5EF4-FFF2-40B4-BE49-F238E27FC236}">
                <a16:creationId xmlns:a16="http://schemas.microsoft.com/office/drawing/2014/main" id="{1E215434-BBFA-4C3E-8C94-49AD93A47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743450"/>
            <a:ext cx="3181350" cy="276225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AFCFA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4" name="text">
            <a:extLst xmlns:a="http://schemas.openxmlformats.org/drawingml/2006/main">
              <a:ext uri="{FF2B5EF4-FFF2-40B4-BE49-F238E27FC236}">
                <a16:creationId xmlns:a16="http://schemas.microsoft.com/office/drawing/2014/main" id="{1B07DDBA-A3AB-452D-8A09-902A8CF5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819650"/>
            <a:ext cx="295275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0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0">
                <a:solidFill>
                  <a:srgbClr val="18302C"/>
                </a:solidFill>
                <a:latin typeface="Arial"/>
                <a:ea typeface="Arial"/>
                <a:cs typeface="Arial"/>
              </a:rPr>
              <a:t>Northfield Academy</a:t>
            </a:r>
          </a:p>
        </p:txBody>
      </p:sp>
      <p:sp>
        <p:nvSpPr>
          <p:cNvPr id="75" name="text">
            <a:extLst xmlns:a="http://schemas.openxmlformats.org/drawingml/2006/main">
              <a:ext uri="{FF2B5EF4-FFF2-40B4-BE49-F238E27FC236}">
                <a16:creationId xmlns:a16="http://schemas.microsoft.com/office/drawing/2014/main" id="{FEC331ED-BEB0-449A-AF57-D4505A64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4864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Update profile details through your school office.</a:t>
            </a:r>
          </a:p>
        </p:txBody>
      </p:sp>
      <p:sp>
        <p:nvSpPr>
          <p:cNvPr id="76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7E898F0A-99AD-41B4-8988-2B3854AB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238375"/>
            <a:ext cx="5295900" cy="1866900"/>
          </a:xfrm>
          <a:prstGeom xmlns:a="http://schemas.openxmlformats.org/drawingml/2006/main" prst="roundRect">
            <a:avLst>
              <a:gd name="adj" fmla="val 51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77" name="text">
            <a:extLst xmlns:a="http://schemas.openxmlformats.org/drawingml/2006/main">
              <a:ext uri="{FF2B5EF4-FFF2-40B4-BE49-F238E27FC236}">
                <a16:creationId xmlns:a16="http://schemas.microsoft.com/office/drawing/2014/main" id="{62D05681-C7C0-4478-8F5B-10CFE99F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52675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Privacy &amp; directory</a:t>
            </a:r>
          </a:p>
        </p:txBody>
      </p:sp>
      <p:sp>
        <p:nvSpPr>
          <p:cNvPr id="78" name="text">
            <a:extLst xmlns:a="http://schemas.openxmlformats.org/drawingml/2006/main">
              <a:ext uri="{FF2B5EF4-FFF2-40B4-BE49-F238E27FC236}">
                <a16:creationId xmlns:a16="http://schemas.microsoft.com/office/drawing/2014/main" id="{3F89BA45-EEA7-4DBC-B268-1E45A43E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514600"/>
            <a:ext cx="5029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What other members can see</a:t>
            </a:r>
          </a:p>
        </p:txBody>
      </p:sp>
      <p:sp>
        <p:nvSpPr>
          <p:cNvPr id="79" name="text">
            <a:extLst xmlns:a="http://schemas.openxmlformats.org/drawingml/2006/main">
              <a:ext uri="{FF2B5EF4-FFF2-40B4-BE49-F238E27FC236}">
                <a16:creationId xmlns:a16="http://schemas.microsoft.com/office/drawing/2014/main" id="{A8971981-F983-4F78-A752-2CFD52FFE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86050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Hide personal phone number</a:t>
            </a:r>
          </a:p>
        </p:txBody>
      </p:sp>
      <p:sp>
        <p:nvSpPr>
          <p:cNvPr id="80" name="shape">
            <a:extLst xmlns:a="http://schemas.openxmlformats.org/drawingml/2006/main">
              <a:ext uri="{FF2B5EF4-FFF2-40B4-BE49-F238E27FC236}">
                <a16:creationId xmlns:a16="http://schemas.microsoft.com/office/drawing/2014/main" id="{5C148A19-084B-4A69-9518-D15B4823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76525"/>
            <a:ext cx="4857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avatar">
            <a:extLst xmlns:a="http://schemas.openxmlformats.org/drawingml/2006/main">
              <a:ext uri="{FF2B5EF4-FFF2-40B4-BE49-F238E27FC236}">
                <a16:creationId xmlns:a16="http://schemas.microsoft.com/office/drawing/2014/main" id="{0F467CE0-D04A-49B7-B9B2-B51DC90E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7051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text">
            <a:extLst xmlns:a="http://schemas.openxmlformats.org/drawingml/2006/main">
              <a:ext uri="{FF2B5EF4-FFF2-40B4-BE49-F238E27FC236}">
                <a16:creationId xmlns:a16="http://schemas.microsoft.com/office/drawing/2014/main" id="{42EA3F26-4C0D-4E2B-98A4-044D7D6B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724150"/>
            <a:ext cx="457200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656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83" name="text">
            <a:extLst xmlns:a="http://schemas.openxmlformats.org/drawingml/2006/main">
              <a:ext uri="{FF2B5EF4-FFF2-40B4-BE49-F238E27FC236}">
                <a16:creationId xmlns:a16="http://schemas.microsoft.com/office/drawing/2014/main" id="{05564F48-DAF2-40FA-B50C-1425752E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86100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Hide personal email address</a:t>
            </a:r>
          </a:p>
        </p:txBody>
      </p:sp>
      <p:sp>
        <p:nvSpPr>
          <p:cNvPr id="84" name="shape">
            <a:extLst xmlns:a="http://schemas.openxmlformats.org/drawingml/2006/main">
              <a:ext uri="{FF2B5EF4-FFF2-40B4-BE49-F238E27FC236}">
                <a16:creationId xmlns:a16="http://schemas.microsoft.com/office/drawing/2014/main" id="{31B5866E-F56E-49BC-A05F-071B55A6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076575"/>
            <a:ext cx="4857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avatar">
            <a:extLst xmlns:a="http://schemas.openxmlformats.org/drawingml/2006/main">
              <a:ext uri="{FF2B5EF4-FFF2-40B4-BE49-F238E27FC236}">
                <a16:creationId xmlns:a16="http://schemas.microsoft.com/office/drawing/2014/main" id="{89306107-1D2A-4DFF-B976-E850AFEE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10515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text">
            <a:extLst xmlns:a="http://schemas.openxmlformats.org/drawingml/2006/main">
              <a:ext uri="{FF2B5EF4-FFF2-40B4-BE49-F238E27FC236}">
                <a16:creationId xmlns:a16="http://schemas.microsoft.com/office/drawing/2014/main" id="{8CECB4AD-42AB-4E13-B561-5BA39FC4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24200"/>
            <a:ext cx="457200" cy="116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25247"/>
          </a:bodyPr>
          <a:lstStyle xmlns:a="http://schemas.openxmlformats.org/drawingml/2006/main"/>
          <a:p xmlns:a="http://schemas.openxmlformats.org/drawingml/2006/main">
            <a:pPr algn="r">
              <a:defRPr sz="656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656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87" name="text">
            <a:extLst xmlns:a="http://schemas.openxmlformats.org/drawingml/2006/main">
              <a:ext uri="{FF2B5EF4-FFF2-40B4-BE49-F238E27FC236}">
                <a16:creationId xmlns:a16="http://schemas.microsoft.com/office/drawing/2014/main" id="{913FB711-FC98-4DBE-8C3F-47F60E72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86150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Show school role and classes</a:t>
            </a:r>
          </a:p>
        </p:txBody>
      </p:sp>
      <p:sp>
        <p:nvSpPr>
          <p:cNvPr id="88" name="shape">
            <a:extLst xmlns:a="http://schemas.openxmlformats.org/drawingml/2006/main">
              <a:ext uri="{FF2B5EF4-FFF2-40B4-BE49-F238E27FC236}">
                <a16:creationId xmlns:a16="http://schemas.microsoft.com/office/drawing/2014/main" id="{CD6B44E8-57BA-470F-8225-3B8EAE0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476625"/>
            <a:ext cx="485775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F6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avatar">
            <a:extLst xmlns:a="http://schemas.openxmlformats.org/drawingml/2006/main">
              <a:ext uri="{FF2B5EF4-FFF2-40B4-BE49-F238E27FC236}">
                <a16:creationId xmlns:a16="http://schemas.microsoft.com/office/drawing/2014/main" id="{79FDC4B4-95FC-43BF-B3C2-53382993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3505200"/>
            <a:ext cx="171450" cy="171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content-card">
            <a:extLst xmlns:a="http://schemas.openxmlformats.org/drawingml/2006/main">
              <a:ext uri="{FF2B5EF4-FFF2-40B4-BE49-F238E27FC236}">
                <a16:creationId xmlns:a16="http://schemas.microsoft.com/office/drawing/2014/main" id="{2AB7F789-5F5B-496D-B517-42584B6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238625"/>
            <a:ext cx="5295900" cy="1885950"/>
          </a:xfrm>
          <a:prstGeom xmlns:a="http://schemas.openxmlformats.org/drawingml/2006/main" prst="roundRect">
            <a:avLst>
              <a:gd name="adj" fmla="val 5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5ECE7"/>
            </a:solidFill>
            <a:prstDash val="solid"/>
          </a:ln>
        </p:spPr>
      </p:sp>
      <p:sp>
        <p:nvSpPr>
          <p:cNvPr id="91" name="text">
            <a:extLst xmlns:a="http://schemas.openxmlformats.org/drawingml/2006/main">
              <a:ext uri="{FF2B5EF4-FFF2-40B4-BE49-F238E27FC236}">
                <a16:creationId xmlns:a16="http://schemas.microsoft.com/office/drawing/2014/main" id="{56B70E7F-9FBD-4EF3-BE2D-30EAC73EF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352925"/>
            <a:ext cx="5029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7619"/>
          </a:bodyPr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0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Notifications</a:t>
            </a:r>
          </a:p>
        </p:txBody>
      </p:sp>
      <p:sp>
        <p:nvSpPr>
          <p:cNvPr id="92" name="text">
            <a:extLst xmlns:a="http://schemas.openxmlformats.org/drawingml/2006/main">
              <a:ext uri="{FF2B5EF4-FFF2-40B4-BE49-F238E27FC236}">
                <a16:creationId xmlns:a16="http://schemas.microsoft.com/office/drawing/2014/main" id="{FBA8A3B5-426F-4F47-BBD6-094F2CA2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14850"/>
            <a:ext cx="50292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1817C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71817C"/>
                </a:solidFill>
                <a:latin typeface="Arial"/>
                <a:ea typeface="Arial"/>
                <a:cs typeface="Arial"/>
              </a:rPr>
              <a:t>Choose what appears on this device</a:t>
            </a:r>
          </a:p>
        </p:txBody>
      </p:sp>
      <p:sp>
        <p:nvSpPr>
          <p:cNvPr id="93" name="text">
            <a:extLst xmlns:a="http://schemas.openxmlformats.org/drawingml/2006/main">
              <a:ext uri="{FF2B5EF4-FFF2-40B4-BE49-F238E27FC236}">
                <a16:creationId xmlns:a16="http://schemas.microsoft.com/office/drawing/2014/main" id="{A8378180-91C5-4861-A98B-1E0E2455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10100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School announcements</a:t>
            </a:r>
          </a:p>
        </p:txBody>
      </p:sp>
      <p:sp>
        <p:nvSpPr>
          <p:cNvPr id="94" name="status">
            <a:extLst xmlns:a="http://schemas.openxmlformats.org/drawingml/2006/main">
              <a:ext uri="{FF2B5EF4-FFF2-40B4-BE49-F238E27FC236}">
                <a16:creationId xmlns:a16="http://schemas.microsoft.com/office/drawing/2014/main" id="{6405E576-F959-4E5D-BC6B-A6F7947E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81525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text">
            <a:extLst xmlns:a="http://schemas.openxmlformats.org/drawingml/2006/main">
              <a:ext uri="{FF2B5EF4-FFF2-40B4-BE49-F238E27FC236}">
                <a16:creationId xmlns:a16="http://schemas.microsoft.com/office/drawing/2014/main" id="{CB7A9FA9-5899-4584-8D2C-2C210B68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619625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96" name="text">
            <a:extLst xmlns:a="http://schemas.openxmlformats.org/drawingml/2006/main">
              <a:ext uri="{FF2B5EF4-FFF2-40B4-BE49-F238E27FC236}">
                <a16:creationId xmlns:a16="http://schemas.microsoft.com/office/drawing/2014/main" id="{59036A31-093C-4CF0-83EB-664CAEE4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924425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Messages from families</a:t>
            </a:r>
          </a:p>
        </p:txBody>
      </p:sp>
      <p:sp>
        <p:nvSpPr>
          <p:cNvPr id="97" name="status">
            <a:extLst xmlns:a="http://schemas.openxmlformats.org/drawingml/2006/main">
              <a:ext uri="{FF2B5EF4-FFF2-40B4-BE49-F238E27FC236}">
                <a16:creationId xmlns:a16="http://schemas.microsoft.com/office/drawing/2014/main" id="{57CCFE38-B9ED-4301-9762-E565A9B5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89585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text">
            <a:extLst xmlns:a="http://schemas.openxmlformats.org/drawingml/2006/main">
              <a:ext uri="{FF2B5EF4-FFF2-40B4-BE49-F238E27FC236}">
                <a16:creationId xmlns:a16="http://schemas.microsoft.com/office/drawing/2014/main" id="{ACEAE744-958D-497A-8C82-E00B3A65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3395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99" name="text">
            <a:extLst xmlns:a="http://schemas.openxmlformats.org/drawingml/2006/main">
              <a:ext uri="{FF2B5EF4-FFF2-40B4-BE49-F238E27FC236}">
                <a16:creationId xmlns:a16="http://schemas.microsoft.com/office/drawing/2014/main" id="{58CBA29D-1118-4FDF-B5C6-BAB7A7B7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238750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Payment reminders</a:t>
            </a:r>
          </a:p>
        </p:txBody>
      </p:sp>
      <p:sp>
        <p:nvSpPr>
          <p:cNvPr id="100" name="status">
            <a:extLst xmlns:a="http://schemas.openxmlformats.org/drawingml/2006/main">
              <a:ext uri="{FF2B5EF4-FFF2-40B4-BE49-F238E27FC236}">
                <a16:creationId xmlns:a16="http://schemas.microsoft.com/office/drawing/2014/main" id="{844D9F36-C3F8-4451-B60F-12E6D407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10175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text">
            <a:extLst xmlns:a="http://schemas.openxmlformats.org/drawingml/2006/main">
              <a:ext uri="{FF2B5EF4-FFF2-40B4-BE49-F238E27FC236}">
                <a16:creationId xmlns:a16="http://schemas.microsoft.com/office/drawing/2014/main" id="{C61BF7F1-7E1F-465D-BAF0-A6C89E9C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248275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176F62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76F62"/>
                </a:solidFill>
                <a:latin typeface="Arial"/>
                <a:ea typeface="Arial"/>
                <a:cs typeface="Arial"/>
              </a:rPr>
              <a:t>On</a:t>
            </a:r>
          </a:p>
        </p:txBody>
      </p:sp>
      <p:sp>
        <p:nvSpPr>
          <p:cNvPr id="102" name="text">
            <a:extLst xmlns:a="http://schemas.openxmlformats.org/drawingml/2006/main">
              <a:ext uri="{FF2B5EF4-FFF2-40B4-BE49-F238E27FC236}">
                <a16:creationId xmlns:a16="http://schemas.microsoft.com/office/drawing/2014/main" id="{983C7609-8C8C-4624-82DD-A30FBC684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553075"/>
            <a:ext cx="28575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8302C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18302C"/>
                </a:solidFill>
                <a:latin typeface="Arial"/>
                <a:ea typeface="Arial"/>
                <a:cs typeface="Arial"/>
              </a:rPr>
              <a:t>Preview text on lock screen</a:t>
            </a:r>
          </a:p>
        </p:txBody>
      </p:sp>
      <p:sp>
        <p:nvSpPr>
          <p:cNvPr id="103" name="status">
            <a:extLst xmlns:a="http://schemas.openxmlformats.org/drawingml/2006/main">
              <a:ext uri="{FF2B5EF4-FFF2-40B4-BE49-F238E27FC236}">
                <a16:creationId xmlns:a16="http://schemas.microsoft.com/office/drawing/2014/main" id="{C0FE6CB5-5734-4C8A-8ED6-0998032B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24500"/>
            <a:ext cx="762000" cy="2000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2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text">
            <a:extLst xmlns:a="http://schemas.openxmlformats.org/drawingml/2006/main">
              <a:ext uri="{FF2B5EF4-FFF2-40B4-BE49-F238E27FC236}">
                <a16:creationId xmlns:a16="http://schemas.microsoft.com/office/drawing/2014/main" id="{4B4EC882-AB48-4FB5-B812-CBAE3BC5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562600"/>
            <a:ext cx="762000" cy="1500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5542"/>
          </a:bodyPr>
          <a:lstStyle xmlns:a="http://schemas.openxmlformats.org/drawingml/2006/main"/>
          <a:p xmlns:a="http://schemas.openxmlformats.org/drawingml/2006/main">
            <a:pPr algn="ctr">
              <a:defRPr sz="844" b="1">
                <a:solidFill>
                  <a:srgbClr val="A67C25"/>
                </a:solidFill>
                <a:latin typeface="Arial"/>
                <a:ea typeface="Arial"/>
                <a:cs typeface="Arial"/>
              </a:defRPr>
            </a:pPr>
            <a:r>
              <a:rPr sz="844" b="1">
                <a:solidFill>
                  <a:srgbClr val="A67C25"/>
                </a:solidFill>
                <a:latin typeface="Arial"/>
                <a:ea typeface="Arial"/>
                <a:cs typeface="Arial"/>
              </a:rPr>
              <a:t>Hidden</a:t>
            </a:r>
          </a:p>
        </p:txBody>
      </p:sp>
      <p:sp>
        <p:nvSpPr>
          <p:cNvPr id="105" name="shape">
            <a:extLst xmlns:a="http://schemas.openxmlformats.org/drawingml/2006/main">
              <a:ext uri="{FF2B5EF4-FFF2-40B4-BE49-F238E27FC236}">
                <a16:creationId xmlns:a16="http://schemas.microsoft.com/office/drawing/2014/main" id="{2E780460-E3FB-47C6-8CF4-A09C2222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6219825"/>
            <a:ext cx="5295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text">
            <a:extLst xmlns:a="http://schemas.openxmlformats.org/drawingml/2006/main">
              <a:ext uri="{FF2B5EF4-FFF2-40B4-BE49-F238E27FC236}">
                <a16:creationId xmlns:a16="http://schemas.microsoft.com/office/drawing/2014/main" id="{80B70E3E-A9ED-4B3D-9B86-A5DC07E4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953125"/>
            <a:ext cx="2190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3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E78363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E78363"/>
                </a:solidFill>
                <a:latin typeface="Arial"/>
                <a:ea typeface="Arial"/>
                <a:cs typeface="Arial"/>
              </a:rPr>
              <a:t>Sign out of Campusly</a:t>
            </a:r>
          </a:p>
        </p:txBody>
      </p:sp>
    </p:spTree>
    <p:extLst>
      <p:ext uri="{BB962C8B-B14F-4D97-AF65-F5344CB8AC3E}">
        <p14:creationId xmlns:p14="http://schemas.microsoft.com/office/powerpoint/2010/main" val="20719929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2026-10-04T09:51:02.9230000Z</dcterms:created>
  <dcterms:modified xsi:type="dcterms:W3CDTF">2026-10-04T09:51:02.9230000Z</dcterms:modified>
</coreProperties>
</file>